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" Type="http://schemas.openxmlformats.org/officeDocument/2006/relationships/slide" Target="slides/slide1.xml" /><Relationship Id="rId19" Type="http://schemas.openxmlformats.org/officeDocument/2006/relationships/slide" Target="slides/slide19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21" Type="http://schemas.openxmlformats.org/officeDocument/2006/relationships/slide" Target="slides/slide21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3" Type="http://schemas.openxmlformats.org/officeDocument/2006/relationships/slide" Target="slides/slide3.xml" 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slideLayout" Target="../slideLayouts/slideLayout4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8" Type="http://schemas.openxmlformats.org/officeDocument/2006/relationships/slideLayout" Target="../slideLayouts/slideLayout9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9" Type="http://schemas.openxmlformats.org/officeDocument/2006/relationships/slideLayout" Target="../slideLayouts/slideLayout10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/>
          </a:p>
          <a:p>
            <a:pPr lvl="1"/>
            <a:r>
              <a:rPr lang="en-US" smtClean="0"/>
              <a:t>Second level</a:t>
            </a:r>
            <a:endParaRPr/>
          </a:p>
          <a:p>
            <a:pPr lvl="2"/>
            <a:r>
              <a:rPr lang="en-US" smtClean="0"/>
              <a:t>Third level</a:t>
            </a:r>
            <a:endParaRPr/>
          </a:p>
          <a:p>
            <a:pPr lvl="3"/>
            <a:r>
              <a:rPr lang="en-US" smtClean="0"/>
              <a:t>Fourth level</a:t>
            </a:r>
            <a:endParaRPr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5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6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3.png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Relationship Id="rId1" Type="http://schemas.openxmlformats.org/officeDocument/2006/relationships/image" Target="media/image4.pn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1504950"/>
            <a:ext cx="914400" cy="381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76400" y="1390650"/>
            <a:ext cx="4762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30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RESEARCH EFFECTIVENESS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1771650"/>
            <a:ext cx="6667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Coding Agent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2724150"/>
            <a:ext cx="666750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95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实战指南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3810000"/>
            <a:ext cx="6096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国内编码智能体横向对比 × 工程落地最佳实践</a:t>
            </a: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60007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2950" y="61245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6067425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研发效能内训</a:t>
            </a: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90750" y="6067425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94A6"/>
                </a:solidFill>
                <a:latin typeface="Consolas"/>
                <a:ea typeface="Consolas"/>
                <a:cs typeface="Consolas"/>
              </a:rPr>
              <a:t>2026.10</a:t>
            </a: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34500" y="6191250"/>
            <a:ext cx="2857500" cy="66675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25000" y="6438900"/>
            <a:ext cx="2476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75" b="0" i="0" spc="20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AGENTIC CODING 101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3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Box 1"/>
          <p:cNvSpPr txBox="1"/>
          <p:nvPr/>
        </p:nvSpPr>
        <p:spPr>
          <a:xfrm>
            <a:off x="609600" y="285750"/>
            <a:ext cx="3810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/>
          </a:p>
        </p:txBody>
      </p:sp>
      <p:sp>
        <p:nvSpPr>
          <p:cNvPr id="328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Rectangle 3"/>
          <p:cNvSpPr/>
          <p:nvPr/>
        </p:nvSpPr>
        <p:spPr>
          <a:xfrm>
            <a:off x="609600" y="1524000"/>
            <a:ext cx="57150" cy="114300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TextBox 4"/>
          <p:cNvSpPr txBox="1"/>
          <p:nvPr/>
        </p:nvSpPr>
        <p:spPr>
          <a:xfrm>
            <a:off x="609600" y="2857500"/>
            <a:ext cx="28575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四个问题，</a:t>
            </a:r>
            <a:endParaRPr/>
          </a:p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一条落地路径</a:t>
            </a:r>
            <a:endParaRPr/>
          </a:p>
        </p:txBody>
      </p:sp>
      <p:sp>
        <p:nvSpPr>
          <p:cNvPr id="331" name="TextBox 5"/>
          <p:cNvSpPr txBox="1"/>
          <p:nvPr/>
        </p:nvSpPr>
        <p:spPr>
          <a:xfrm>
            <a:off x="609600" y="3733800"/>
            <a:ext cx="28575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从认知到工具，从方法到团队——每一章回答一个你下周就会遇到的问题。</a:t>
            </a:r>
            <a:endParaRPr/>
          </a:p>
        </p:txBody>
      </p:sp>
      <p:sp>
        <p:nvSpPr>
          <p:cNvPr id="332" name="Rounded Rectangle 6"/>
          <p:cNvSpPr/>
          <p:nvPr/>
        </p:nvSpPr>
        <p:spPr>
          <a:xfrm>
            <a:off x="4000500" y="1333500"/>
            <a:ext cx="7581900" cy="1047750"/>
          </a:xfrm>
          <a:prstGeom prst="roundRect">
            <a:avLst>
              <a:gd name="adj" fmla="val 909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TextBox 7"/>
          <p:cNvSpPr txBox="1"/>
          <p:nvPr/>
        </p:nvSpPr>
        <p:spPr>
          <a:xfrm>
            <a:off x="4267200" y="1619250"/>
            <a:ext cx="6667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01</a:t>
            </a:r>
            <a:endParaRPr/>
          </a:p>
        </p:txBody>
      </p:sp>
      <p:sp>
        <p:nvSpPr>
          <p:cNvPr id="334" name="TextBox 8"/>
          <p:cNvSpPr txBox="1"/>
          <p:nvPr/>
        </p:nvSpPr>
        <p:spPr>
          <a:xfrm>
            <a:off x="5048250" y="154305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认知篇 · 从补全到自主执行</a:t>
            </a:r>
            <a:endParaRPr/>
          </a:p>
        </p:txBody>
      </p:sp>
      <p:sp>
        <p:nvSpPr>
          <p:cNvPr id="335" name="TextBox 9"/>
          <p:cNvSpPr txBox="1"/>
          <p:nvPr/>
        </p:nvSpPr>
        <p:spPr>
          <a:xfrm>
            <a:off x="5048250" y="1905000"/>
            <a:ext cx="5334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Coding Agent 到底和补全工具差在哪？</a:t>
            </a:r>
            <a:endParaRPr/>
          </a:p>
        </p:txBody>
      </p:sp>
      <p:sp>
        <p:nvSpPr>
          <p:cNvPr id="336" name="TextBox 10"/>
          <p:cNvSpPr txBox="1"/>
          <p:nvPr/>
        </p:nvSpPr>
        <p:spPr>
          <a:xfrm>
            <a:off x="10382250" y="1752600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P03 - P05</a:t>
            </a:r>
            <a:endParaRPr/>
          </a:p>
        </p:txBody>
      </p:sp>
      <p:sp>
        <p:nvSpPr>
          <p:cNvPr id="337" name="Rounded Rectangle 11"/>
          <p:cNvSpPr/>
          <p:nvPr/>
        </p:nvSpPr>
        <p:spPr>
          <a:xfrm>
            <a:off x="4000500" y="2514600"/>
            <a:ext cx="7581900" cy="1047750"/>
          </a:xfrm>
          <a:prstGeom prst="roundRect">
            <a:avLst>
              <a:gd name="adj" fmla="val 909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TextBox 12"/>
          <p:cNvSpPr txBox="1"/>
          <p:nvPr/>
        </p:nvSpPr>
        <p:spPr>
          <a:xfrm>
            <a:off x="4267200" y="2800350"/>
            <a:ext cx="6667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02</a:t>
            </a:r>
            <a:endParaRPr/>
          </a:p>
        </p:txBody>
      </p:sp>
      <p:sp>
        <p:nvSpPr>
          <p:cNvPr id="339" name="TextBox 13"/>
          <p:cNvSpPr txBox="1"/>
          <p:nvPr/>
        </p:nvSpPr>
        <p:spPr>
          <a:xfrm>
            <a:off x="5048250" y="272415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格局篇 · 国内 Coding Agent 全景</a:t>
            </a:r>
            <a:endParaRPr/>
          </a:p>
        </p:txBody>
      </p:sp>
      <p:sp>
        <p:nvSpPr>
          <p:cNvPr id="340" name="TextBox 14"/>
          <p:cNvSpPr txBox="1"/>
          <p:nvPr/>
        </p:nvSpPr>
        <p:spPr>
          <a:xfrm>
            <a:off x="5048250" y="3086100"/>
            <a:ext cx="5334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四强并立，我的团队该选哪个生态位？</a:t>
            </a:r>
            <a:endParaRPr/>
          </a:p>
        </p:txBody>
      </p:sp>
      <p:sp>
        <p:nvSpPr>
          <p:cNvPr id="341" name="TextBox 15"/>
          <p:cNvSpPr txBox="1"/>
          <p:nvPr/>
        </p:nvSpPr>
        <p:spPr>
          <a:xfrm>
            <a:off x="10382250" y="2933700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P06 - P10</a:t>
            </a:r>
            <a:endParaRPr/>
          </a:p>
        </p:txBody>
      </p:sp>
      <p:sp>
        <p:nvSpPr>
          <p:cNvPr id="342" name="Rounded Rectangle 16"/>
          <p:cNvSpPr/>
          <p:nvPr/>
        </p:nvSpPr>
        <p:spPr>
          <a:xfrm>
            <a:off x="4000500" y="3695700"/>
            <a:ext cx="7581900" cy="1047750"/>
          </a:xfrm>
          <a:prstGeom prst="roundRect">
            <a:avLst>
              <a:gd name="adj" fmla="val 909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17"/>
          <p:cNvSpPr txBox="1"/>
          <p:nvPr/>
        </p:nvSpPr>
        <p:spPr>
          <a:xfrm>
            <a:off x="4267200" y="3981450"/>
            <a:ext cx="6667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03</a:t>
            </a:r>
            <a:endParaRPr/>
          </a:p>
        </p:txBody>
      </p:sp>
      <p:sp>
        <p:nvSpPr>
          <p:cNvPr id="344" name="TextBox 18"/>
          <p:cNvSpPr txBox="1"/>
          <p:nvPr/>
        </p:nvSpPr>
        <p:spPr>
          <a:xfrm>
            <a:off x="5048250" y="390525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实践篇 · 上下文、约束与交付循环</a:t>
            </a:r>
            <a:endParaRPr/>
          </a:p>
        </p:txBody>
      </p:sp>
      <p:sp>
        <p:nvSpPr>
          <p:cNvPr id="345" name="TextBox 19"/>
          <p:cNvSpPr txBox="1"/>
          <p:nvPr/>
        </p:nvSpPr>
        <p:spPr>
          <a:xfrm>
            <a:off x="5048250" y="4267200"/>
            <a:ext cx="5334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为什么它写的代码总是不对味？</a:t>
            </a:r>
            <a:endParaRPr/>
          </a:p>
        </p:txBody>
      </p:sp>
      <p:sp>
        <p:nvSpPr>
          <p:cNvPr id="346" name="TextBox 20"/>
          <p:cNvSpPr txBox="1"/>
          <p:nvPr/>
        </p:nvSpPr>
        <p:spPr>
          <a:xfrm>
            <a:off x="10382250" y="4114800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P11 - P17</a:t>
            </a:r>
            <a:endParaRPr/>
          </a:p>
        </p:txBody>
      </p:sp>
      <p:sp>
        <p:nvSpPr>
          <p:cNvPr id="347" name="Rounded Rectangle 21"/>
          <p:cNvSpPr/>
          <p:nvPr/>
        </p:nvSpPr>
        <p:spPr>
          <a:xfrm>
            <a:off x="4000500" y="4876800"/>
            <a:ext cx="7581900" cy="1047750"/>
          </a:xfrm>
          <a:prstGeom prst="roundRect">
            <a:avLst>
              <a:gd name="adj" fmla="val 909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TextBox 22"/>
          <p:cNvSpPr txBox="1"/>
          <p:nvPr/>
        </p:nvSpPr>
        <p:spPr>
          <a:xfrm>
            <a:off x="4267200" y="5162550"/>
            <a:ext cx="6667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04</a:t>
            </a:r>
            <a:endParaRPr/>
          </a:p>
        </p:txBody>
      </p:sp>
      <p:sp>
        <p:nvSpPr>
          <p:cNvPr id="349" name="TextBox 23"/>
          <p:cNvSpPr txBox="1"/>
          <p:nvPr/>
        </p:nvSpPr>
        <p:spPr>
          <a:xfrm>
            <a:off x="5048250" y="508635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落地篇 · 团队推广与度量</a:t>
            </a:r>
            <a:endParaRPr/>
          </a:p>
        </p:txBody>
      </p:sp>
      <p:sp>
        <p:nvSpPr>
          <p:cNvPr id="350" name="TextBox 24"/>
          <p:cNvSpPr txBox="1"/>
          <p:nvPr/>
        </p:nvSpPr>
        <p:spPr>
          <a:xfrm>
            <a:off x="5048250" y="5448300"/>
            <a:ext cx="5334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如何从个人提效走到团队可复制？</a:t>
            </a:r>
            <a:endParaRPr/>
          </a:p>
        </p:txBody>
      </p:sp>
      <p:sp>
        <p:nvSpPr>
          <p:cNvPr id="351" name="TextBox 25"/>
          <p:cNvSpPr txBox="1"/>
          <p:nvPr/>
        </p:nvSpPr>
        <p:spPr>
          <a:xfrm>
            <a:off x="10382250" y="5295900"/>
            <a:ext cx="1047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P18 - P20</a:t>
            </a:r>
            <a:endParaRPr/>
          </a:p>
        </p:txBody>
      </p:sp>
      <p:sp>
        <p:nvSpPr>
          <p:cNvPr id="352" name="Rounded Rectangle 26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27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目录</a:t>
            </a:r>
            <a:endParaRPr/>
          </a:p>
        </p:txBody>
      </p:sp>
      <p:sp>
        <p:nvSpPr>
          <p:cNvPr id="354" name="TextBox 28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02 / 21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4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Picture 1" descr="p_ch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25" name="TextBox 2"/>
          <p:cNvSpPr txBox="1"/>
          <p:nvPr/>
        </p:nvSpPr>
        <p:spPr>
          <a:xfrm>
            <a:off x="8382000" y="-285750"/>
            <a:ext cx="3810000" cy="323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500" b="1" i="0">
                <a:solidFill>
                  <a:srgbClr val="1A2638"/>
                </a:solidFill>
                <a:latin typeface="Consolas"/>
                <a:ea typeface="Consolas"/>
                <a:cs typeface="Consolas"/>
              </a:rPr>
              <a:t>01</a:t>
            </a:r>
            <a:endParaRPr/>
          </a:p>
        </p:txBody>
      </p:sp>
      <p:sp>
        <p:nvSpPr>
          <p:cNvPr id="426" name="TextBox 3"/>
          <p:cNvSpPr txBox="1"/>
          <p:nvPr/>
        </p:nvSpPr>
        <p:spPr>
          <a:xfrm>
            <a:off x="609600" y="20002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spc="40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CHAPTER 01</a:t>
            </a:r>
            <a:endParaRPr/>
          </a:p>
        </p:txBody>
      </p:sp>
      <p:sp>
        <p:nvSpPr>
          <p:cNvPr id="427" name="Rectangle 4"/>
          <p:cNvSpPr/>
          <p:nvPr/>
        </p:nvSpPr>
        <p:spPr>
          <a:xfrm>
            <a:off x="2381250" y="2152650"/>
            <a:ext cx="6858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TextBox 5"/>
          <p:cNvSpPr txBox="1"/>
          <p:nvPr/>
        </p:nvSpPr>
        <p:spPr>
          <a:xfrm>
            <a:off x="609600" y="2381250"/>
            <a:ext cx="6667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 spc="20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认知篇</a:t>
            </a:r>
            <a:endParaRPr/>
          </a:p>
        </p:txBody>
      </p:sp>
      <p:sp>
        <p:nvSpPr>
          <p:cNvPr id="429" name="TextBox 6"/>
          <p:cNvSpPr txBox="1"/>
          <p:nvPr/>
        </p:nvSpPr>
        <p:spPr>
          <a:xfrm>
            <a:off x="609600" y="3390900"/>
            <a:ext cx="666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先换心智模型，再谈工具</a:t>
            </a:r>
            <a:endParaRPr/>
          </a:p>
        </p:txBody>
      </p:sp>
      <p:sp>
        <p:nvSpPr>
          <p:cNvPr id="430" name="TextBox 7"/>
          <p:cNvSpPr txBox="1"/>
          <p:nvPr/>
        </p:nvSpPr>
        <p:spPr>
          <a:xfrm>
            <a:off x="609600" y="3962400"/>
            <a:ext cx="5905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它不是更快的补全，而是会调用工具、规划步骤的执行者——你如何理解它，决定了你能用它走多远。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4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三次范式跃迁</a:t>
            </a:r>
            <a:endParaRPr/>
          </a:p>
        </p:txBody>
      </p:sp>
      <p:sp>
        <p:nvSpPr>
          <p:cNvPr id="43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每一次跃迁，改变的都是“谁在规划”这件事</a:t>
            </a:r>
            <a:endParaRPr/>
          </a:p>
        </p:txBody>
      </p:sp>
      <p:sp>
        <p:nvSpPr>
          <p:cNvPr id="435" name="Rectangle 4"/>
          <p:cNvSpPr/>
          <p:nvPr/>
        </p:nvSpPr>
        <p:spPr>
          <a:xfrm>
            <a:off x="800100" y="1666875"/>
            <a:ext cx="19050" cy="4000500"/>
          </a:xfrm>
          <a:prstGeom prst="rect">
            <a:avLst/>
          </a:prstGeom>
          <a:solidFill>
            <a:srgbClr val="29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Rounded Rectangle 5"/>
          <p:cNvSpPr/>
          <p:nvPr/>
        </p:nvSpPr>
        <p:spPr>
          <a:xfrm>
            <a:off x="609600" y="20193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82C4D"/>
          </a:solidFill>
          <a:ln w="254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Rounded Rectangle 6"/>
          <p:cNvSpPr/>
          <p:nvPr/>
        </p:nvSpPr>
        <p:spPr>
          <a:xfrm>
            <a:off x="723900" y="21336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Rounded Rectangle 7"/>
          <p:cNvSpPr/>
          <p:nvPr/>
        </p:nvSpPr>
        <p:spPr>
          <a:xfrm>
            <a:off x="1162050" y="1600200"/>
            <a:ext cx="5314950" cy="1314450"/>
          </a:xfrm>
          <a:prstGeom prst="roundRect">
            <a:avLst>
              <a:gd name="adj" fmla="val 724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TextBox 8"/>
          <p:cNvSpPr txBox="1"/>
          <p:nvPr/>
        </p:nvSpPr>
        <p:spPr>
          <a:xfrm>
            <a:off x="1390650" y="1847850"/>
            <a:ext cx="1143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2021 -</a:t>
            </a:r>
            <a:endParaRPr/>
          </a:p>
        </p:txBody>
      </p:sp>
      <p:sp>
        <p:nvSpPr>
          <p:cNvPr id="440" name="TextBox 9"/>
          <p:cNvSpPr txBox="1"/>
          <p:nvPr/>
        </p:nvSpPr>
        <p:spPr>
          <a:xfrm>
            <a:off x="2381250" y="17907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代码补全</a:t>
            </a:r>
            <a:endParaRPr/>
          </a:p>
        </p:txBody>
      </p:sp>
      <p:sp>
        <p:nvSpPr>
          <p:cNvPr id="441" name="TextBox 10"/>
          <p:cNvSpPr txBox="1"/>
          <p:nvPr/>
        </p:nvSpPr>
        <p:spPr>
          <a:xfrm>
            <a:off x="1390650" y="2209800"/>
            <a:ext cx="4857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人在写，AI 猜下一个词。Tab 键就是全部交互，出错成本极低。</a:t>
            </a:r>
            <a:endParaRPr/>
          </a:p>
        </p:txBody>
      </p:sp>
      <p:sp>
        <p:nvSpPr>
          <p:cNvPr id="442" name="Rounded Rectangle 11"/>
          <p:cNvSpPr/>
          <p:nvPr/>
        </p:nvSpPr>
        <p:spPr>
          <a:xfrm>
            <a:off x="609600" y="35433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82C4D"/>
          </a:solidFill>
          <a:ln w="254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Rounded Rectangle 12"/>
          <p:cNvSpPr/>
          <p:nvPr/>
        </p:nvSpPr>
        <p:spPr>
          <a:xfrm>
            <a:off x="723900" y="36576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Rounded Rectangle 13"/>
          <p:cNvSpPr/>
          <p:nvPr/>
        </p:nvSpPr>
        <p:spPr>
          <a:xfrm>
            <a:off x="1162050" y="3124200"/>
            <a:ext cx="5314950" cy="1314450"/>
          </a:xfrm>
          <a:prstGeom prst="roundRect">
            <a:avLst>
              <a:gd name="adj" fmla="val 724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TextBox 14"/>
          <p:cNvSpPr txBox="1"/>
          <p:nvPr/>
        </p:nvSpPr>
        <p:spPr>
          <a:xfrm>
            <a:off x="1390650" y="3371850"/>
            <a:ext cx="1143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2023 -</a:t>
            </a:r>
            <a:endParaRPr/>
          </a:p>
        </p:txBody>
      </p:sp>
      <p:sp>
        <p:nvSpPr>
          <p:cNvPr id="446" name="TextBox 15"/>
          <p:cNvSpPr txBox="1"/>
          <p:nvPr/>
        </p:nvSpPr>
        <p:spPr>
          <a:xfrm>
            <a:off x="2381250" y="33147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对话改写</a:t>
            </a:r>
            <a:endParaRPr/>
          </a:p>
        </p:txBody>
      </p:sp>
      <p:sp>
        <p:nvSpPr>
          <p:cNvPr id="447" name="TextBox 16"/>
          <p:cNvSpPr txBox="1"/>
          <p:nvPr/>
        </p:nvSpPr>
        <p:spPr>
          <a:xfrm>
            <a:off x="1390650" y="3733800"/>
            <a:ext cx="4857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人规划，AI 生成整段代码。选中 - 提问 - 粘贴，心智仍是“我来改”。</a:t>
            </a:r>
            <a:endParaRPr/>
          </a:p>
        </p:txBody>
      </p:sp>
      <p:sp>
        <p:nvSpPr>
          <p:cNvPr id="448" name="Rounded Rectangle 17"/>
          <p:cNvSpPr/>
          <p:nvPr/>
        </p:nvSpPr>
        <p:spPr>
          <a:xfrm>
            <a:off x="609600" y="50673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4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Rounded Rectangle 18"/>
          <p:cNvSpPr/>
          <p:nvPr/>
        </p:nvSpPr>
        <p:spPr>
          <a:xfrm>
            <a:off x="685800" y="52197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Rounded Rectangle 19"/>
          <p:cNvSpPr/>
          <p:nvPr/>
        </p:nvSpPr>
        <p:spPr>
          <a:xfrm>
            <a:off x="1162050" y="4648200"/>
            <a:ext cx="5314950" cy="1314450"/>
          </a:xfrm>
          <a:prstGeom prst="roundRect">
            <a:avLst>
              <a:gd name="adj" fmla="val 7246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TextBox 20"/>
          <p:cNvSpPr txBox="1"/>
          <p:nvPr/>
        </p:nvSpPr>
        <p:spPr>
          <a:xfrm>
            <a:off x="1390650" y="4895850"/>
            <a:ext cx="1143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2025 -</a:t>
            </a:r>
            <a:endParaRPr/>
          </a:p>
        </p:txBody>
      </p:sp>
      <p:sp>
        <p:nvSpPr>
          <p:cNvPr id="452" name="TextBox 21"/>
          <p:cNvSpPr txBox="1"/>
          <p:nvPr/>
        </p:nvSpPr>
        <p:spPr>
          <a:xfrm>
            <a:off x="2381250" y="4838700"/>
            <a:ext cx="1905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自主执行</a:t>
            </a:r>
            <a:endParaRPr/>
          </a:p>
        </p:txBody>
      </p:sp>
      <p:sp>
        <p:nvSpPr>
          <p:cNvPr id="453" name="TextBox 22"/>
          <p:cNvSpPr txBox="1"/>
          <p:nvPr/>
        </p:nvSpPr>
        <p:spPr>
          <a:xfrm>
            <a:off x="1390650" y="5257800"/>
            <a:ext cx="48577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AI 接收目标，自己拆任务、调工具、改文件、跑测试；人定边界、给约束、做验收。</a:t>
            </a:r>
            <a:endParaRPr/>
          </a:p>
        </p:txBody>
      </p:sp>
      <p:sp>
        <p:nvSpPr>
          <p:cNvPr id="454" name="TextBox 23"/>
          <p:cNvSpPr txBox="1"/>
          <p:nvPr/>
        </p:nvSpPr>
        <p:spPr>
          <a:xfrm>
            <a:off x="7124700" y="1447800"/>
            <a:ext cx="44577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大多数团队的真实状态：手里拿着第三级的工具，脑子里还是第一级的心智——把它当猜词机器，用完一句“不好用”就关掉了。</a:t>
            </a:r>
            <a:endParaRPr/>
          </a:p>
        </p:txBody>
      </p:sp>
      <p:sp>
        <p:nvSpPr>
          <p:cNvPr id="455" name="Rectangle 24"/>
          <p:cNvSpPr/>
          <p:nvPr/>
        </p:nvSpPr>
        <p:spPr>
          <a:xfrm>
            <a:off x="7124700" y="2819400"/>
            <a:ext cx="38100" cy="8763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TextBox 25"/>
          <p:cNvSpPr txBox="1"/>
          <p:nvPr/>
        </p:nvSpPr>
        <p:spPr>
          <a:xfrm>
            <a:off x="7296150" y="2819400"/>
            <a:ext cx="4286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工具每升一级，人的职责就后退一步：从“写字”退到“改字”，再退到“定标准、验结果”。</a:t>
            </a:r>
            <a:endParaRPr/>
          </a:p>
        </p:txBody>
      </p:sp>
      <p:sp>
        <p:nvSpPr>
          <p:cNvPr id="457" name="Rounded Rectangle 26"/>
          <p:cNvSpPr/>
          <p:nvPr/>
        </p:nvSpPr>
        <p:spPr>
          <a:xfrm>
            <a:off x="7124700" y="4476750"/>
            <a:ext cx="4457700" cy="1524000"/>
          </a:xfrm>
          <a:prstGeom prst="roundRect">
            <a:avLst>
              <a:gd name="adj" fmla="val 6250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Rounded Rectangle 27"/>
          <p:cNvSpPr/>
          <p:nvPr/>
        </p:nvSpPr>
        <p:spPr>
          <a:xfrm>
            <a:off x="7353300" y="4667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TextBox 28"/>
          <p:cNvSpPr txBox="1"/>
          <p:nvPr/>
        </p:nvSpPr>
        <p:spPr>
          <a:xfrm>
            <a:off x="7543800" y="4610100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  <a:endParaRPr/>
          </a:p>
        </p:txBody>
      </p:sp>
      <p:sp>
        <p:nvSpPr>
          <p:cNvPr id="460" name="TextBox 29"/>
          <p:cNvSpPr txBox="1"/>
          <p:nvPr/>
        </p:nvSpPr>
        <p:spPr>
          <a:xfrm>
            <a:off x="7353300" y="4895850"/>
            <a:ext cx="40005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心智模型不换，工具永远停在第一级。本课后面所有实践，都建立在第三级的工作方式上。</a:t>
            </a:r>
            <a:endParaRPr/>
          </a:p>
        </p:txBody>
      </p:sp>
      <p:sp>
        <p:nvSpPr>
          <p:cNvPr id="461" name="Rounded Rectangle 30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TextBox 31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认知篇</a:t>
            </a:r>
            <a:endParaRPr/>
          </a:p>
        </p:txBody>
      </p:sp>
      <p:sp>
        <p:nvSpPr>
          <p:cNvPr id="463" name="TextBox 32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04 / 21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4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拆开看：Agent 的五层能力栈</a:t>
            </a:r>
            <a:endParaRPr/>
          </a:p>
        </p:txBody>
      </p:sp>
      <p:sp>
        <p:nvSpPr>
          <p:cNvPr id="466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你抱怨的“不够聪明”，多数时候不是模型层的问题</a:t>
            </a:r>
            <a:endParaRPr/>
          </a:p>
        </p:txBody>
      </p:sp>
      <p:sp>
        <p:nvSpPr>
          <p:cNvPr id="468" name="Rounded Rectangle 4"/>
          <p:cNvSpPr/>
          <p:nvPr/>
        </p:nvSpPr>
        <p:spPr>
          <a:xfrm>
            <a:off x="609600" y="1447800"/>
            <a:ext cx="6096000" cy="819150"/>
          </a:xfrm>
          <a:prstGeom prst="roundRect">
            <a:avLst>
              <a:gd name="adj" fmla="val 1162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Rectangle 5"/>
          <p:cNvSpPr/>
          <p:nvPr/>
        </p:nvSpPr>
        <p:spPr>
          <a:xfrm>
            <a:off x="609600" y="1447800"/>
            <a:ext cx="38100" cy="8191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TextBox 6"/>
          <p:cNvSpPr txBox="1"/>
          <p:nvPr/>
        </p:nvSpPr>
        <p:spPr>
          <a:xfrm>
            <a:off x="876300" y="1676400"/>
            <a:ext cx="571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05</a:t>
            </a:r>
            <a:endParaRPr/>
          </a:p>
        </p:txBody>
      </p:sp>
      <p:sp>
        <p:nvSpPr>
          <p:cNvPr id="471" name="TextBox 7"/>
          <p:cNvSpPr txBox="1"/>
          <p:nvPr/>
        </p:nvSpPr>
        <p:spPr>
          <a:xfrm>
            <a:off x="1524000" y="169545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反馈层</a:t>
            </a:r>
            <a:endParaRPr/>
          </a:p>
        </p:txBody>
      </p:sp>
      <p:sp>
        <p:nvSpPr>
          <p:cNvPr id="472" name="TextBox 8"/>
          <p:cNvSpPr txBox="1"/>
          <p:nvPr/>
        </p:nvSpPr>
        <p:spPr>
          <a:xfrm>
            <a:off x="2762250" y="1600200"/>
            <a:ext cx="38100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6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测试、Lint、CI、人工评审——让 Agent 知道自己做对了没有</a:t>
            </a:r>
            <a:endParaRPr/>
          </a:p>
        </p:txBody>
      </p:sp>
      <p:sp>
        <p:nvSpPr>
          <p:cNvPr id="473" name="Rounded Rectangle 9"/>
          <p:cNvSpPr/>
          <p:nvPr/>
        </p:nvSpPr>
        <p:spPr>
          <a:xfrm>
            <a:off x="609600" y="2381250"/>
            <a:ext cx="6096000" cy="819150"/>
          </a:xfrm>
          <a:prstGeom prst="roundRect">
            <a:avLst>
              <a:gd name="adj" fmla="val 1162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Rectangle 10"/>
          <p:cNvSpPr/>
          <p:nvPr/>
        </p:nvSpPr>
        <p:spPr>
          <a:xfrm>
            <a:off x="609600" y="2381250"/>
            <a:ext cx="38100" cy="8191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TextBox 11"/>
          <p:cNvSpPr txBox="1"/>
          <p:nvPr/>
        </p:nvSpPr>
        <p:spPr>
          <a:xfrm>
            <a:off x="876300" y="2609850"/>
            <a:ext cx="571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04</a:t>
            </a:r>
            <a:endParaRPr/>
          </a:p>
        </p:txBody>
      </p:sp>
      <p:sp>
        <p:nvSpPr>
          <p:cNvPr id="476" name="TextBox 12"/>
          <p:cNvSpPr txBox="1"/>
          <p:nvPr/>
        </p:nvSpPr>
        <p:spPr>
          <a:xfrm>
            <a:off x="1524000" y="26289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记忆层</a:t>
            </a:r>
            <a:endParaRPr/>
          </a:p>
        </p:txBody>
      </p:sp>
      <p:sp>
        <p:nvSpPr>
          <p:cNvPr id="477" name="TextBox 13"/>
          <p:cNvSpPr txBox="1"/>
          <p:nvPr/>
        </p:nvSpPr>
        <p:spPr>
          <a:xfrm>
            <a:off x="2762250" y="2533650"/>
            <a:ext cx="38100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6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跨会话记忆、项目约定沉淀，避免每次从零认识你的仓库</a:t>
            </a:r>
            <a:endParaRPr/>
          </a:p>
        </p:txBody>
      </p:sp>
      <p:sp>
        <p:nvSpPr>
          <p:cNvPr id="478" name="Rounded Rectangle 14"/>
          <p:cNvSpPr/>
          <p:nvPr/>
        </p:nvSpPr>
        <p:spPr>
          <a:xfrm>
            <a:off x="609600" y="3314700"/>
            <a:ext cx="6096000" cy="819150"/>
          </a:xfrm>
          <a:prstGeom prst="roundRect">
            <a:avLst>
              <a:gd name="adj" fmla="val 1162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Rectangle 15"/>
          <p:cNvSpPr/>
          <p:nvPr/>
        </p:nvSpPr>
        <p:spPr>
          <a:xfrm>
            <a:off x="609600" y="3314700"/>
            <a:ext cx="38100" cy="81915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TextBox 16"/>
          <p:cNvSpPr txBox="1"/>
          <p:nvPr/>
        </p:nvSpPr>
        <p:spPr>
          <a:xfrm>
            <a:off x="876300" y="3543300"/>
            <a:ext cx="571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03</a:t>
            </a:r>
            <a:endParaRPr/>
          </a:p>
        </p:txBody>
      </p:sp>
      <p:sp>
        <p:nvSpPr>
          <p:cNvPr id="481" name="TextBox 17"/>
          <p:cNvSpPr txBox="1"/>
          <p:nvPr/>
        </p:nvSpPr>
        <p:spPr>
          <a:xfrm>
            <a:off x="1524000" y="356235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上下文层</a:t>
            </a:r>
            <a:endParaRPr/>
          </a:p>
        </p:txBody>
      </p:sp>
      <p:sp>
        <p:nvSpPr>
          <p:cNvPr id="482" name="TextBox 18"/>
          <p:cNvSpPr txBox="1"/>
          <p:nvPr/>
        </p:nvSpPr>
        <p:spPr>
          <a:xfrm>
            <a:off x="2762250" y="3467100"/>
            <a:ext cx="38100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6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规则文件、任务简报、代码库检索——本课的主战场</a:t>
            </a:r>
            <a:endParaRPr/>
          </a:p>
        </p:txBody>
      </p:sp>
      <p:sp>
        <p:nvSpPr>
          <p:cNvPr id="483" name="Rounded Rectangle 19"/>
          <p:cNvSpPr/>
          <p:nvPr/>
        </p:nvSpPr>
        <p:spPr>
          <a:xfrm>
            <a:off x="609600" y="4248150"/>
            <a:ext cx="6096000" cy="819150"/>
          </a:xfrm>
          <a:prstGeom prst="roundRect">
            <a:avLst>
              <a:gd name="adj" fmla="val 1162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Rectangle 20"/>
          <p:cNvSpPr/>
          <p:nvPr/>
        </p:nvSpPr>
        <p:spPr>
          <a:xfrm>
            <a:off x="609600" y="4248150"/>
            <a:ext cx="38100" cy="8191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5" name="TextBox 21"/>
          <p:cNvSpPr txBox="1"/>
          <p:nvPr/>
        </p:nvSpPr>
        <p:spPr>
          <a:xfrm>
            <a:off x="876300" y="4476750"/>
            <a:ext cx="571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02</a:t>
            </a:r>
            <a:endParaRPr/>
          </a:p>
        </p:txBody>
      </p:sp>
      <p:sp>
        <p:nvSpPr>
          <p:cNvPr id="486" name="TextBox 22"/>
          <p:cNvSpPr txBox="1"/>
          <p:nvPr/>
        </p:nvSpPr>
        <p:spPr>
          <a:xfrm>
            <a:off x="1524000" y="449580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工具层</a:t>
            </a:r>
            <a:endParaRPr/>
          </a:p>
        </p:txBody>
      </p:sp>
      <p:sp>
        <p:nvSpPr>
          <p:cNvPr id="487" name="TextBox 23"/>
          <p:cNvSpPr txBox="1"/>
          <p:nvPr/>
        </p:nvSpPr>
        <p:spPr>
          <a:xfrm>
            <a:off x="2762250" y="4400550"/>
            <a:ext cx="38100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6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读写文件、执行终端、检索代码库、MCP 外部服务</a:t>
            </a:r>
            <a:endParaRPr/>
          </a:p>
        </p:txBody>
      </p:sp>
      <p:sp>
        <p:nvSpPr>
          <p:cNvPr id="488" name="Rounded Rectangle 24"/>
          <p:cNvSpPr/>
          <p:nvPr/>
        </p:nvSpPr>
        <p:spPr>
          <a:xfrm>
            <a:off x="609600" y="5181600"/>
            <a:ext cx="6096000" cy="819150"/>
          </a:xfrm>
          <a:prstGeom prst="roundRect">
            <a:avLst>
              <a:gd name="adj" fmla="val 1162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Rectangle 25"/>
          <p:cNvSpPr/>
          <p:nvPr/>
        </p:nvSpPr>
        <p:spPr>
          <a:xfrm>
            <a:off x="609600" y="5181600"/>
            <a:ext cx="38100" cy="81915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TextBox 26"/>
          <p:cNvSpPr txBox="1"/>
          <p:nvPr/>
        </p:nvSpPr>
        <p:spPr>
          <a:xfrm>
            <a:off x="876300" y="5410200"/>
            <a:ext cx="571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01</a:t>
            </a:r>
            <a:endParaRPr/>
          </a:p>
        </p:txBody>
      </p:sp>
      <p:sp>
        <p:nvSpPr>
          <p:cNvPr id="491" name="TextBox 27"/>
          <p:cNvSpPr txBox="1"/>
          <p:nvPr/>
        </p:nvSpPr>
        <p:spPr>
          <a:xfrm>
            <a:off x="1524000" y="5429250"/>
            <a:ext cx="1143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模型层</a:t>
            </a:r>
            <a:endParaRPr/>
          </a:p>
        </p:txBody>
      </p:sp>
      <p:sp>
        <p:nvSpPr>
          <p:cNvPr id="492" name="TextBox 28"/>
          <p:cNvSpPr txBox="1"/>
          <p:nvPr/>
        </p:nvSpPr>
        <p:spPr>
          <a:xfrm>
            <a:off x="2762250" y="5334000"/>
            <a:ext cx="38100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6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推理与代码能力底座，如 Qwen3-Coder（SWE-bench Verified 72.3%）</a:t>
            </a:r>
            <a:endParaRPr/>
          </a:p>
        </p:txBody>
      </p:sp>
      <p:sp>
        <p:nvSpPr>
          <p:cNvPr id="493" name="TextBox 29"/>
          <p:cNvSpPr txBox="1"/>
          <p:nvPr/>
        </p:nvSpPr>
        <p:spPr>
          <a:xfrm>
            <a:off x="7124700" y="1447800"/>
            <a:ext cx="44577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同一个模型，在不同团队手里产出天差地别——差距几乎都出在第 2、3、5 层：工具接得全不全，上下文给得准不准，反馈回路闭没闭。</a:t>
            </a:r>
            <a:endParaRPr/>
          </a:p>
        </p:txBody>
      </p:sp>
      <p:sp>
        <p:nvSpPr>
          <p:cNvPr id="494" name="Rectangle 30"/>
          <p:cNvSpPr/>
          <p:nvPr/>
        </p:nvSpPr>
        <p:spPr>
          <a:xfrm>
            <a:off x="7124700" y="2914650"/>
            <a:ext cx="38100" cy="8382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5" name="TextBox 31"/>
          <p:cNvSpPr txBox="1"/>
          <p:nvPr/>
        </p:nvSpPr>
        <p:spPr>
          <a:xfrm>
            <a:off x="7296150" y="2914650"/>
            <a:ext cx="428625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模型层决定下限：它保证“能写出能跑的代码”。但决定上限的，是你喂给它的上下文质量。</a:t>
            </a:r>
            <a:endParaRPr/>
          </a:p>
        </p:txBody>
      </p:sp>
      <p:sp>
        <p:nvSpPr>
          <p:cNvPr id="496" name="Rounded Rectangle 32"/>
          <p:cNvSpPr/>
          <p:nvPr/>
        </p:nvSpPr>
        <p:spPr>
          <a:xfrm>
            <a:off x="7124700" y="4476750"/>
            <a:ext cx="4457700" cy="1524000"/>
          </a:xfrm>
          <a:prstGeom prst="roundRect">
            <a:avLst>
              <a:gd name="adj" fmla="val 6250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Rounded Rectangle 33"/>
          <p:cNvSpPr/>
          <p:nvPr/>
        </p:nvSpPr>
        <p:spPr>
          <a:xfrm>
            <a:off x="7353300" y="4667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TextBox 34"/>
          <p:cNvSpPr txBox="1"/>
          <p:nvPr/>
        </p:nvSpPr>
        <p:spPr>
          <a:xfrm>
            <a:off x="7543800" y="4610100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  <a:endParaRPr/>
          </a:p>
        </p:txBody>
      </p:sp>
      <p:sp>
        <p:nvSpPr>
          <p:cNvPr id="499" name="TextBox 35"/>
          <p:cNvSpPr txBox="1"/>
          <p:nvPr/>
        </p:nvSpPr>
        <p:spPr>
          <a:xfrm>
            <a:off x="7353300" y="4895850"/>
            <a:ext cx="40005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与其纠结换哪个模型，不如先补齐上下文层——这是投入产出比最高的一层，也是第三章的全部内容。</a:t>
            </a:r>
            <a:endParaRPr/>
          </a:p>
        </p:txBody>
      </p:sp>
      <p:sp>
        <p:nvSpPr>
          <p:cNvPr id="500" name="Rounded Rectangle 36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TextBox 37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认知篇</a:t>
            </a:r>
            <a:endParaRPr/>
          </a:p>
        </p:txBody>
      </p:sp>
      <p:sp>
        <p:nvSpPr>
          <p:cNvPr id="502" name="TextBox 38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05 / 21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5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Picture 1" descr="p_ch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5" name="TextBox 2"/>
          <p:cNvSpPr txBox="1"/>
          <p:nvPr/>
        </p:nvSpPr>
        <p:spPr>
          <a:xfrm>
            <a:off x="8382000" y="-285750"/>
            <a:ext cx="3810000" cy="323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500" b="1" i="0">
                <a:solidFill>
                  <a:srgbClr val="1A2638"/>
                </a:solidFill>
                <a:latin typeface="Consolas"/>
                <a:ea typeface="Consolas"/>
                <a:cs typeface="Consolas"/>
              </a:rPr>
              <a:t>02</a:t>
            </a:r>
            <a:endParaRPr/>
          </a:p>
        </p:txBody>
      </p:sp>
      <p:sp>
        <p:nvSpPr>
          <p:cNvPr id="506" name="TextBox 3"/>
          <p:cNvSpPr txBox="1"/>
          <p:nvPr/>
        </p:nvSpPr>
        <p:spPr>
          <a:xfrm>
            <a:off x="609600" y="20002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spc="40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CHAPTER 02</a:t>
            </a:r>
            <a:endParaRPr/>
          </a:p>
        </p:txBody>
      </p:sp>
      <p:sp>
        <p:nvSpPr>
          <p:cNvPr id="507" name="Rectangle 4"/>
          <p:cNvSpPr/>
          <p:nvPr/>
        </p:nvSpPr>
        <p:spPr>
          <a:xfrm>
            <a:off x="2381250" y="2152650"/>
            <a:ext cx="6858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TextBox 5"/>
          <p:cNvSpPr txBox="1"/>
          <p:nvPr/>
        </p:nvSpPr>
        <p:spPr>
          <a:xfrm>
            <a:off x="609600" y="2381250"/>
            <a:ext cx="6667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 spc="20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格局篇</a:t>
            </a:r>
            <a:endParaRPr/>
          </a:p>
        </p:txBody>
      </p:sp>
      <p:sp>
        <p:nvSpPr>
          <p:cNvPr id="509" name="TextBox 6"/>
          <p:cNvSpPr txBox="1"/>
          <p:nvPr/>
        </p:nvSpPr>
        <p:spPr>
          <a:xfrm>
            <a:off x="609600" y="3390900"/>
            <a:ext cx="666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四强并立，选的是生态位</a:t>
            </a:r>
            <a:endParaRPr/>
          </a:p>
        </p:txBody>
      </p:sp>
      <p:sp>
        <p:nvSpPr>
          <p:cNvPr id="510" name="TextBox 7"/>
          <p:cNvSpPr txBox="1"/>
          <p:nvPr/>
        </p:nvSpPr>
        <p:spPr>
          <a:xfrm>
            <a:off x="609600" y="3962400"/>
            <a:ext cx="5905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国内第一梯队已经贴身缠斗——这一章帮你在 30 分钟内建立选型框架，而不是再刷一遍营销稿。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5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国内格局：四强竞逐，无人通吃</a:t>
            </a:r>
            <a:endParaRPr/>
          </a:p>
        </p:txBody>
      </p:sp>
      <p:sp>
        <p:nvSpPr>
          <p:cNvPr id="51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数据截至 2026 年 5 月 · 公开市场统计口径</a:t>
            </a:r>
            <a:endParaRPr/>
          </a:p>
        </p:txBody>
      </p:sp>
      <p:sp>
        <p:nvSpPr>
          <p:cNvPr id="515" name="Rounded Rectangle 4"/>
          <p:cNvSpPr/>
          <p:nvPr/>
        </p:nvSpPr>
        <p:spPr>
          <a:xfrm>
            <a:off x="10858500" y="-571500"/>
            <a:ext cx="3048000" cy="3048000"/>
          </a:xfrm>
          <a:prstGeom prst="roundRect">
            <a:avLst>
              <a:gd name="adj" fmla="val 50000"/>
            </a:avLst>
          </a:prstGeom>
          <a:solidFill>
            <a:srgbClr val="16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TextBox 5"/>
          <p:cNvSpPr txBox="1"/>
          <p:nvPr/>
        </p:nvSpPr>
        <p:spPr>
          <a:xfrm>
            <a:off x="609600" y="1409700"/>
            <a:ext cx="40005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28%</a:t>
            </a:r>
            <a:endParaRPr/>
          </a:p>
        </p:txBody>
      </p:sp>
      <p:sp>
        <p:nvSpPr>
          <p:cNvPr id="517" name="TextBox 6"/>
          <p:cNvSpPr txBox="1"/>
          <p:nvPr/>
        </p:nvSpPr>
        <p:spPr>
          <a:xfrm>
            <a:off x="609600" y="2914650"/>
            <a:ext cx="4000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腾讯 CodeBuddy 暂居第一</a:t>
            </a:r>
            <a:endParaRPr/>
          </a:p>
        </p:txBody>
      </p:sp>
      <p:sp>
        <p:nvSpPr>
          <p:cNvPr id="518" name="TextBox 7"/>
          <p:cNvSpPr txBox="1"/>
          <p:nvPr/>
        </p:nvSpPr>
        <p:spPr>
          <a:xfrm>
            <a:off x="609600" y="3276600"/>
            <a:ext cx="4000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275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但第一名与第四名只差 6 个百分点——这个量级的差距，随时会被下一次版本更新改写。</a:t>
            </a:r>
            <a:endParaRPr/>
          </a:p>
        </p:txBody>
      </p:sp>
      <p:sp>
        <p:nvSpPr>
          <p:cNvPr id="519" name="TextBox 8"/>
          <p:cNvSpPr txBox="1"/>
          <p:nvPr/>
        </p:nvSpPr>
        <p:spPr>
          <a:xfrm>
            <a:off x="5143500" y="1504950"/>
            <a:ext cx="209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2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腾讯 CodeBuddy</a:t>
            </a:r>
            <a:endParaRPr/>
          </a:p>
        </p:txBody>
      </p:sp>
      <p:sp>
        <p:nvSpPr>
          <p:cNvPr id="520" name="TextBox 9"/>
          <p:cNvSpPr txBox="1"/>
          <p:nvPr/>
        </p:nvSpPr>
        <p:spPr>
          <a:xfrm>
            <a:off x="5143500" y="175260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增速最快 · 三形态齐全</a:t>
            </a:r>
            <a:endParaRPr/>
          </a:p>
        </p:txBody>
      </p:sp>
      <p:sp>
        <p:nvSpPr>
          <p:cNvPr id="521" name="Rounded Rectangle 10"/>
          <p:cNvSpPr/>
          <p:nvPr/>
        </p:nvSpPr>
        <p:spPr>
          <a:xfrm>
            <a:off x="7391400" y="1524000"/>
            <a:ext cx="3619500" cy="247650"/>
          </a:xfrm>
          <a:prstGeom prst="roundRect">
            <a:avLst>
              <a:gd name="adj" fmla="val 15384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Rounded Rectangle 11"/>
          <p:cNvSpPr/>
          <p:nvPr/>
        </p:nvSpPr>
        <p:spPr>
          <a:xfrm>
            <a:off x="7391400" y="1524000"/>
            <a:ext cx="3619500" cy="247650"/>
          </a:xfrm>
          <a:prstGeom prst="roundRect">
            <a:avLst>
              <a:gd name="adj" fmla="val 15384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TextBox 12"/>
          <p:cNvSpPr txBox="1"/>
          <p:nvPr/>
        </p:nvSpPr>
        <p:spPr>
          <a:xfrm>
            <a:off x="11125200" y="1524000"/>
            <a:ext cx="476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28%</a:t>
            </a:r>
            <a:endParaRPr/>
          </a:p>
        </p:txBody>
      </p:sp>
      <p:sp>
        <p:nvSpPr>
          <p:cNvPr id="524" name="TextBox 13"/>
          <p:cNvSpPr txBox="1"/>
          <p:nvPr/>
        </p:nvSpPr>
        <p:spPr>
          <a:xfrm>
            <a:off x="5143500" y="2133600"/>
            <a:ext cx="209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2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阿里 Qoder（原通义灵码）</a:t>
            </a:r>
            <a:endParaRPr/>
          </a:p>
        </p:txBody>
      </p:sp>
      <p:sp>
        <p:nvSpPr>
          <p:cNvPr id="525" name="TextBox 14"/>
          <p:cNvSpPr txBox="1"/>
          <p:nvPr/>
        </p:nvSpPr>
        <p:spPr>
          <a:xfrm>
            <a:off x="5143500" y="238125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用户规模最大</a:t>
            </a:r>
            <a:endParaRPr/>
          </a:p>
        </p:txBody>
      </p:sp>
      <p:sp>
        <p:nvSpPr>
          <p:cNvPr id="526" name="Rounded Rectangle 15"/>
          <p:cNvSpPr/>
          <p:nvPr/>
        </p:nvSpPr>
        <p:spPr>
          <a:xfrm>
            <a:off x="7391400" y="2152650"/>
            <a:ext cx="3619500" cy="247650"/>
          </a:xfrm>
          <a:prstGeom prst="roundRect">
            <a:avLst>
              <a:gd name="adj" fmla="val 15384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Rounded Rectangle 16"/>
          <p:cNvSpPr/>
          <p:nvPr/>
        </p:nvSpPr>
        <p:spPr>
          <a:xfrm>
            <a:off x="7391400" y="2152650"/>
            <a:ext cx="3352800" cy="247650"/>
          </a:xfrm>
          <a:prstGeom prst="roundRect">
            <a:avLst>
              <a:gd name="adj" fmla="val 15384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TextBox 17"/>
          <p:cNvSpPr txBox="1"/>
          <p:nvPr/>
        </p:nvSpPr>
        <p:spPr>
          <a:xfrm>
            <a:off x="11125200" y="2152650"/>
            <a:ext cx="476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26%</a:t>
            </a:r>
            <a:endParaRPr/>
          </a:p>
        </p:txBody>
      </p:sp>
      <p:sp>
        <p:nvSpPr>
          <p:cNvPr id="529" name="TextBox 18"/>
          <p:cNvSpPr txBox="1"/>
          <p:nvPr/>
        </p:nvSpPr>
        <p:spPr>
          <a:xfrm>
            <a:off x="5143500" y="2762250"/>
            <a:ext cx="209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2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字节 Trae</a:t>
            </a:r>
            <a:endParaRPr/>
          </a:p>
        </p:txBody>
      </p:sp>
      <p:sp>
        <p:nvSpPr>
          <p:cNvPr id="530" name="TextBox 19"/>
          <p:cNvSpPr txBox="1"/>
          <p:nvPr/>
        </p:nvSpPr>
        <p:spPr>
          <a:xfrm>
            <a:off x="5143500" y="300990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免费策略 · 增长迅猛</a:t>
            </a:r>
            <a:endParaRPr/>
          </a:p>
        </p:txBody>
      </p:sp>
      <p:sp>
        <p:nvSpPr>
          <p:cNvPr id="531" name="Rounded Rectangle 20"/>
          <p:cNvSpPr/>
          <p:nvPr/>
        </p:nvSpPr>
        <p:spPr>
          <a:xfrm>
            <a:off x="7391400" y="2781300"/>
            <a:ext cx="3619500" cy="247650"/>
          </a:xfrm>
          <a:prstGeom prst="roundRect">
            <a:avLst>
              <a:gd name="adj" fmla="val 15384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Rounded Rectangle 21"/>
          <p:cNvSpPr/>
          <p:nvPr/>
        </p:nvSpPr>
        <p:spPr>
          <a:xfrm>
            <a:off x="7391400" y="2781300"/>
            <a:ext cx="3095625" cy="247650"/>
          </a:xfrm>
          <a:prstGeom prst="roundRect">
            <a:avLst>
              <a:gd name="adj" fmla="val 15384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TextBox 22"/>
          <p:cNvSpPr txBox="1"/>
          <p:nvPr/>
        </p:nvSpPr>
        <p:spPr>
          <a:xfrm>
            <a:off x="11125200" y="2781300"/>
            <a:ext cx="476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24%</a:t>
            </a:r>
            <a:endParaRPr/>
          </a:p>
        </p:txBody>
      </p:sp>
      <p:sp>
        <p:nvSpPr>
          <p:cNvPr id="534" name="TextBox 23"/>
          <p:cNvSpPr txBox="1"/>
          <p:nvPr/>
        </p:nvSpPr>
        <p:spPr>
          <a:xfrm>
            <a:off x="5143500" y="3390900"/>
            <a:ext cx="2095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2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百度文心快码</a:t>
            </a:r>
            <a:endParaRPr/>
          </a:p>
        </p:txBody>
      </p:sp>
      <p:sp>
        <p:nvSpPr>
          <p:cNvPr id="535" name="TextBox 24"/>
          <p:cNvSpPr txBox="1"/>
          <p:nvPr/>
        </p:nvSpPr>
        <p:spPr>
          <a:xfrm>
            <a:off x="5143500" y="3638550"/>
            <a:ext cx="2095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企业级能力最强</a:t>
            </a:r>
            <a:endParaRPr/>
          </a:p>
        </p:txBody>
      </p:sp>
      <p:sp>
        <p:nvSpPr>
          <p:cNvPr id="536" name="Rounded Rectangle 25"/>
          <p:cNvSpPr/>
          <p:nvPr/>
        </p:nvSpPr>
        <p:spPr>
          <a:xfrm>
            <a:off x="7391400" y="3409950"/>
            <a:ext cx="3619500" cy="247650"/>
          </a:xfrm>
          <a:prstGeom prst="roundRect">
            <a:avLst>
              <a:gd name="adj" fmla="val 15384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Rounded Rectangle 26"/>
          <p:cNvSpPr/>
          <p:nvPr/>
        </p:nvSpPr>
        <p:spPr>
          <a:xfrm>
            <a:off x="7391400" y="3409950"/>
            <a:ext cx="2838450" cy="247650"/>
          </a:xfrm>
          <a:prstGeom prst="roundRect">
            <a:avLst>
              <a:gd name="adj" fmla="val 15384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TextBox 27"/>
          <p:cNvSpPr txBox="1"/>
          <p:nvPr/>
        </p:nvSpPr>
        <p:spPr>
          <a:xfrm>
            <a:off x="11125200" y="3409950"/>
            <a:ext cx="476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22%</a:t>
            </a:r>
            <a:endParaRPr/>
          </a:p>
        </p:txBody>
      </p:sp>
      <p:sp>
        <p:nvSpPr>
          <p:cNvPr id="539" name="Rounded Rectangle 28"/>
          <p:cNvSpPr/>
          <p:nvPr/>
        </p:nvSpPr>
        <p:spPr>
          <a:xfrm>
            <a:off x="609600" y="4476750"/>
            <a:ext cx="10972800" cy="1238250"/>
          </a:xfrm>
          <a:prstGeom prst="roundRect">
            <a:avLst>
              <a:gd name="adj" fmla="val 9230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Rounded Rectangle 29"/>
          <p:cNvSpPr/>
          <p:nvPr/>
        </p:nvSpPr>
        <p:spPr>
          <a:xfrm>
            <a:off x="876300" y="4724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TextBox 30"/>
          <p:cNvSpPr txBox="1"/>
          <p:nvPr/>
        </p:nvSpPr>
        <p:spPr>
          <a:xfrm>
            <a:off x="1066800" y="4667250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  <a:endParaRPr/>
          </a:p>
        </p:txBody>
      </p:sp>
      <p:sp>
        <p:nvSpPr>
          <p:cNvPr id="542" name="TextBox 31"/>
          <p:cNvSpPr txBox="1"/>
          <p:nvPr/>
        </p:nvSpPr>
        <p:spPr>
          <a:xfrm>
            <a:off x="876300" y="4953000"/>
            <a:ext cx="104394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25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份额接近意味着“没有错误答案”：别再为“谁第一”浪费选型时间，把精力放在“谁和你的技术栈、云生态、合规要求最匹配”——下一页给出四强的完整拆解。</a:t>
            </a:r>
            <a:endParaRPr/>
          </a:p>
        </p:txBody>
      </p:sp>
      <p:sp>
        <p:nvSpPr>
          <p:cNvPr id="543" name="Rounded Rectangle 32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33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格局篇</a:t>
            </a:r>
            <a:endParaRPr/>
          </a:p>
        </p:txBody>
      </p:sp>
      <p:sp>
        <p:nvSpPr>
          <p:cNvPr id="545" name="TextBox 34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07 / 21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5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四强逐个拆解</a:t>
            </a:r>
            <a:endParaRPr/>
          </a:p>
        </p:txBody>
      </p:sp>
      <p:sp>
        <p:nvSpPr>
          <p:cNvPr id="548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不看广告看疗效：差异点、适配场景，以及它们不会写进官网的“代价”</a:t>
            </a:r>
            <a:endParaRPr/>
          </a:p>
        </p:txBody>
      </p:sp>
      <p:sp>
        <p:nvSpPr>
          <p:cNvPr id="550" name="Rounded Rectangle 4"/>
          <p:cNvSpPr/>
          <p:nvPr/>
        </p:nvSpPr>
        <p:spPr>
          <a:xfrm>
            <a:off x="609600" y="1409700"/>
            <a:ext cx="2628900" cy="4476750"/>
          </a:xfrm>
          <a:prstGeom prst="roundRect">
            <a:avLst>
              <a:gd name="adj" fmla="val 362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Rounded Rectangle 5"/>
          <p:cNvSpPr/>
          <p:nvPr/>
        </p:nvSpPr>
        <p:spPr>
          <a:xfrm>
            <a:off x="609600" y="1409700"/>
            <a:ext cx="2628900" cy="381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TextBox 6"/>
          <p:cNvSpPr txBox="1"/>
          <p:nvPr/>
        </p:nvSpPr>
        <p:spPr>
          <a:xfrm>
            <a:off x="800100" y="1638300"/>
            <a:ext cx="2286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腾讯 CodeBuddy</a:t>
            </a:r>
            <a:endParaRPr/>
          </a:p>
        </p:txBody>
      </p:sp>
      <p:sp>
        <p:nvSpPr>
          <p:cNvPr id="553" name="TextBox 7"/>
          <p:cNvSpPr txBox="1"/>
          <p:nvPr/>
        </p:nvSpPr>
        <p:spPr>
          <a:xfrm>
            <a:off x="800100" y="1943100"/>
            <a:ext cx="2286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腾讯 · 2025.09</a:t>
            </a:r>
            <a:endParaRPr/>
          </a:p>
        </p:txBody>
      </p:sp>
      <p:sp>
        <p:nvSpPr>
          <p:cNvPr id="554" name="Rounded Rectangle 8"/>
          <p:cNvSpPr/>
          <p:nvPr/>
        </p:nvSpPr>
        <p:spPr>
          <a:xfrm>
            <a:off x="800100" y="2209800"/>
            <a:ext cx="2247900" cy="323850"/>
          </a:xfrm>
          <a:prstGeom prst="roundRect">
            <a:avLst>
              <a:gd name="adj" fmla="val 17647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TextBox 9"/>
          <p:cNvSpPr txBox="1"/>
          <p:nvPr/>
        </p:nvSpPr>
        <p:spPr>
          <a:xfrm>
            <a:off x="895350" y="2286000"/>
            <a:ext cx="2095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28% 份额 · 插件/IDE/CLI 三形态</a:t>
            </a:r>
            <a:endParaRPr/>
          </a:p>
        </p:txBody>
      </p:sp>
      <p:sp>
        <p:nvSpPr>
          <p:cNvPr id="556" name="Rounded Rectangle 10"/>
          <p:cNvSpPr/>
          <p:nvPr/>
        </p:nvSpPr>
        <p:spPr>
          <a:xfrm>
            <a:off x="800100" y="2743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TextBox 11"/>
          <p:cNvSpPr txBox="1"/>
          <p:nvPr/>
        </p:nvSpPr>
        <p:spPr>
          <a:xfrm>
            <a:off x="933450" y="2667000"/>
            <a:ext cx="215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微信生态深度集成：小程序、小游戏、云开发直接生成可提交成品</a:t>
            </a:r>
            <a:endParaRPr/>
          </a:p>
        </p:txBody>
      </p:sp>
      <p:sp>
        <p:nvSpPr>
          <p:cNvPr id="558" name="Rounded Rectangle 12"/>
          <p:cNvSpPr/>
          <p:nvPr/>
        </p:nvSpPr>
        <p:spPr>
          <a:xfrm>
            <a:off x="800100" y="34480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TextBox 13"/>
          <p:cNvSpPr txBox="1"/>
          <p:nvPr/>
        </p:nvSpPr>
        <p:spPr>
          <a:xfrm>
            <a:off x="933450" y="3371850"/>
            <a:ext cx="215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Craft 端到端模式 + Figma 设计稿转代码</a:t>
            </a:r>
            <a:endParaRPr/>
          </a:p>
        </p:txBody>
      </p:sp>
      <p:sp>
        <p:nvSpPr>
          <p:cNvPr id="560" name="Rounded Rectangle 14"/>
          <p:cNvSpPr/>
          <p:nvPr/>
        </p:nvSpPr>
        <p:spPr>
          <a:xfrm>
            <a:off x="800100" y="41529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TextBox 15"/>
          <p:cNvSpPr txBox="1"/>
          <p:nvPr/>
        </p:nvSpPr>
        <p:spPr>
          <a:xfrm>
            <a:off x="933450" y="4076700"/>
            <a:ext cx="215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SubAgents 子代理与 Typed Memory 跨会话记忆</a:t>
            </a:r>
            <a:endParaRPr/>
          </a:p>
        </p:txBody>
      </p:sp>
      <p:sp>
        <p:nvSpPr>
          <p:cNvPr id="562" name="Rounded Rectangle 16"/>
          <p:cNvSpPr/>
          <p:nvPr/>
        </p:nvSpPr>
        <p:spPr>
          <a:xfrm>
            <a:off x="800100" y="4914900"/>
            <a:ext cx="2247900" cy="800100"/>
          </a:xfrm>
          <a:prstGeom prst="roundRect">
            <a:avLst>
              <a:gd name="adj" fmla="val 7142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TextBox 17"/>
          <p:cNvSpPr txBox="1"/>
          <p:nvPr/>
        </p:nvSpPr>
        <p:spPr>
          <a:xfrm>
            <a:off x="914400" y="4972050"/>
            <a:ext cx="2038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37" b="1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适合：</a:t>
            </a:r>
            <a:r>
              <a:rPr sz="937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微信 / 企微生态、腾讯云团队</a:t>
            </a:r>
            <a:endParaRPr/>
          </a:p>
        </p:txBody>
      </p:sp>
      <p:sp>
        <p:nvSpPr>
          <p:cNvPr id="564" name="TextBox 18"/>
          <p:cNvSpPr txBox="1"/>
          <p:nvPr/>
        </p:nvSpPr>
        <p:spPr>
          <a:xfrm>
            <a:off x="914400" y="5295900"/>
            <a:ext cx="20383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代价：</a:t>
            </a:r>
            <a:r>
              <a:rPr sz="975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离开腾讯生态，差异化优势收窄</a:t>
            </a:r>
            <a:endParaRPr/>
          </a:p>
        </p:txBody>
      </p:sp>
      <p:sp>
        <p:nvSpPr>
          <p:cNvPr id="565" name="Rounded Rectangle 19"/>
          <p:cNvSpPr/>
          <p:nvPr/>
        </p:nvSpPr>
        <p:spPr>
          <a:xfrm>
            <a:off x="3390900" y="1409700"/>
            <a:ext cx="2628900" cy="4476750"/>
          </a:xfrm>
          <a:prstGeom prst="roundRect">
            <a:avLst>
              <a:gd name="adj" fmla="val 362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Rounded Rectangle 20"/>
          <p:cNvSpPr/>
          <p:nvPr/>
        </p:nvSpPr>
        <p:spPr>
          <a:xfrm>
            <a:off x="3390900" y="1409700"/>
            <a:ext cx="2628900" cy="381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TextBox 21"/>
          <p:cNvSpPr txBox="1"/>
          <p:nvPr/>
        </p:nvSpPr>
        <p:spPr>
          <a:xfrm>
            <a:off x="3581400" y="1638300"/>
            <a:ext cx="2286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阿里 Qoder</a:t>
            </a:r>
            <a:endParaRPr/>
          </a:p>
        </p:txBody>
      </p:sp>
      <p:sp>
        <p:nvSpPr>
          <p:cNvPr id="568" name="TextBox 22"/>
          <p:cNvSpPr txBox="1"/>
          <p:nvPr/>
        </p:nvSpPr>
        <p:spPr>
          <a:xfrm>
            <a:off x="3581400" y="1943100"/>
            <a:ext cx="2286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阿里 · 原通义灵码</a:t>
            </a:r>
            <a:endParaRPr/>
          </a:p>
        </p:txBody>
      </p:sp>
      <p:sp>
        <p:nvSpPr>
          <p:cNvPr id="569" name="Rounded Rectangle 23"/>
          <p:cNvSpPr/>
          <p:nvPr/>
        </p:nvSpPr>
        <p:spPr>
          <a:xfrm>
            <a:off x="3581400" y="2209800"/>
            <a:ext cx="2247900" cy="323850"/>
          </a:xfrm>
          <a:prstGeom prst="roundRect">
            <a:avLst>
              <a:gd name="adj" fmla="val 17647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TextBox 24"/>
          <p:cNvSpPr txBox="1"/>
          <p:nvPr/>
        </p:nvSpPr>
        <p:spPr>
          <a:xfrm>
            <a:off x="3676650" y="2286000"/>
            <a:ext cx="2095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26% 份额 · SWE-bench 72.3%</a:t>
            </a:r>
            <a:endParaRPr/>
          </a:p>
        </p:txBody>
      </p:sp>
      <p:sp>
        <p:nvSpPr>
          <p:cNvPr id="571" name="Rounded Rectangle 25"/>
          <p:cNvSpPr/>
          <p:nvPr/>
        </p:nvSpPr>
        <p:spPr>
          <a:xfrm>
            <a:off x="3581400" y="2743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TextBox 26"/>
          <p:cNvSpPr txBox="1"/>
          <p:nvPr/>
        </p:nvSpPr>
        <p:spPr>
          <a:xfrm>
            <a:off x="3714750" y="2667000"/>
            <a:ext cx="215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底层 Qwen3.8-Max：2.4 万亿参数、100 万上下文</a:t>
            </a:r>
            <a:endParaRPr/>
          </a:p>
        </p:txBody>
      </p:sp>
      <p:sp>
        <p:nvSpPr>
          <p:cNvPr id="573" name="Rounded Rectangle 27"/>
          <p:cNvSpPr/>
          <p:nvPr/>
        </p:nvSpPr>
        <p:spPr>
          <a:xfrm>
            <a:off x="3581400" y="34480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TextBox 28"/>
          <p:cNvSpPr txBox="1"/>
          <p:nvPr/>
        </p:nvSpPr>
        <p:spPr>
          <a:xfrm>
            <a:off x="3714750" y="3371850"/>
            <a:ext cx="215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工程自动感知、记忆学习、专家团协作</a:t>
            </a:r>
            <a:endParaRPr/>
          </a:p>
        </p:txBody>
      </p:sp>
      <p:sp>
        <p:nvSpPr>
          <p:cNvPr id="575" name="Rounded Rectangle 29"/>
          <p:cNvSpPr/>
          <p:nvPr/>
        </p:nvSpPr>
        <p:spPr>
          <a:xfrm>
            <a:off x="3581400" y="41529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TextBox 30"/>
          <p:cNvSpPr txBox="1"/>
          <p:nvPr/>
        </p:nvSpPr>
        <p:spPr>
          <a:xfrm>
            <a:off x="3714750" y="4076700"/>
            <a:ext cx="215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企业版支持私有化，服务一汽、建信金科</a:t>
            </a:r>
            <a:endParaRPr/>
          </a:p>
        </p:txBody>
      </p:sp>
      <p:sp>
        <p:nvSpPr>
          <p:cNvPr id="577" name="Rounded Rectangle 31"/>
          <p:cNvSpPr/>
          <p:nvPr/>
        </p:nvSpPr>
        <p:spPr>
          <a:xfrm>
            <a:off x="3581400" y="4914900"/>
            <a:ext cx="2247900" cy="800100"/>
          </a:xfrm>
          <a:prstGeom prst="roundRect">
            <a:avLst>
              <a:gd name="adj" fmla="val 7142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TextBox 32"/>
          <p:cNvSpPr txBox="1"/>
          <p:nvPr/>
        </p:nvSpPr>
        <p:spPr>
          <a:xfrm>
            <a:off x="3695700" y="4972050"/>
            <a:ext cx="2038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37" b="1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适合：</a:t>
            </a:r>
            <a:r>
              <a:rPr sz="937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阿里云生态、金融政务高合规</a:t>
            </a:r>
            <a:endParaRPr/>
          </a:p>
        </p:txBody>
      </p:sp>
      <p:sp>
        <p:nvSpPr>
          <p:cNvPr id="579" name="TextBox 33"/>
          <p:cNvSpPr txBox="1"/>
          <p:nvPr/>
        </p:nvSpPr>
        <p:spPr>
          <a:xfrm>
            <a:off x="3695700" y="5295900"/>
            <a:ext cx="20383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代价：</a:t>
            </a:r>
            <a:r>
              <a:rPr sz="975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长周期自主运行仍需人工验收兜底</a:t>
            </a:r>
            <a:endParaRPr/>
          </a:p>
        </p:txBody>
      </p:sp>
      <p:sp>
        <p:nvSpPr>
          <p:cNvPr id="580" name="Rounded Rectangle 34"/>
          <p:cNvSpPr/>
          <p:nvPr/>
        </p:nvSpPr>
        <p:spPr>
          <a:xfrm>
            <a:off x="6172200" y="1409700"/>
            <a:ext cx="2628900" cy="4476750"/>
          </a:xfrm>
          <a:prstGeom prst="roundRect">
            <a:avLst>
              <a:gd name="adj" fmla="val 362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Rounded Rectangle 35"/>
          <p:cNvSpPr/>
          <p:nvPr/>
        </p:nvSpPr>
        <p:spPr>
          <a:xfrm>
            <a:off x="6172200" y="1409700"/>
            <a:ext cx="2628900" cy="381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TextBox 36"/>
          <p:cNvSpPr txBox="1"/>
          <p:nvPr/>
        </p:nvSpPr>
        <p:spPr>
          <a:xfrm>
            <a:off x="6362700" y="1638300"/>
            <a:ext cx="2286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字节 Trae</a:t>
            </a:r>
            <a:endParaRPr/>
          </a:p>
        </p:txBody>
      </p:sp>
      <p:sp>
        <p:nvSpPr>
          <p:cNvPr id="583" name="TextBox 37"/>
          <p:cNvSpPr txBox="1"/>
          <p:nvPr/>
        </p:nvSpPr>
        <p:spPr>
          <a:xfrm>
            <a:off x="6362700" y="1943100"/>
            <a:ext cx="2286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字节跳动 · 2025.01</a:t>
            </a:r>
            <a:endParaRPr/>
          </a:p>
        </p:txBody>
      </p:sp>
      <p:sp>
        <p:nvSpPr>
          <p:cNvPr id="584" name="Rounded Rectangle 38"/>
          <p:cNvSpPr/>
          <p:nvPr/>
        </p:nvSpPr>
        <p:spPr>
          <a:xfrm>
            <a:off x="6362700" y="2209800"/>
            <a:ext cx="2247900" cy="323850"/>
          </a:xfrm>
          <a:prstGeom prst="roundRect">
            <a:avLst>
              <a:gd name="adj" fmla="val 17647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TextBox 39"/>
          <p:cNvSpPr txBox="1"/>
          <p:nvPr/>
        </p:nvSpPr>
        <p:spPr>
          <a:xfrm>
            <a:off x="6457950" y="2286000"/>
            <a:ext cx="2095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24% 份额 · 全功能免费</a:t>
            </a:r>
            <a:endParaRPr/>
          </a:p>
        </p:txBody>
      </p:sp>
      <p:sp>
        <p:nvSpPr>
          <p:cNvPr id="586" name="Rounded Rectangle 40"/>
          <p:cNvSpPr/>
          <p:nvPr/>
        </p:nvSpPr>
        <p:spPr>
          <a:xfrm>
            <a:off x="6362700" y="2743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TextBox 41"/>
          <p:cNvSpPr txBox="1"/>
          <p:nvPr/>
        </p:nvSpPr>
        <p:spPr>
          <a:xfrm>
            <a:off x="6496050" y="2667000"/>
            <a:ext cx="215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IDE + SOLO 双模式：控制感与自动化自由切换</a:t>
            </a:r>
            <a:endParaRPr/>
          </a:p>
        </p:txBody>
      </p:sp>
      <p:sp>
        <p:nvSpPr>
          <p:cNvPr id="588" name="Rounded Rectangle 42"/>
          <p:cNvSpPr/>
          <p:nvPr/>
        </p:nvSpPr>
        <p:spPr>
          <a:xfrm>
            <a:off x="6362700" y="34480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TextBox 43"/>
          <p:cNvSpPr txBox="1"/>
          <p:nvPr/>
        </p:nvSpPr>
        <p:spPr>
          <a:xfrm>
            <a:off x="6496050" y="3371850"/>
            <a:ext cx="215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豆包 1.5-pro、DeepSeek R1/V3 多模型内置</a:t>
            </a:r>
            <a:endParaRPr/>
          </a:p>
        </p:txBody>
      </p:sp>
      <p:sp>
        <p:nvSpPr>
          <p:cNvPr id="590" name="Rounded Rectangle 44"/>
          <p:cNvSpPr/>
          <p:nvPr/>
        </p:nvSpPr>
        <p:spPr>
          <a:xfrm>
            <a:off x="6362700" y="41529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1" name="TextBox 45"/>
          <p:cNvSpPr txBox="1"/>
          <p:nvPr/>
        </p:nvSpPr>
        <p:spPr>
          <a:xfrm>
            <a:off x="6496050" y="4076700"/>
            <a:ext cx="215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国内直连零配置，对新手最友好</a:t>
            </a:r>
            <a:endParaRPr/>
          </a:p>
        </p:txBody>
      </p:sp>
      <p:sp>
        <p:nvSpPr>
          <p:cNvPr id="592" name="Rounded Rectangle 46"/>
          <p:cNvSpPr/>
          <p:nvPr/>
        </p:nvSpPr>
        <p:spPr>
          <a:xfrm>
            <a:off x="6362700" y="4914900"/>
            <a:ext cx="2247900" cy="800100"/>
          </a:xfrm>
          <a:prstGeom prst="roundRect">
            <a:avLst>
              <a:gd name="adj" fmla="val 7142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47"/>
          <p:cNvSpPr txBox="1"/>
          <p:nvPr/>
        </p:nvSpPr>
        <p:spPr>
          <a:xfrm>
            <a:off x="6477000" y="4972050"/>
            <a:ext cx="2038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37" b="1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适合：</a:t>
            </a:r>
            <a:r>
              <a:rPr sz="937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个人开发者、学生、MVP 创业</a:t>
            </a:r>
            <a:endParaRPr/>
          </a:p>
        </p:txBody>
      </p:sp>
      <p:sp>
        <p:nvSpPr>
          <p:cNvPr id="594" name="TextBox 48"/>
          <p:cNvSpPr txBox="1"/>
          <p:nvPr/>
        </p:nvSpPr>
        <p:spPr>
          <a:xfrm>
            <a:off x="6477000" y="5295900"/>
            <a:ext cx="20383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代价：</a:t>
            </a:r>
            <a:r>
              <a:rPr sz="975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企业版暂未推出，团队治理能力待补</a:t>
            </a:r>
            <a:endParaRPr/>
          </a:p>
        </p:txBody>
      </p:sp>
      <p:sp>
        <p:nvSpPr>
          <p:cNvPr id="595" name="Rounded Rectangle 49"/>
          <p:cNvSpPr/>
          <p:nvPr/>
        </p:nvSpPr>
        <p:spPr>
          <a:xfrm>
            <a:off x="8953500" y="1409700"/>
            <a:ext cx="2628900" cy="4476750"/>
          </a:xfrm>
          <a:prstGeom prst="roundRect">
            <a:avLst>
              <a:gd name="adj" fmla="val 362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6" name="Rounded Rectangle 50"/>
          <p:cNvSpPr/>
          <p:nvPr/>
        </p:nvSpPr>
        <p:spPr>
          <a:xfrm>
            <a:off x="8953500" y="1409700"/>
            <a:ext cx="2628900" cy="3810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7" name="TextBox 51"/>
          <p:cNvSpPr txBox="1"/>
          <p:nvPr/>
        </p:nvSpPr>
        <p:spPr>
          <a:xfrm>
            <a:off x="9144000" y="1638300"/>
            <a:ext cx="2286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百度文心快码</a:t>
            </a:r>
            <a:endParaRPr/>
          </a:p>
        </p:txBody>
      </p:sp>
      <p:sp>
        <p:nvSpPr>
          <p:cNvPr id="598" name="TextBox 52"/>
          <p:cNvSpPr txBox="1"/>
          <p:nvPr/>
        </p:nvSpPr>
        <p:spPr>
          <a:xfrm>
            <a:off x="9144000" y="1943100"/>
            <a:ext cx="2286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百度 · 2023.07</a:t>
            </a:r>
            <a:endParaRPr/>
          </a:p>
        </p:txBody>
      </p:sp>
      <p:sp>
        <p:nvSpPr>
          <p:cNvPr id="599" name="Rounded Rectangle 53"/>
          <p:cNvSpPr/>
          <p:nvPr/>
        </p:nvSpPr>
        <p:spPr>
          <a:xfrm>
            <a:off x="9144000" y="2209800"/>
            <a:ext cx="2247900" cy="323850"/>
          </a:xfrm>
          <a:prstGeom prst="roundRect">
            <a:avLst>
              <a:gd name="adj" fmla="val 17647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0" name="TextBox 54"/>
          <p:cNvSpPr txBox="1"/>
          <p:nvPr/>
        </p:nvSpPr>
        <p:spPr>
          <a:xfrm>
            <a:off x="9239250" y="2286000"/>
            <a:ext cx="2095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百度内部新增代码 45% AI 生成</a:t>
            </a:r>
            <a:endParaRPr/>
          </a:p>
        </p:txBody>
      </p:sp>
      <p:sp>
        <p:nvSpPr>
          <p:cNvPr id="601" name="Rounded Rectangle 55"/>
          <p:cNvSpPr/>
          <p:nvPr/>
        </p:nvSpPr>
        <p:spPr>
          <a:xfrm>
            <a:off x="9144000" y="2743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2" name="TextBox 56"/>
          <p:cNvSpPr txBox="1"/>
          <p:nvPr/>
        </p:nvSpPr>
        <p:spPr>
          <a:xfrm>
            <a:off x="9277350" y="2667000"/>
            <a:ext cx="215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3.5S 多智能体自协同：计划/编码/测试智能体分工</a:t>
            </a:r>
            <a:endParaRPr/>
          </a:p>
        </p:txBody>
      </p:sp>
      <p:sp>
        <p:nvSpPr>
          <p:cNvPr id="603" name="Rounded Rectangle 57"/>
          <p:cNvSpPr/>
          <p:nvPr/>
        </p:nvSpPr>
        <p:spPr>
          <a:xfrm>
            <a:off x="9144000" y="34480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" name="TextBox 58"/>
          <p:cNvSpPr txBox="1"/>
          <p:nvPr/>
        </p:nvSpPr>
        <p:spPr>
          <a:xfrm>
            <a:off x="9277350" y="3371850"/>
            <a:ext cx="215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SPEC 模式：过程可回溯、任意节点可干预</a:t>
            </a:r>
            <a:endParaRPr/>
          </a:p>
        </p:txBody>
      </p:sp>
      <p:sp>
        <p:nvSpPr>
          <p:cNvPr id="605" name="Rounded Rectangle 59"/>
          <p:cNvSpPr/>
          <p:nvPr/>
        </p:nvSpPr>
        <p:spPr>
          <a:xfrm>
            <a:off x="9144000" y="41529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6" name="TextBox 60"/>
          <p:cNvSpPr txBox="1"/>
          <p:nvPr/>
        </p:nvSpPr>
        <p:spPr>
          <a:xfrm>
            <a:off x="9277350" y="4076700"/>
            <a:ext cx="21526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中文理解行业第一，代码库级 RAG + 安全扫描</a:t>
            </a:r>
            <a:endParaRPr/>
          </a:p>
        </p:txBody>
      </p:sp>
      <p:sp>
        <p:nvSpPr>
          <p:cNvPr id="607" name="Rounded Rectangle 61"/>
          <p:cNvSpPr/>
          <p:nvPr/>
        </p:nvSpPr>
        <p:spPr>
          <a:xfrm>
            <a:off x="9144000" y="4914900"/>
            <a:ext cx="2247900" cy="800100"/>
          </a:xfrm>
          <a:prstGeom prst="roundRect">
            <a:avLst>
              <a:gd name="adj" fmla="val 7142"/>
            </a:avLst>
          </a:prstGeom>
          <a:solidFill>
            <a:srgbClr val="18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8" name="TextBox 62"/>
          <p:cNvSpPr txBox="1"/>
          <p:nvPr/>
        </p:nvSpPr>
        <p:spPr>
          <a:xfrm>
            <a:off x="9258300" y="4972050"/>
            <a:ext cx="2038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37" b="1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适合：</a:t>
            </a:r>
            <a:r>
              <a:rPr sz="937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中文复杂业务、强数据安全企业</a:t>
            </a:r>
            <a:endParaRPr/>
          </a:p>
        </p:txBody>
      </p:sp>
      <p:sp>
        <p:nvSpPr>
          <p:cNvPr id="609" name="TextBox 63"/>
          <p:cNvSpPr txBox="1"/>
          <p:nvPr/>
        </p:nvSpPr>
        <p:spPr>
          <a:xfrm>
            <a:off x="9258300" y="5295900"/>
            <a:ext cx="20383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代价：</a:t>
            </a:r>
            <a:r>
              <a:rPr sz="975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个人端生态与社区活跃度相对较弱</a:t>
            </a:r>
            <a:endParaRPr/>
          </a:p>
        </p:txBody>
      </p:sp>
      <p:sp>
        <p:nvSpPr>
          <p:cNvPr id="610" name="Rounded Rectangle 64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1" name="TextBox 65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格局篇</a:t>
            </a:r>
            <a:endParaRPr/>
          </a:p>
        </p:txBody>
      </p:sp>
      <p:sp>
        <p:nvSpPr>
          <p:cNvPr id="612" name="TextBox 66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08 / 21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bg>
      <p:bgPr>
        <a:solidFill>
          <a:srgbClr val="0F1B2D"/>
        </a:solidFill>
        <a:effectLst/>
      </p:bgPr>
    </p:bg>
    <p:spTree>
      <p:nvGrpSpPr>
        <p:cNvPr id="6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横向对比总表</a:t>
            </a:r>
            <a:endParaRPr/>
          </a:p>
        </p:txBody>
      </p:sp>
      <p:sp>
        <p:nvSpPr>
          <p:cNvPr id="615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6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六个维度一次看全 · 数据截至 2026 年中公开信息</a:t>
            </a:r>
            <a:endParaRPr/>
          </a:p>
        </p:txBody>
      </p:sp>
      <p:sp>
        <p:nvSpPr>
          <p:cNvPr id="617" name="Rounded Rectangle 4"/>
          <p:cNvSpPr/>
          <p:nvPr/>
        </p:nvSpPr>
        <p:spPr>
          <a:xfrm>
            <a:off x="609600" y="1409700"/>
            <a:ext cx="7067550" cy="4552950"/>
          </a:xfrm>
          <a:prstGeom prst="roundRect">
            <a:avLst>
              <a:gd name="adj" fmla="val 2092"/>
            </a:avLst>
          </a:prstGeom>
          <a:solidFill>
            <a:srgbClr val="141F30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18" name="Table 5"/>
          <p:cNvGraphicFramePr>
            <a:graphicFrameLocks noGrp="1"/>
          </p:cNvGraphicFramePr>
          <p:nvPr/>
        </p:nvGraphicFramePr>
        <p:xfrm>
          <a:off x="723900" y="1504950"/>
          <a:ext cx="6838950" cy="430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val="1"/>
                    </a:ext>
                  </a:extLst>
                </a:gridCol>
                <a:gridCol w="1485900">
                  <a:extLst>
                    <a:ext uri="{9D8B030D-6E8A-4147-A177-3AD203B41FA5}">
                      <a16:colId val="2"/>
                    </a:ext>
                  </a:extLst>
                </a:gridCol>
                <a:gridCol w="1409700">
                  <a:extLst>
                    <a:ext uri="{9D8B030D-6E8A-4147-A177-3AD203B41FA5}">
                      <a16:colId val="3"/>
                    </a:ext>
                  </a:extLst>
                </a:gridCol>
                <a:gridCol w="1352550">
                  <a:extLst>
                    <a:ext uri="{9D8B030D-6E8A-4147-A177-3AD203B41FA5}">
                      <a16:colId val="4"/>
                    </a:ext>
                  </a:extLst>
                </a:gridCol>
                <a:gridCol w="1447800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ED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  <a:endParaRPr/>
                    </a:p>
                  </a:txBody>
                  <a:tcPr marL="57150" marR="57150" anchor="ctr">
                    <a:solidFill>
                      <a:srgbClr val="182C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ED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CodeBuddy</a:t>
                      </a:r>
                      <a:endParaRPr/>
                    </a:p>
                  </a:txBody>
                  <a:tcPr marL="57150" marR="57150" anchor="ctr">
                    <a:solidFill>
                      <a:srgbClr val="182C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ED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Qoder</a:t>
                      </a:r>
                      <a:endParaRPr/>
                    </a:p>
                  </a:txBody>
                  <a:tcPr marL="57150" marR="57150" anchor="ctr">
                    <a:solidFill>
                      <a:srgbClr val="182C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ED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Trae</a:t>
                      </a:r>
                      <a:endParaRPr/>
                    </a:p>
                  </a:txBody>
                  <a:tcPr marL="57150" marR="57150" anchor="ctr">
                    <a:solidFill>
                      <a:srgbClr val="182C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E8EDF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文心快码</a:t>
                      </a:r>
                      <a:endParaRPr/>
                    </a:p>
                  </a:txBody>
                  <a:tcPr marL="57150" marR="57150" anchor="ctr">
                    <a:solidFill>
                      <a:srgbClr val="182C4D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012" b="1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  <a:endParaRPr/>
                    </a:p>
                  </a:txBody>
                  <a:tcPr marL="57150" marR="57150" anchor="ctr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插件+IDE+CLI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插件+IDE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 IDE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插件+IDE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012" b="1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核心模型</a:t>
                      </a:r>
                      <a:endParaRPr/>
                    </a:p>
                  </a:txBody>
                  <a:tcPr marL="57150" marR="57150" anchor="ctr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混元+DeepSeek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Qwen3.8-Max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豆包+DeepSeek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文心大模型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012" b="1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智能体模式</a:t>
                      </a:r>
                      <a:endParaRPr/>
                    </a:p>
                  </a:txBody>
                  <a:tcPr marL="57150" marR="57150" anchor="ctr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Craft+SubAgents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工程感知+记忆学习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SOLO 模式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多智能体自协同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012" b="1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生态绑定</a:t>
                      </a:r>
                      <a:endParaRPr/>
                    </a:p>
                  </a:txBody>
                  <a:tcPr marL="57150" marR="57150" anchor="ctr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微信+腾讯云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阿里云+云效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字节系（较轻）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百度智能云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012" b="1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企业能力</a:t>
                      </a:r>
                      <a:endParaRPr/>
                    </a:p>
                  </a:txBody>
                  <a:tcPr marL="57150" marR="57150" anchor="ctr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私有化（VPC 内）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私有化 · 9.9 万/年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暂未推出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1" i="0">
                          <a:solidFill>
                            <a:srgbClr val="35D0B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私有化+RAG+安全扫描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628650">
                <a:tc>
                  <a:txBody>
                    <a:bodyPr wrap="square"/>
                    <a:lstStyle/>
                    <a:p>
                      <a:pPr algn="ctr"/>
                      <a:r>
                        <a:rPr sz="1012" b="1" i="0">
                          <a:solidFill>
                            <a:srgbClr val="C8CE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</a:t>
                      </a:r>
                      <a:endParaRPr/>
                    </a:p>
                  </a:txBody>
                  <a:tcPr marL="57150" marR="57150" anchor="ctr">
                    <a:solidFill>
                      <a:srgbClr val="18243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个人免费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 99/人/月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全免费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12" b="0" i="0">
                          <a:solidFill>
                            <a:srgbClr val="BCC3C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专业版 199/月</a:t>
                      </a:r>
                      <a:endParaRPr/>
                    </a:p>
                  </a:txBody>
                  <a:tcPr marL="57150" marR="57150" anchor="ctr">
                    <a:solidFill>
                      <a:srgbClr val="141F30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619" name="TextBox 6"/>
          <p:cNvSpPr txBox="1"/>
          <p:nvPr/>
        </p:nvSpPr>
        <p:spPr>
          <a:xfrm>
            <a:off x="7905750" y="1447800"/>
            <a:ext cx="36766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先看“形态”再看“跑分”：有没有 CLI 决定了它能否进你的 CI/CD 和自动化流水线——这是跑分榜不会告诉你的事。</a:t>
            </a:r>
            <a:endParaRPr/>
          </a:p>
        </p:txBody>
      </p:sp>
      <p:sp>
        <p:nvSpPr>
          <p:cNvPr id="620" name="Rectangle 7"/>
          <p:cNvSpPr/>
          <p:nvPr/>
        </p:nvSpPr>
        <p:spPr>
          <a:xfrm>
            <a:off x="7905750" y="2857500"/>
            <a:ext cx="38100" cy="9906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1" name="TextBox 8"/>
          <p:cNvSpPr txBox="1"/>
          <p:nvPr/>
        </p:nvSpPr>
        <p:spPr>
          <a:xfrm>
            <a:off x="8077200" y="2857500"/>
            <a:ext cx="35052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生态绑定是双刃剑：绑得深，日常集成省力；但换云、换办公套件时迁移成本也高。</a:t>
            </a:r>
            <a:endParaRPr/>
          </a:p>
        </p:txBody>
      </p:sp>
      <p:sp>
        <p:nvSpPr>
          <p:cNvPr id="622" name="Rounded Rectangle 9"/>
          <p:cNvSpPr/>
          <p:nvPr/>
        </p:nvSpPr>
        <p:spPr>
          <a:xfrm>
            <a:off x="7905750" y="4476750"/>
            <a:ext cx="3676650" cy="1485900"/>
          </a:xfrm>
          <a:prstGeom prst="roundRect">
            <a:avLst>
              <a:gd name="adj" fmla="val 6410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3" name="Rounded Rectangle 10"/>
          <p:cNvSpPr/>
          <p:nvPr/>
        </p:nvSpPr>
        <p:spPr>
          <a:xfrm>
            <a:off x="8134350" y="4667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4" name="TextBox 11"/>
          <p:cNvSpPr txBox="1"/>
          <p:nvPr/>
        </p:nvSpPr>
        <p:spPr>
          <a:xfrm>
            <a:off x="8324850" y="4610100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  <a:endParaRPr/>
          </a:p>
        </p:txBody>
      </p:sp>
      <p:sp>
        <p:nvSpPr>
          <p:cNvPr id="625" name="TextBox 12"/>
          <p:cNvSpPr txBox="1"/>
          <p:nvPr/>
        </p:nvSpPr>
        <p:spPr>
          <a:xfrm>
            <a:off x="8134350" y="4895850"/>
            <a:ext cx="3219450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75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跑分是必要条件而非充分条件：SWE-bench 72.3% 只说明“能做对题”，能不能做对你的题，要靠下一页的 PoC。</a:t>
            </a:r>
            <a:endParaRPr/>
          </a:p>
        </p:txBody>
      </p:sp>
      <p:sp>
        <p:nvSpPr>
          <p:cNvPr id="626" name="Rounded Rectangle 13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TextBox 14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格局篇</a:t>
            </a:r>
            <a:endParaRPr/>
          </a:p>
        </p:txBody>
      </p:sp>
      <p:sp>
        <p:nvSpPr>
          <p:cNvPr id="628" name="TextBox 15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09 / 21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选型决策：按生态位匹配，不按跑分</a:t>
            </a:r>
            <a:endParaRPr/>
          </a:p>
        </p:txBody>
      </p:sp>
      <p:sp>
        <p:nvSpPr>
          <p:cNvPr id="16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四个入口，对应四种真实处境——先定位自己在哪条岔路上</a:t>
            </a:r>
            <a:endParaRPr/>
          </a:p>
        </p:txBody>
      </p:sp>
      <p:sp>
        <p:nvSpPr>
          <p:cNvPr id="18" name="Rounded Rectangle 4"/>
          <p:cNvSpPr/>
          <p:nvPr/>
        </p:nvSpPr>
        <p:spPr>
          <a:xfrm>
            <a:off x="609600" y="1962150"/>
            <a:ext cx="1428750" cy="704850"/>
          </a:xfrm>
          <a:prstGeom prst="roundRect">
            <a:avLst>
              <a:gd name="adj" fmla="val 13513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5"/>
          <p:cNvSpPr txBox="1"/>
          <p:nvPr/>
        </p:nvSpPr>
        <p:spPr>
          <a:xfrm>
            <a:off x="609600" y="2114550"/>
            <a:ext cx="1428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你的场景</a:t>
            </a:r>
            <a:endParaRPr/>
          </a:p>
        </p:txBody>
      </p:sp>
      <p:sp>
        <p:nvSpPr>
          <p:cNvPr id="20" name="TextBox 6"/>
          <p:cNvSpPr txBox="1"/>
          <p:nvPr/>
        </p:nvSpPr>
        <p:spPr>
          <a:xfrm>
            <a:off x="609600" y="2400300"/>
            <a:ext cx="1428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A94A6"/>
                </a:solidFill>
                <a:latin typeface="Consolas"/>
                <a:ea typeface="Consolas"/>
                <a:cs typeface="Consolas"/>
              </a:rPr>
              <a:t>START HERE</a:t>
            </a:r>
            <a:endParaRPr/>
          </a:p>
        </p:txBody>
      </p:sp>
      <p:cxnSp>
        <p:nvCxnSpPr>
          <p:cNvPr id="21" name="Connector 7"/>
          <p:cNvCxnSpPr/>
          <p:nvPr/>
        </p:nvCxnSpPr>
        <p:spPr>
          <a:xfrm flipV="1">
            <a:off x="2038350" y="1762125"/>
            <a:ext cx="2381250" cy="552450"/>
          </a:xfrm>
          <a:prstGeom prst="line">
            <a:avLst/>
          </a:prstGeom>
          <a:ln w="22225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8"/>
          <p:cNvSpPr/>
          <p:nvPr/>
        </p:nvSpPr>
        <p:spPr>
          <a:xfrm>
            <a:off x="4419600" y="1504950"/>
            <a:ext cx="7162800" cy="514350"/>
          </a:xfrm>
          <a:prstGeom prst="roundRect">
            <a:avLst>
              <a:gd name="adj" fmla="val 16666"/>
            </a:avLst>
          </a:prstGeom>
          <a:solidFill>
            <a:srgbClr val="1C2839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9"/>
          <p:cNvSpPr txBox="1"/>
          <p:nvPr/>
        </p:nvSpPr>
        <p:spPr>
          <a:xfrm>
            <a:off x="4648200" y="157162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微信 / 小程序 / 企微生态</a:t>
            </a:r>
            <a:endParaRPr/>
          </a:p>
        </p:txBody>
      </p:sp>
      <p:sp>
        <p:nvSpPr>
          <p:cNvPr id="24" name="TextBox 10"/>
          <p:cNvSpPr txBox="1"/>
          <p:nvPr/>
        </p:nvSpPr>
        <p:spPr>
          <a:xfrm>
            <a:off x="4648200" y="1800225"/>
            <a:ext cx="6762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做微信端产品 → 腾讯 CodeBuddy：文档、组件库、云开发原生打通</a:t>
            </a:r>
            <a:endParaRPr/>
          </a:p>
        </p:txBody>
      </p:sp>
      <p:cxnSp>
        <p:nvCxnSpPr>
          <p:cNvPr id="25" name="Connector 11"/>
          <p:cNvCxnSpPr/>
          <p:nvPr/>
        </p:nvCxnSpPr>
        <p:spPr>
          <a:xfrm>
            <a:off x="2038350" y="2314575"/>
            <a:ext cx="2381250" cy="95250"/>
          </a:xfrm>
          <a:prstGeom prst="line">
            <a:avLst/>
          </a:prstGeom>
          <a:ln w="22225">
            <a:solidFill>
              <a:srgbClr val="4C8D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12"/>
          <p:cNvSpPr/>
          <p:nvPr/>
        </p:nvSpPr>
        <p:spPr>
          <a:xfrm>
            <a:off x="4419600" y="2152650"/>
            <a:ext cx="7162800" cy="514350"/>
          </a:xfrm>
          <a:prstGeom prst="roundRect">
            <a:avLst>
              <a:gd name="adj" fmla="val 16666"/>
            </a:avLst>
          </a:prstGeom>
          <a:solidFill>
            <a:srgbClr val="1C2839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3"/>
          <p:cNvSpPr txBox="1"/>
          <p:nvPr/>
        </p:nvSpPr>
        <p:spPr>
          <a:xfrm>
            <a:off x="4648200" y="221932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阿里云栈 / 金融政务高合规</a:t>
            </a:r>
            <a:endParaRPr/>
          </a:p>
        </p:txBody>
      </p:sp>
      <p:sp>
        <p:nvSpPr>
          <p:cNvPr id="28" name="TextBox 14"/>
          <p:cNvSpPr txBox="1"/>
          <p:nvPr/>
        </p:nvSpPr>
        <p:spPr>
          <a:xfrm>
            <a:off x="4648200" y="2447925"/>
            <a:ext cx="6762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要私有化与长上下文 → 阿里 Qoder：企业版私有化，100 万上下文</a:t>
            </a:r>
            <a:endParaRPr/>
          </a:p>
        </p:txBody>
      </p:sp>
      <p:cxnSp>
        <p:nvCxnSpPr>
          <p:cNvPr id="29" name="Connector 15"/>
          <p:cNvCxnSpPr/>
          <p:nvPr/>
        </p:nvCxnSpPr>
        <p:spPr>
          <a:xfrm>
            <a:off x="2038350" y="2314575"/>
            <a:ext cx="2381250" cy="742950"/>
          </a:xfrm>
          <a:prstGeom prst="line">
            <a:avLst/>
          </a:prstGeom>
          <a:ln w="22225">
            <a:solidFill>
              <a:srgbClr val="4C8D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16"/>
          <p:cNvSpPr/>
          <p:nvPr/>
        </p:nvSpPr>
        <p:spPr>
          <a:xfrm>
            <a:off x="4419600" y="2800350"/>
            <a:ext cx="7162800" cy="514350"/>
          </a:xfrm>
          <a:prstGeom prst="roundRect">
            <a:avLst>
              <a:gd name="adj" fmla="val 16666"/>
            </a:avLst>
          </a:prstGeom>
          <a:solidFill>
            <a:srgbClr val="1C2839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7"/>
          <p:cNvSpPr txBox="1"/>
          <p:nvPr/>
        </p:nvSpPr>
        <p:spPr>
          <a:xfrm>
            <a:off x="4648200" y="286702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个人学习 / 学生 / 快速 MVP</a:t>
            </a:r>
            <a:endParaRPr/>
          </a:p>
        </p:txBody>
      </p:sp>
      <p:sp>
        <p:nvSpPr>
          <p:cNvPr id="32" name="TextBox 18"/>
          <p:cNvSpPr txBox="1"/>
          <p:nvPr/>
        </p:nvSpPr>
        <p:spPr>
          <a:xfrm>
            <a:off x="4648200" y="3095625"/>
            <a:ext cx="6762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零成本起步 → 字节 Trae：全免费、国内直连、SOLO 一句话出项目</a:t>
            </a:r>
            <a:endParaRPr/>
          </a:p>
        </p:txBody>
      </p:sp>
      <p:cxnSp>
        <p:nvCxnSpPr>
          <p:cNvPr id="33" name="Connector 19"/>
          <p:cNvCxnSpPr/>
          <p:nvPr/>
        </p:nvCxnSpPr>
        <p:spPr>
          <a:xfrm>
            <a:off x="2038350" y="2314575"/>
            <a:ext cx="2381250" cy="1390650"/>
          </a:xfrm>
          <a:prstGeom prst="line">
            <a:avLst/>
          </a:prstGeom>
          <a:ln w="22225">
            <a:solidFill>
              <a:srgbClr val="4C8D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20"/>
          <p:cNvSpPr/>
          <p:nvPr/>
        </p:nvSpPr>
        <p:spPr>
          <a:xfrm>
            <a:off x="4419600" y="3448050"/>
            <a:ext cx="7162800" cy="514350"/>
          </a:xfrm>
          <a:prstGeom prst="roundRect">
            <a:avLst>
              <a:gd name="adj" fmla="val 16666"/>
            </a:avLst>
          </a:prstGeom>
          <a:solidFill>
            <a:srgbClr val="1C2839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21"/>
          <p:cNvSpPr txBox="1"/>
          <p:nvPr/>
        </p:nvSpPr>
        <p:spPr>
          <a:xfrm>
            <a:off x="4648200" y="351472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中文复杂业务 / 强数据安全</a:t>
            </a:r>
            <a:endParaRPr/>
          </a:p>
        </p:txBody>
      </p:sp>
      <p:sp>
        <p:nvSpPr>
          <p:cNvPr id="36" name="TextBox 22"/>
          <p:cNvSpPr txBox="1"/>
          <p:nvPr/>
        </p:nvSpPr>
        <p:spPr>
          <a:xfrm>
            <a:off x="4648200" y="3743325"/>
            <a:ext cx="6762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要过程可回溯 → 百度文心快码：SPEC 模式 + 代码库级 RAG + 安全扫描</a:t>
            </a:r>
            <a:endParaRPr/>
          </a:p>
        </p:txBody>
      </p:sp>
      <p:sp>
        <p:nvSpPr>
          <p:cNvPr id="37" name="Rounded Rectangle 23"/>
          <p:cNvSpPr/>
          <p:nvPr/>
        </p:nvSpPr>
        <p:spPr>
          <a:xfrm>
            <a:off x="609600" y="4210050"/>
            <a:ext cx="10972800" cy="1695450"/>
          </a:xfrm>
          <a:prstGeom prst="roundRect">
            <a:avLst>
              <a:gd name="adj" fmla="val 6741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24"/>
          <p:cNvSpPr txBox="1"/>
          <p:nvPr/>
        </p:nvSpPr>
        <p:spPr>
          <a:xfrm>
            <a:off x="876300" y="43624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选型三原则</a:t>
            </a:r>
            <a:endParaRPr/>
          </a:p>
        </p:txBody>
      </p:sp>
      <p:sp>
        <p:nvSpPr>
          <p:cNvPr id="39" name="TextBox 25"/>
          <p:cNvSpPr txBox="1"/>
          <p:nvPr/>
        </p:nvSpPr>
        <p:spPr>
          <a:xfrm>
            <a:off x="876300" y="4724400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</a:t>
            </a:r>
            <a:endParaRPr/>
          </a:p>
        </p:txBody>
      </p:sp>
      <p:sp>
        <p:nvSpPr>
          <p:cNvPr id="40" name="TextBox 26"/>
          <p:cNvSpPr txBox="1"/>
          <p:nvPr/>
        </p:nvSpPr>
        <p:spPr>
          <a:xfrm>
            <a:off x="1371600" y="470535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生态优先</a:t>
            </a:r>
            <a:endParaRPr/>
          </a:p>
        </p:txBody>
      </p:sp>
      <p:sp>
        <p:nvSpPr>
          <p:cNvPr id="41" name="TextBox 27"/>
          <p:cNvSpPr txBox="1"/>
          <p:nvPr/>
        </p:nvSpPr>
        <p:spPr>
          <a:xfrm>
            <a:off x="1371600" y="4991100"/>
            <a:ext cx="28575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你在哪个云、哪个办公套件里，就优先看谁——集成成本比功能差距更真实。</a:t>
            </a:r>
            <a:endParaRPr/>
          </a:p>
        </p:txBody>
      </p:sp>
      <p:sp>
        <p:nvSpPr>
          <p:cNvPr id="42" name="Rectangle 28"/>
          <p:cNvSpPr/>
          <p:nvPr/>
        </p:nvSpPr>
        <p:spPr>
          <a:xfrm>
            <a:off x="4267200" y="4762500"/>
            <a:ext cx="9525" cy="914400"/>
          </a:xfrm>
          <a:prstGeom prst="rect">
            <a:avLst/>
          </a:prstGeom>
          <a:solidFill>
            <a:srgbClr val="29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29"/>
          <p:cNvSpPr txBox="1"/>
          <p:nvPr/>
        </p:nvSpPr>
        <p:spPr>
          <a:xfrm>
            <a:off x="4495800" y="4724400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</a:t>
            </a:r>
            <a:endParaRPr/>
          </a:p>
        </p:txBody>
      </p:sp>
      <p:sp>
        <p:nvSpPr>
          <p:cNvPr id="44" name="TextBox 30"/>
          <p:cNvSpPr txBox="1"/>
          <p:nvPr/>
        </p:nvSpPr>
        <p:spPr>
          <a:xfrm>
            <a:off x="4991100" y="470535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形态次之</a:t>
            </a:r>
            <a:endParaRPr/>
          </a:p>
        </p:txBody>
      </p:sp>
      <p:sp>
        <p:nvSpPr>
          <p:cNvPr id="45" name="TextBox 31"/>
          <p:cNvSpPr txBox="1"/>
          <p:nvPr/>
        </p:nvSpPr>
        <p:spPr>
          <a:xfrm>
            <a:off x="4991100" y="4991100"/>
            <a:ext cx="28575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插件、独立 IDE 还是 CLI？决定的是工作流，而工作流决定习惯能否留存。</a:t>
            </a:r>
            <a:endParaRPr/>
          </a:p>
        </p:txBody>
      </p:sp>
      <p:sp>
        <p:nvSpPr>
          <p:cNvPr id="46" name="Rectangle 32"/>
          <p:cNvSpPr/>
          <p:nvPr/>
        </p:nvSpPr>
        <p:spPr>
          <a:xfrm>
            <a:off x="7886700" y="4762500"/>
            <a:ext cx="9525" cy="914400"/>
          </a:xfrm>
          <a:prstGeom prst="rect">
            <a:avLst/>
          </a:prstGeom>
          <a:solidFill>
            <a:srgbClr val="293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33"/>
          <p:cNvSpPr txBox="1"/>
          <p:nvPr/>
        </p:nvSpPr>
        <p:spPr>
          <a:xfrm>
            <a:off x="8115300" y="4724400"/>
            <a:ext cx="4191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3</a:t>
            </a:r>
            <a:endParaRPr/>
          </a:p>
        </p:txBody>
      </p:sp>
      <p:sp>
        <p:nvSpPr>
          <p:cNvPr id="48" name="TextBox 34"/>
          <p:cNvSpPr txBox="1"/>
          <p:nvPr/>
        </p:nvSpPr>
        <p:spPr>
          <a:xfrm>
            <a:off x="8610600" y="4705350"/>
            <a:ext cx="2857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PoC 定案</a:t>
            </a:r>
            <a:endParaRPr/>
          </a:p>
        </p:txBody>
      </p:sp>
      <p:sp>
        <p:nvSpPr>
          <p:cNvPr id="49" name="TextBox 35"/>
          <p:cNvSpPr txBox="1"/>
          <p:nvPr/>
        </p:nvSpPr>
        <p:spPr>
          <a:xfrm>
            <a:off x="8610600" y="4991100"/>
            <a:ext cx="28575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拿自己最复杂的三个真实任务跑两周，采纳率和返工率自己说话。</a:t>
            </a:r>
            <a:endParaRPr/>
          </a:p>
        </p:txBody>
      </p:sp>
      <p:sp>
        <p:nvSpPr>
          <p:cNvPr id="50" name="Rounded Rectangle 36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37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格局篇</a:t>
            </a:r>
            <a:endParaRPr/>
          </a:p>
        </p:txBody>
      </p:sp>
      <p:sp>
        <p:nvSpPr>
          <p:cNvPr id="52" name="TextBox 38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10 / 21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1" descr="p_ch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5" name="TextBox 2"/>
          <p:cNvSpPr txBox="1"/>
          <p:nvPr/>
        </p:nvSpPr>
        <p:spPr>
          <a:xfrm>
            <a:off x="8382000" y="-285750"/>
            <a:ext cx="3810000" cy="323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500" b="1" i="0">
                <a:solidFill>
                  <a:srgbClr val="1A2638"/>
                </a:solidFill>
                <a:latin typeface="Consolas"/>
                <a:ea typeface="Consolas"/>
                <a:cs typeface="Consolas"/>
              </a:rPr>
              <a:t>03</a:t>
            </a:r>
            <a:endParaRPr/>
          </a:p>
        </p:txBody>
      </p:sp>
      <p:sp>
        <p:nvSpPr>
          <p:cNvPr id="56" name="TextBox 3"/>
          <p:cNvSpPr txBox="1"/>
          <p:nvPr/>
        </p:nvSpPr>
        <p:spPr>
          <a:xfrm>
            <a:off x="609600" y="20002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spc="40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CHAPTER 03</a:t>
            </a:r>
            <a:endParaRPr/>
          </a:p>
        </p:txBody>
      </p:sp>
      <p:sp>
        <p:nvSpPr>
          <p:cNvPr id="57" name="Rectangle 4"/>
          <p:cNvSpPr/>
          <p:nvPr/>
        </p:nvSpPr>
        <p:spPr>
          <a:xfrm>
            <a:off x="2381250" y="2152650"/>
            <a:ext cx="6858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"/>
          <p:cNvSpPr txBox="1"/>
          <p:nvPr/>
        </p:nvSpPr>
        <p:spPr>
          <a:xfrm>
            <a:off x="609600" y="2381250"/>
            <a:ext cx="6667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 spc="20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实践篇</a:t>
            </a:r>
            <a:endParaRPr/>
          </a:p>
        </p:txBody>
      </p:sp>
      <p:sp>
        <p:nvSpPr>
          <p:cNvPr id="59" name="TextBox 6"/>
          <p:cNvSpPr txBox="1"/>
          <p:nvPr/>
        </p:nvSpPr>
        <p:spPr>
          <a:xfrm>
            <a:off x="609600" y="3390900"/>
            <a:ext cx="666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把默契写进仓库，而不是每次重讲</a:t>
            </a:r>
            <a:endParaRPr/>
          </a:p>
        </p:txBody>
      </p:sp>
      <p:sp>
        <p:nvSpPr>
          <p:cNvPr id="60" name="TextBox 7"/>
          <p:cNvSpPr txBox="1"/>
          <p:nvPr/>
        </p:nvSpPr>
        <p:spPr>
          <a:xfrm>
            <a:off x="609600" y="3962400"/>
            <a:ext cx="5905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上下文工程、规则文件、任务简报、增量循环、自主度分级、安全护栏——本章是全课重点，也是你带得走的部分。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上下文工程：六层放对位置</a:t>
            </a:r>
            <a:endParaRPr/>
          </a:p>
        </p:txBody>
      </p:sp>
      <p:sp>
        <p:nvSpPr>
          <p:cNvPr id="63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Agent 变笨的头号原因：什么都往提示词里塞</a:t>
            </a:r>
            <a:endParaRPr/>
          </a:p>
        </p:txBody>
      </p:sp>
      <p:sp>
        <p:nvSpPr>
          <p:cNvPr id="65" name="Rounded Rectangle 4"/>
          <p:cNvSpPr/>
          <p:nvPr/>
        </p:nvSpPr>
        <p:spPr>
          <a:xfrm>
            <a:off x="609600" y="1447800"/>
            <a:ext cx="6667500" cy="666750"/>
          </a:xfrm>
          <a:prstGeom prst="roundRect">
            <a:avLst>
              <a:gd name="adj" fmla="val 1285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5"/>
          <p:cNvSpPr txBox="1"/>
          <p:nvPr/>
        </p:nvSpPr>
        <p:spPr>
          <a:xfrm>
            <a:off x="800100" y="163830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L1</a:t>
            </a:r>
            <a:endParaRPr/>
          </a:p>
        </p:txBody>
      </p:sp>
      <p:sp>
        <p:nvSpPr>
          <p:cNvPr id="67" name="TextBox 6"/>
          <p:cNvSpPr txBox="1"/>
          <p:nvPr/>
        </p:nvSpPr>
        <p:spPr>
          <a:xfrm>
            <a:off x="1409700" y="1657350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任务契约 Prompt</a:t>
            </a:r>
            <a:endParaRPr/>
          </a:p>
        </p:txBody>
      </p:sp>
      <p:sp>
        <p:nvSpPr>
          <p:cNvPr id="68" name="TextBox 7"/>
          <p:cNvSpPr txBox="1"/>
          <p:nvPr/>
        </p:nvSpPr>
        <p:spPr>
          <a:xfrm>
            <a:off x="3486150" y="1562100"/>
            <a:ext cx="36195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只放四要素：目标、上下文指针、约束、完成标准</a:t>
            </a:r>
            <a:endParaRPr/>
          </a:p>
        </p:txBody>
      </p:sp>
      <p:sp>
        <p:nvSpPr>
          <p:cNvPr id="69" name="Rounded Rectangle 8"/>
          <p:cNvSpPr/>
          <p:nvPr/>
        </p:nvSpPr>
        <p:spPr>
          <a:xfrm>
            <a:off x="609600" y="2209800"/>
            <a:ext cx="6200775" cy="666750"/>
          </a:xfrm>
          <a:prstGeom prst="roundRect">
            <a:avLst>
              <a:gd name="adj" fmla="val 1285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9"/>
          <p:cNvSpPr txBox="1"/>
          <p:nvPr/>
        </p:nvSpPr>
        <p:spPr>
          <a:xfrm>
            <a:off x="800100" y="240030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L2</a:t>
            </a:r>
            <a:endParaRPr/>
          </a:p>
        </p:txBody>
      </p:sp>
      <p:sp>
        <p:nvSpPr>
          <p:cNvPr id="71" name="TextBox 10"/>
          <p:cNvSpPr txBox="1"/>
          <p:nvPr/>
        </p:nvSpPr>
        <p:spPr>
          <a:xfrm>
            <a:off x="1409700" y="2419350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规则文件 AGENTS.md</a:t>
            </a:r>
            <a:endParaRPr/>
          </a:p>
        </p:txBody>
      </p:sp>
      <p:sp>
        <p:nvSpPr>
          <p:cNvPr id="72" name="TextBox 11"/>
          <p:cNvSpPr txBox="1"/>
          <p:nvPr/>
        </p:nvSpPr>
        <p:spPr>
          <a:xfrm>
            <a:off x="3486150" y="2324100"/>
            <a:ext cx="315277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架构、命令、约定、边界——写一次，永久生效</a:t>
            </a:r>
            <a:endParaRPr/>
          </a:p>
        </p:txBody>
      </p:sp>
      <p:sp>
        <p:nvSpPr>
          <p:cNvPr id="73" name="Rounded Rectangle 12"/>
          <p:cNvSpPr/>
          <p:nvPr/>
        </p:nvSpPr>
        <p:spPr>
          <a:xfrm>
            <a:off x="609600" y="2971800"/>
            <a:ext cx="5734050" cy="666750"/>
          </a:xfrm>
          <a:prstGeom prst="roundRect">
            <a:avLst>
              <a:gd name="adj" fmla="val 1285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13"/>
          <p:cNvSpPr txBox="1"/>
          <p:nvPr/>
        </p:nvSpPr>
        <p:spPr>
          <a:xfrm>
            <a:off x="800100" y="316230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L3</a:t>
            </a:r>
            <a:endParaRPr/>
          </a:p>
        </p:txBody>
      </p:sp>
      <p:sp>
        <p:nvSpPr>
          <p:cNvPr id="75" name="TextBox 14"/>
          <p:cNvSpPr txBox="1"/>
          <p:nvPr/>
        </p:nvSpPr>
        <p:spPr>
          <a:xfrm>
            <a:off x="1409700" y="3181350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Skills 可复用工作流</a:t>
            </a:r>
            <a:endParaRPr/>
          </a:p>
        </p:txBody>
      </p:sp>
      <p:sp>
        <p:nvSpPr>
          <p:cNvPr id="76" name="TextBox 15"/>
          <p:cNvSpPr txBox="1"/>
          <p:nvPr/>
        </p:nvSpPr>
        <p:spPr>
          <a:xfrm>
            <a:off x="3486150" y="3086100"/>
            <a:ext cx="268605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重复 3 次以上的多步流程，封装成技能</a:t>
            </a:r>
            <a:endParaRPr/>
          </a:p>
        </p:txBody>
      </p:sp>
      <p:sp>
        <p:nvSpPr>
          <p:cNvPr id="77" name="Rounded Rectangle 16"/>
          <p:cNvSpPr/>
          <p:nvPr/>
        </p:nvSpPr>
        <p:spPr>
          <a:xfrm>
            <a:off x="609600" y="3733800"/>
            <a:ext cx="5267325" cy="666750"/>
          </a:xfrm>
          <a:prstGeom prst="roundRect">
            <a:avLst>
              <a:gd name="adj" fmla="val 1285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17"/>
          <p:cNvSpPr txBox="1"/>
          <p:nvPr/>
        </p:nvSpPr>
        <p:spPr>
          <a:xfrm>
            <a:off x="800100" y="392430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L4</a:t>
            </a:r>
            <a:endParaRPr/>
          </a:p>
        </p:txBody>
      </p:sp>
      <p:sp>
        <p:nvSpPr>
          <p:cNvPr id="79" name="TextBox 18"/>
          <p:cNvSpPr txBox="1"/>
          <p:nvPr/>
        </p:nvSpPr>
        <p:spPr>
          <a:xfrm>
            <a:off x="1409700" y="3943350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MCP 外部工具</a:t>
            </a:r>
            <a:endParaRPr/>
          </a:p>
        </p:txBody>
      </p:sp>
      <p:sp>
        <p:nvSpPr>
          <p:cNvPr id="80" name="TextBox 19"/>
          <p:cNvSpPr txBox="1"/>
          <p:nvPr/>
        </p:nvSpPr>
        <p:spPr>
          <a:xfrm>
            <a:off x="3486150" y="3848100"/>
            <a:ext cx="221932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日志、数据库、云服务——按需接入，控权限</a:t>
            </a:r>
            <a:endParaRPr/>
          </a:p>
        </p:txBody>
      </p:sp>
      <p:sp>
        <p:nvSpPr>
          <p:cNvPr id="81" name="Rounded Rectangle 20"/>
          <p:cNvSpPr/>
          <p:nvPr/>
        </p:nvSpPr>
        <p:spPr>
          <a:xfrm>
            <a:off x="609600" y="4495800"/>
            <a:ext cx="4800600" cy="666750"/>
          </a:xfrm>
          <a:prstGeom prst="roundRect">
            <a:avLst>
              <a:gd name="adj" fmla="val 1285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21"/>
          <p:cNvSpPr txBox="1"/>
          <p:nvPr/>
        </p:nvSpPr>
        <p:spPr>
          <a:xfrm>
            <a:off x="800100" y="468630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L5</a:t>
            </a:r>
            <a:endParaRPr/>
          </a:p>
        </p:txBody>
      </p:sp>
      <p:sp>
        <p:nvSpPr>
          <p:cNvPr id="83" name="TextBox 22"/>
          <p:cNvSpPr txBox="1"/>
          <p:nvPr/>
        </p:nvSpPr>
        <p:spPr>
          <a:xfrm>
            <a:off x="1409700" y="4705350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Subagents 子智能体</a:t>
            </a:r>
            <a:endParaRPr/>
          </a:p>
        </p:txBody>
      </p:sp>
      <p:sp>
        <p:nvSpPr>
          <p:cNvPr id="84" name="TextBox 23"/>
          <p:cNvSpPr txBox="1"/>
          <p:nvPr/>
        </p:nvSpPr>
        <p:spPr>
          <a:xfrm>
            <a:off x="3486150" y="4610100"/>
            <a:ext cx="1752600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独立上下文的分身，隔离噪音、并行干活</a:t>
            </a:r>
            <a:endParaRPr/>
          </a:p>
        </p:txBody>
      </p:sp>
      <p:sp>
        <p:nvSpPr>
          <p:cNvPr id="85" name="Rounded Rectangle 24"/>
          <p:cNvSpPr/>
          <p:nvPr/>
        </p:nvSpPr>
        <p:spPr>
          <a:xfrm>
            <a:off x="609600" y="5257800"/>
            <a:ext cx="4333875" cy="666750"/>
          </a:xfrm>
          <a:prstGeom prst="roundRect">
            <a:avLst>
              <a:gd name="adj" fmla="val 1285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25"/>
          <p:cNvSpPr txBox="1"/>
          <p:nvPr/>
        </p:nvSpPr>
        <p:spPr>
          <a:xfrm>
            <a:off x="800100" y="544830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L6</a:t>
            </a:r>
            <a:endParaRPr/>
          </a:p>
        </p:txBody>
      </p:sp>
      <p:sp>
        <p:nvSpPr>
          <p:cNvPr id="87" name="TextBox 26"/>
          <p:cNvSpPr txBox="1"/>
          <p:nvPr/>
        </p:nvSpPr>
        <p:spPr>
          <a:xfrm>
            <a:off x="1409700" y="5467350"/>
            <a:ext cx="2000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Artifacts 产物沉淀</a:t>
            </a:r>
            <a:endParaRPr/>
          </a:p>
        </p:txBody>
      </p:sp>
      <p:sp>
        <p:nvSpPr>
          <p:cNvPr id="88" name="TextBox 27"/>
          <p:cNvSpPr txBox="1"/>
          <p:nvPr/>
        </p:nvSpPr>
        <p:spPr>
          <a:xfrm>
            <a:off x="3486150" y="5372100"/>
            <a:ext cx="1285875" cy="4762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生成的代码、文档、报告——沉淀回仓库</a:t>
            </a:r>
            <a:endParaRPr/>
          </a:p>
        </p:txBody>
      </p:sp>
      <p:sp>
        <p:nvSpPr>
          <p:cNvPr id="89" name="TextBox 28"/>
          <p:cNvSpPr txBox="1"/>
          <p:nvPr/>
        </p:nvSpPr>
        <p:spPr>
          <a:xfrm>
            <a:off x="7696200" y="1447800"/>
            <a:ext cx="3886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25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六层是一个分流漏斗：静态、稳定的信息往下沉（规则、技能、工具），动态、一次性的信息往上浮（本次任务的契约）。</a:t>
            </a:r>
            <a:endParaRPr/>
          </a:p>
        </p:txBody>
      </p:sp>
      <p:sp>
        <p:nvSpPr>
          <p:cNvPr id="90" name="TextBox 29"/>
          <p:cNvSpPr txBox="1"/>
          <p:nvPr/>
        </p:nvSpPr>
        <p:spPr>
          <a:xfrm>
            <a:off x="7696200" y="2781300"/>
            <a:ext cx="38862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判断一条信息放哪一层的标准很简单——</a:t>
            </a:r>
            <a:r>
              <a:rPr sz="127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换个任务它还有用吗？</a:t>
            </a:r>
            <a:r>
              <a:rPr sz="1275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有用就沉下去，没用就留在 L1。</a:t>
            </a:r>
            <a:endParaRPr/>
          </a:p>
        </p:txBody>
      </p:sp>
      <p:sp>
        <p:nvSpPr>
          <p:cNvPr id="91" name="Rounded Rectangle 30"/>
          <p:cNvSpPr/>
          <p:nvPr/>
        </p:nvSpPr>
        <p:spPr>
          <a:xfrm>
            <a:off x="7696200" y="4476750"/>
            <a:ext cx="3886200" cy="1524000"/>
          </a:xfrm>
          <a:prstGeom prst="roundRect">
            <a:avLst>
              <a:gd name="adj" fmla="val 6250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31"/>
          <p:cNvSpPr/>
          <p:nvPr/>
        </p:nvSpPr>
        <p:spPr>
          <a:xfrm>
            <a:off x="7924800" y="4667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32"/>
          <p:cNvSpPr txBox="1"/>
          <p:nvPr/>
        </p:nvSpPr>
        <p:spPr>
          <a:xfrm>
            <a:off x="8115300" y="4610100"/>
            <a:ext cx="1143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  <a:endParaRPr/>
          </a:p>
        </p:txBody>
      </p:sp>
      <p:sp>
        <p:nvSpPr>
          <p:cNvPr id="94" name="TextBox 33"/>
          <p:cNvSpPr txBox="1"/>
          <p:nvPr/>
        </p:nvSpPr>
        <p:spPr>
          <a:xfrm>
            <a:off x="7924800" y="4895850"/>
            <a:ext cx="34290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12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上下文不是越多越好：无关信息会稀释关键规则。主线程越干净，Agent 越聪明。</a:t>
            </a:r>
            <a:endParaRPr/>
          </a:p>
        </p:txBody>
      </p:sp>
      <p:sp>
        <p:nvSpPr>
          <p:cNvPr id="95" name="Rounded Rectangle 34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35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实践篇</a:t>
            </a:r>
            <a:endParaRPr/>
          </a:p>
        </p:txBody>
      </p:sp>
      <p:sp>
        <p:nvSpPr>
          <p:cNvPr id="97" name="TextBox 36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12 / 21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规则文件：AGENTS.md 怎么写</a:t>
            </a:r>
            <a:endParaRPr/>
          </a:p>
        </p:txBody>
      </p:sp>
      <p:sp>
        <p:nvSpPr>
          <p:cNvPr id="100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60,000+ 仓库采用、30+ 工具原生读取 · 已由 Linux 基金会托管维护</a:t>
            </a:r>
            <a:endParaRPr/>
          </a:p>
        </p:txBody>
      </p:sp>
      <p:sp>
        <p:nvSpPr>
          <p:cNvPr id="102" name="Rounded Rectangle 4"/>
          <p:cNvSpPr/>
          <p:nvPr/>
        </p:nvSpPr>
        <p:spPr>
          <a:xfrm>
            <a:off x="609600" y="1409700"/>
            <a:ext cx="6362700" cy="4476750"/>
          </a:xfrm>
          <a:prstGeom prst="roundRect">
            <a:avLst>
              <a:gd name="adj" fmla="val 2127"/>
            </a:avLst>
          </a:prstGeom>
          <a:solidFill>
            <a:srgbClr val="0C1626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5"/>
          <p:cNvSpPr/>
          <p:nvPr/>
        </p:nvSpPr>
        <p:spPr>
          <a:xfrm>
            <a:off x="609600" y="1409700"/>
            <a:ext cx="6362700" cy="323850"/>
          </a:xfrm>
          <a:prstGeom prst="roundRect">
            <a:avLst>
              <a:gd name="adj" fmla="val 29411"/>
            </a:avLst>
          </a:prstGeom>
          <a:solidFill>
            <a:srgbClr val="16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ounded Rectangle 6"/>
          <p:cNvSpPr/>
          <p:nvPr/>
        </p:nvSpPr>
        <p:spPr>
          <a:xfrm>
            <a:off x="800100" y="1514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7"/>
          <p:cNvSpPr/>
          <p:nvPr/>
        </p:nvSpPr>
        <p:spPr>
          <a:xfrm>
            <a:off x="1009650" y="1514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8"/>
          <p:cNvSpPr/>
          <p:nvPr/>
        </p:nvSpPr>
        <p:spPr>
          <a:xfrm>
            <a:off x="1219200" y="15144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9"/>
          <p:cNvSpPr txBox="1"/>
          <p:nvPr/>
        </p:nvSpPr>
        <p:spPr>
          <a:xfrm>
            <a:off x="876300" y="1905000"/>
            <a:ext cx="5905500" cy="381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# AGENTS.md — 项目约定（手写，&lt; 150 行）</a:t>
            </a:r>
            <a:endParaRPr/>
          </a:p>
          <a:p>
            <a:pPr algn="l">
              <a:lnSpc>
                <a:spcPct val="132000"/>
              </a:lnSpc>
            </a:pP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## 技术栈</a:t>
            </a: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- Next.js 15 App Router / TypeScript / Tailwind</a:t>
            </a: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- 包管理器：pnpm（禁止混用 npm / yarn）</a:t>
            </a:r>
            <a:endParaRPr/>
          </a:p>
          <a:p>
            <a:pPr algn="l">
              <a:lnSpc>
                <a:spcPct val="132000"/>
              </a:lnSpc>
            </a:pP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## 常用命令</a:t>
            </a: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- 测试：pnpm test   类型检查：pnpm typecheck</a:t>
            </a: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- 改完业务代码必须跑测试，失败要解释原因</a:t>
            </a:r>
            <a:endParaRPr/>
          </a:p>
          <a:p>
            <a:pPr algn="l">
              <a:lnSpc>
                <a:spcPct val="132000"/>
              </a:lnSpc>
            </a:pP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## 约定（一条约定，配一个示例）</a:t>
            </a: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- 新组件一律函数式 + hooks，禁止 class 组件</a:t>
            </a: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- 错误处理：让异常上抛，由全局 handler 统一捕获</a:t>
            </a: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 xml:space="preserve">  // 正确：函数内不 try/catch</a:t>
            </a: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 xml:space="preserve">  // 错误：局部 catch 后只打日志</a:t>
            </a:r>
            <a:endParaRPr/>
          </a:p>
          <a:p>
            <a:pPr algn="l">
              <a:lnSpc>
                <a:spcPct val="132000"/>
              </a:lnSpc>
            </a:pP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## 边界（红线）</a:t>
            </a: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- 禁止修改 src/generated/**（自动生成目录）</a:t>
            </a: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- 禁止硬编码密钥、Token</a:t>
            </a:r>
            <a:endParaRPr/>
          </a:p>
          <a:p>
            <a:pPr algn="l">
              <a:lnSpc>
                <a:spcPct val="132000"/>
              </a:lnSpc>
            </a:pPr>
            <a:r>
              <a:rPr sz="1012" b="0" i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- 新增外部依赖必须说明理由</a:t>
            </a:r>
            <a:endParaRPr/>
          </a:p>
        </p:txBody>
      </p:sp>
      <p:sp>
        <p:nvSpPr>
          <p:cNvPr id="108" name="Rounded Rectangle 10"/>
          <p:cNvSpPr/>
          <p:nvPr/>
        </p:nvSpPr>
        <p:spPr>
          <a:xfrm>
            <a:off x="7391400" y="14478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82C4D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1"/>
          <p:cNvSpPr txBox="1"/>
          <p:nvPr/>
        </p:nvSpPr>
        <p:spPr>
          <a:xfrm>
            <a:off x="7391400" y="1495425"/>
            <a:ext cx="247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75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1</a:t>
            </a:r>
            <a:endParaRPr/>
          </a:p>
        </p:txBody>
      </p:sp>
      <p:sp>
        <p:nvSpPr>
          <p:cNvPr id="110" name="TextBox 12"/>
          <p:cNvSpPr txBox="1"/>
          <p:nvPr/>
        </p:nvSpPr>
        <p:spPr>
          <a:xfrm>
            <a:off x="7791450" y="1409700"/>
            <a:ext cx="4000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手写，不要生成</a:t>
            </a:r>
            <a:endParaRPr/>
          </a:p>
        </p:txBody>
      </p:sp>
      <p:sp>
        <p:nvSpPr>
          <p:cNvPr id="111" name="TextBox 13"/>
          <p:cNvSpPr txBox="1"/>
          <p:nvPr/>
        </p:nvSpPr>
        <p:spPr>
          <a:xfrm>
            <a:off x="7791450" y="1695450"/>
            <a:ext cx="4000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实测 LLM 生成的 AGENTS.md 在 8 组对照里 5 组降低任务成功率，平均多走 2.45–3.92 步。</a:t>
            </a:r>
            <a:endParaRPr/>
          </a:p>
        </p:txBody>
      </p:sp>
      <p:sp>
        <p:nvSpPr>
          <p:cNvPr id="112" name="Rounded Rectangle 14"/>
          <p:cNvSpPr/>
          <p:nvPr/>
        </p:nvSpPr>
        <p:spPr>
          <a:xfrm>
            <a:off x="7391400" y="23431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82C4D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5"/>
          <p:cNvSpPr txBox="1"/>
          <p:nvPr/>
        </p:nvSpPr>
        <p:spPr>
          <a:xfrm>
            <a:off x="7391400" y="2390775"/>
            <a:ext cx="247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75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2</a:t>
            </a:r>
            <a:endParaRPr/>
          </a:p>
        </p:txBody>
      </p:sp>
      <p:sp>
        <p:nvSpPr>
          <p:cNvPr id="114" name="TextBox 16"/>
          <p:cNvSpPr txBox="1"/>
          <p:nvPr/>
        </p:nvSpPr>
        <p:spPr>
          <a:xfrm>
            <a:off x="7791450" y="2305050"/>
            <a:ext cx="4000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150 行以内</a:t>
            </a:r>
            <a:endParaRPr/>
          </a:p>
        </p:txBody>
      </p:sp>
      <p:sp>
        <p:nvSpPr>
          <p:cNvPr id="115" name="TextBox 17"/>
          <p:cNvSpPr txBox="1"/>
          <p:nvPr/>
        </p:nvSpPr>
        <p:spPr>
          <a:xfrm>
            <a:off x="7791450" y="2590800"/>
            <a:ext cx="4000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超过 150 行收益递减，推理成本反升 20–23%；上限 32KiB，短才有效。</a:t>
            </a:r>
            <a:endParaRPr/>
          </a:p>
        </p:txBody>
      </p:sp>
      <p:sp>
        <p:nvSpPr>
          <p:cNvPr id="116" name="Rounded Rectangle 18"/>
          <p:cNvSpPr/>
          <p:nvPr/>
        </p:nvSpPr>
        <p:spPr>
          <a:xfrm>
            <a:off x="7391400" y="323850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82C4D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9"/>
          <p:cNvSpPr txBox="1"/>
          <p:nvPr/>
        </p:nvSpPr>
        <p:spPr>
          <a:xfrm>
            <a:off x="7391400" y="3286125"/>
            <a:ext cx="247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75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3</a:t>
            </a:r>
            <a:endParaRPr/>
          </a:p>
        </p:txBody>
      </p:sp>
      <p:sp>
        <p:nvSpPr>
          <p:cNvPr id="118" name="TextBox 20"/>
          <p:cNvSpPr txBox="1"/>
          <p:nvPr/>
        </p:nvSpPr>
        <p:spPr>
          <a:xfrm>
            <a:off x="7791450" y="3200400"/>
            <a:ext cx="4000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一条约定配一个示例</a:t>
            </a:r>
            <a:endParaRPr/>
          </a:p>
        </p:txBody>
      </p:sp>
      <p:sp>
        <p:nvSpPr>
          <p:cNvPr id="119" name="TextBox 21"/>
          <p:cNvSpPr txBox="1"/>
          <p:nvPr/>
        </p:nvSpPr>
        <p:spPr>
          <a:xfrm>
            <a:off x="7791450" y="3486150"/>
            <a:ext cx="4000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一个反例代码胜过三段描述：“Show, don't tell” 是唯一有效的写法。</a:t>
            </a:r>
            <a:endParaRPr/>
          </a:p>
        </p:txBody>
      </p:sp>
      <p:sp>
        <p:nvSpPr>
          <p:cNvPr id="120" name="Rounded Rectangle 22"/>
          <p:cNvSpPr/>
          <p:nvPr/>
        </p:nvSpPr>
        <p:spPr>
          <a:xfrm>
            <a:off x="7391400" y="41338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182C4D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23"/>
          <p:cNvSpPr txBox="1"/>
          <p:nvPr/>
        </p:nvSpPr>
        <p:spPr>
          <a:xfrm>
            <a:off x="7391400" y="4181475"/>
            <a:ext cx="247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75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4</a:t>
            </a:r>
            <a:endParaRPr/>
          </a:p>
        </p:txBody>
      </p:sp>
      <p:sp>
        <p:nvSpPr>
          <p:cNvPr id="122" name="TextBox 24"/>
          <p:cNvSpPr txBox="1"/>
          <p:nvPr/>
        </p:nvSpPr>
        <p:spPr>
          <a:xfrm>
            <a:off x="7791450" y="4095750"/>
            <a:ext cx="4000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随 PR 一起更新</a:t>
            </a:r>
            <a:endParaRPr/>
          </a:p>
        </p:txBody>
      </p:sp>
      <p:sp>
        <p:nvSpPr>
          <p:cNvPr id="123" name="TextBox 25"/>
          <p:cNvSpPr txBox="1"/>
          <p:nvPr/>
        </p:nvSpPr>
        <p:spPr>
          <a:xfrm>
            <a:off x="7791450" y="4381500"/>
            <a:ext cx="4000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规则变了当场改；过时的规则比没有规则更糟——它在主动误导 Agent。</a:t>
            </a:r>
            <a:endParaRPr/>
          </a:p>
        </p:txBody>
      </p:sp>
      <p:sp>
        <p:nvSpPr>
          <p:cNvPr id="124" name="Rounded Rectangle 26"/>
          <p:cNvSpPr/>
          <p:nvPr/>
        </p:nvSpPr>
        <p:spPr>
          <a:xfrm>
            <a:off x="7391400" y="5029200"/>
            <a:ext cx="4191000" cy="857250"/>
          </a:xfrm>
          <a:prstGeom prst="roundRect">
            <a:avLst>
              <a:gd name="adj" fmla="val 11111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27"/>
          <p:cNvSpPr txBox="1"/>
          <p:nvPr/>
        </p:nvSpPr>
        <p:spPr>
          <a:xfrm>
            <a:off x="7581900" y="5143500"/>
            <a:ext cx="3810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37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本课判断：</a:t>
            </a:r>
            <a:r>
              <a:rPr sz="12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空话会挤掉真规则。“写干净的、可维护的代码”这种话现在就删掉——Agent 本来就会。</a:t>
            </a:r>
            <a:endParaRPr/>
          </a:p>
        </p:txBody>
      </p:sp>
      <p:sp>
        <p:nvSpPr>
          <p:cNvPr id="126" name="Rounded Rectangle 28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29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实践篇</a:t>
            </a:r>
            <a:endParaRPr/>
          </a:p>
        </p:txBody>
      </p:sp>
      <p:sp>
        <p:nvSpPr>
          <p:cNvPr id="128" name="TextBox 30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13 / 21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任务简报四要素：30 秒定生死</a:t>
            </a:r>
            <a:endParaRPr/>
          </a:p>
        </p:txBody>
      </p:sp>
      <p:sp>
        <p:nvSpPr>
          <p:cNvPr id="131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产出的差距，八成在开工前 30 秒就决定了</a:t>
            </a:r>
            <a:endParaRPr/>
          </a:p>
        </p:txBody>
      </p:sp>
      <p:sp>
        <p:nvSpPr>
          <p:cNvPr id="133" name="Rounded Rectangle 4"/>
          <p:cNvSpPr/>
          <p:nvPr/>
        </p:nvSpPr>
        <p:spPr>
          <a:xfrm>
            <a:off x="609600" y="1409700"/>
            <a:ext cx="3238500" cy="4667250"/>
          </a:xfrm>
          <a:prstGeom prst="roundRect">
            <a:avLst>
              <a:gd name="adj" fmla="val 3529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5"/>
          <p:cNvSpPr txBox="1"/>
          <p:nvPr/>
        </p:nvSpPr>
        <p:spPr>
          <a:xfrm>
            <a:off x="857250" y="1657350"/>
            <a:ext cx="2762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每条只写</a:t>
            </a:r>
            <a:endParaRPr/>
          </a:p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不可省略的信息</a:t>
            </a:r>
            <a:endParaRPr/>
          </a:p>
        </p:txBody>
      </p:sp>
      <p:sp>
        <p:nvSpPr>
          <p:cNvPr id="135" name="Rounded Rectangle 6"/>
          <p:cNvSpPr/>
          <p:nvPr/>
        </p:nvSpPr>
        <p:spPr>
          <a:xfrm>
            <a:off x="857250" y="255270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7"/>
          <p:cNvSpPr txBox="1"/>
          <p:nvPr/>
        </p:nvSpPr>
        <p:spPr>
          <a:xfrm>
            <a:off x="1047750" y="253365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Goal</a:t>
            </a:r>
            <a:endParaRPr/>
          </a:p>
        </p:txBody>
      </p:sp>
      <p:sp>
        <p:nvSpPr>
          <p:cNvPr id="137" name="TextBox 8"/>
          <p:cNvSpPr txBox="1"/>
          <p:nvPr/>
        </p:nvSpPr>
        <p:spPr>
          <a:xfrm>
            <a:off x="1047750" y="276225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要解决什么问题，一句话</a:t>
            </a:r>
            <a:endParaRPr/>
          </a:p>
        </p:txBody>
      </p:sp>
      <p:sp>
        <p:nvSpPr>
          <p:cNvPr id="138" name="Rounded Rectangle 9"/>
          <p:cNvSpPr/>
          <p:nvPr/>
        </p:nvSpPr>
        <p:spPr>
          <a:xfrm>
            <a:off x="857250" y="318135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0"/>
          <p:cNvSpPr txBox="1"/>
          <p:nvPr/>
        </p:nvSpPr>
        <p:spPr>
          <a:xfrm>
            <a:off x="1047750" y="316230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Context</a:t>
            </a:r>
            <a:endParaRPr/>
          </a:p>
        </p:txBody>
      </p:sp>
      <p:sp>
        <p:nvSpPr>
          <p:cNvPr id="140" name="TextBox 11"/>
          <p:cNvSpPr txBox="1"/>
          <p:nvPr/>
        </p:nvSpPr>
        <p:spPr>
          <a:xfrm>
            <a:off x="1047750" y="339090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相关代码与日志的路径指针</a:t>
            </a:r>
            <a:endParaRPr/>
          </a:p>
        </p:txBody>
      </p:sp>
      <p:sp>
        <p:nvSpPr>
          <p:cNvPr id="141" name="Rounded Rectangle 12"/>
          <p:cNvSpPr/>
          <p:nvPr/>
        </p:nvSpPr>
        <p:spPr>
          <a:xfrm>
            <a:off x="857250" y="381000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3"/>
          <p:cNvSpPr txBox="1"/>
          <p:nvPr/>
        </p:nvSpPr>
        <p:spPr>
          <a:xfrm>
            <a:off x="1047750" y="379095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Constraints</a:t>
            </a:r>
            <a:endParaRPr/>
          </a:p>
        </p:txBody>
      </p:sp>
      <p:sp>
        <p:nvSpPr>
          <p:cNvPr id="143" name="TextBox 14"/>
          <p:cNvSpPr txBox="1"/>
          <p:nvPr/>
        </p:nvSpPr>
        <p:spPr>
          <a:xfrm>
            <a:off x="1047750" y="401955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不许动什么、不许加什么</a:t>
            </a:r>
            <a:endParaRPr/>
          </a:p>
        </p:txBody>
      </p:sp>
      <p:sp>
        <p:nvSpPr>
          <p:cNvPr id="144" name="Rounded Rectangle 15"/>
          <p:cNvSpPr/>
          <p:nvPr/>
        </p:nvSpPr>
        <p:spPr>
          <a:xfrm>
            <a:off x="857250" y="443865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6"/>
          <p:cNvSpPr txBox="1"/>
          <p:nvPr/>
        </p:nvSpPr>
        <p:spPr>
          <a:xfrm>
            <a:off x="1047750" y="441960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Done-when</a:t>
            </a:r>
            <a:endParaRPr/>
          </a:p>
        </p:txBody>
      </p:sp>
      <p:sp>
        <p:nvSpPr>
          <p:cNvPr id="146" name="TextBox 17"/>
          <p:cNvSpPr txBox="1"/>
          <p:nvPr/>
        </p:nvSpPr>
        <p:spPr>
          <a:xfrm>
            <a:off x="1047750" y="464820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什么条件算完成、如何验证</a:t>
            </a:r>
            <a:endParaRPr/>
          </a:p>
        </p:txBody>
      </p:sp>
      <p:sp>
        <p:nvSpPr>
          <p:cNvPr id="147" name="TextBox 18"/>
          <p:cNvSpPr txBox="1"/>
          <p:nvPr/>
        </p:nvSpPr>
        <p:spPr>
          <a:xfrm>
            <a:off x="857250" y="5181600"/>
            <a:ext cx="27622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87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静态约束写在 AGENTS.md，这里只放本次任务的增量。</a:t>
            </a:r>
            <a:endParaRPr/>
          </a:p>
        </p:txBody>
      </p:sp>
      <p:sp>
        <p:nvSpPr>
          <p:cNvPr id="148" name="Rounded Rectangle 19"/>
          <p:cNvSpPr/>
          <p:nvPr/>
        </p:nvSpPr>
        <p:spPr>
          <a:xfrm>
            <a:off x="4191000" y="1409700"/>
            <a:ext cx="7391400" cy="2819400"/>
          </a:xfrm>
          <a:prstGeom prst="roundRect">
            <a:avLst>
              <a:gd name="adj" fmla="val 4054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20"/>
          <p:cNvSpPr txBox="1"/>
          <p:nvPr/>
        </p:nvSpPr>
        <p:spPr>
          <a:xfrm>
            <a:off x="4457700" y="158115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一份合格简报的样子</a:t>
            </a:r>
            <a:endParaRPr/>
          </a:p>
        </p:txBody>
      </p:sp>
      <p:sp>
        <p:nvSpPr>
          <p:cNvPr id="150" name="Rounded Rectangle 21"/>
          <p:cNvSpPr/>
          <p:nvPr/>
        </p:nvSpPr>
        <p:spPr>
          <a:xfrm>
            <a:off x="4457700" y="1962150"/>
            <a:ext cx="1219200" cy="304800"/>
          </a:xfrm>
          <a:prstGeom prst="roundRect">
            <a:avLst>
              <a:gd name="adj" fmla="val 18750"/>
            </a:avLst>
          </a:prstGeom>
          <a:solidFill>
            <a:srgbClr val="14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22"/>
          <p:cNvSpPr txBox="1"/>
          <p:nvPr/>
        </p:nvSpPr>
        <p:spPr>
          <a:xfrm>
            <a:off x="4457700" y="2019300"/>
            <a:ext cx="1219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7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Goal</a:t>
            </a:r>
            <a:endParaRPr/>
          </a:p>
        </p:txBody>
      </p:sp>
      <p:sp>
        <p:nvSpPr>
          <p:cNvPr id="152" name="TextBox 23"/>
          <p:cNvSpPr txBox="1"/>
          <p:nvPr/>
        </p:nvSpPr>
        <p:spPr>
          <a:xfrm>
            <a:off x="5867400" y="1981200"/>
            <a:ext cx="5524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2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修复优惠券接口返回 500 时订单无法提交的问题</a:t>
            </a:r>
            <a:endParaRPr/>
          </a:p>
        </p:txBody>
      </p:sp>
      <p:sp>
        <p:nvSpPr>
          <p:cNvPr id="153" name="Rounded Rectangle 24"/>
          <p:cNvSpPr/>
          <p:nvPr/>
        </p:nvSpPr>
        <p:spPr>
          <a:xfrm>
            <a:off x="4457700" y="2514600"/>
            <a:ext cx="1219200" cy="304800"/>
          </a:xfrm>
          <a:prstGeom prst="roundRect">
            <a:avLst>
              <a:gd name="adj" fmla="val 18750"/>
            </a:avLst>
          </a:prstGeom>
          <a:solidFill>
            <a:srgbClr val="14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25"/>
          <p:cNvSpPr txBox="1"/>
          <p:nvPr/>
        </p:nvSpPr>
        <p:spPr>
          <a:xfrm>
            <a:off x="4457700" y="2571750"/>
            <a:ext cx="1219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7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Context</a:t>
            </a:r>
            <a:endParaRPr/>
          </a:p>
        </p:txBody>
      </p:sp>
      <p:sp>
        <p:nvSpPr>
          <p:cNvPr id="155" name="TextBox 26"/>
          <p:cNvSpPr txBox="1"/>
          <p:nvPr/>
        </p:nvSpPr>
        <p:spPr>
          <a:xfrm>
            <a:off x="5867400" y="2533650"/>
            <a:ext cx="5524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2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相关代码 apps/web/src/checkout；错误日志 logs/checkout-500.log</a:t>
            </a:r>
            <a:endParaRPr/>
          </a:p>
        </p:txBody>
      </p:sp>
      <p:sp>
        <p:nvSpPr>
          <p:cNvPr id="156" name="Rounded Rectangle 27"/>
          <p:cNvSpPr/>
          <p:nvPr/>
        </p:nvSpPr>
        <p:spPr>
          <a:xfrm>
            <a:off x="4457700" y="3067050"/>
            <a:ext cx="1219200" cy="304800"/>
          </a:xfrm>
          <a:prstGeom prst="roundRect">
            <a:avLst>
              <a:gd name="adj" fmla="val 18750"/>
            </a:avLst>
          </a:prstGeom>
          <a:solidFill>
            <a:srgbClr val="14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28"/>
          <p:cNvSpPr txBox="1"/>
          <p:nvPr/>
        </p:nvSpPr>
        <p:spPr>
          <a:xfrm>
            <a:off x="4457700" y="3124200"/>
            <a:ext cx="1219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7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Constraints</a:t>
            </a:r>
            <a:endParaRPr/>
          </a:p>
        </p:txBody>
      </p:sp>
      <p:sp>
        <p:nvSpPr>
          <p:cNvPr id="158" name="TextBox 29"/>
          <p:cNvSpPr txBox="1"/>
          <p:nvPr/>
        </p:nvSpPr>
        <p:spPr>
          <a:xfrm>
            <a:off x="5867400" y="3086100"/>
            <a:ext cx="5524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2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不改支付 SDK；不新增依赖；报错文案风格与现有保持一致</a:t>
            </a:r>
            <a:endParaRPr/>
          </a:p>
        </p:txBody>
      </p:sp>
      <p:sp>
        <p:nvSpPr>
          <p:cNvPr id="159" name="Rounded Rectangle 30"/>
          <p:cNvSpPr/>
          <p:nvPr/>
        </p:nvSpPr>
        <p:spPr>
          <a:xfrm>
            <a:off x="4457700" y="3619500"/>
            <a:ext cx="1219200" cy="304800"/>
          </a:xfrm>
          <a:prstGeom prst="roundRect">
            <a:avLst>
              <a:gd name="adj" fmla="val 18750"/>
            </a:avLst>
          </a:prstGeom>
          <a:solidFill>
            <a:srgbClr val="14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31"/>
          <p:cNvSpPr txBox="1"/>
          <p:nvPr/>
        </p:nvSpPr>
        <p:spPr>
          <a:xfrm>
            <a:off x="4457700" y="3676650"/>
            <a:ext cx="1219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7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Done-when</a:t>
            </a:r>
            <a:endParaRPr/>
          </a:p>
        </p:txBody>
      </p:sp>
      <p:sp>
        <p:nvSpPr>
          <p:cNvPr id="161" name="TextBox 32"/>
          <p:cNvSpPr txBox="1"/>
          <p:nvPr/>
        </p:nvSpPr>
        <p:spPr>
          <a:xfrm>
            <a:off x="5867400" y="3638550"/>
            <a:ext cx="5524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62" b="0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新增测试通过；本地下单全链路自测通过；根因写入 PR 描述</a:t>
            </a:r>
            <a:endParaRPr/>
          </a:p>
        </p:txBody>
      </p:sp>
      <p:sp>
        <p:nvSpPr>
          <p:cNvPr id="162" name="Rounded Rectangle 33"/>
          <p:cNvSpPr/>
          <p:nvPr/>
        </p:nvSpPr>
        <p:spPr>
          <a:xfrm>
            <a:off x="4191000" y="4438650"/>
            <a:ext cx="3609975" cy="1638300"/>
          </a:xfrm>
          <a:prstGeom prst="roundRect">
            <a:avLst>
              <a:gd name="adj" fmla="val 6976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34"/>
          <p:cNvSpPr txBox="1"/>
          <p:nvPr/>
        </p:nvSpPr>
        <p:spPr>
          <a:xfrm>
            <a:off x="4400550" y="4591050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✗ 坏简报</a:t>
            </a:r>
            <a:endParaRPr/>
          </a:p>
        </p:txBody>
      </p:sp>
      <p:sp>
        <p:nvSpPr>
          <p:cNvPr id="164" name="TextBox 35"/>
          <p:cNvSpPr txBox="1"/>
          <p:nvPr/>
        </p:nvSpPr>
        <p:spPr>
          <a:xfrm>
            <a:off x="4400550" y="4857750"/>
            <a:ext cx="31908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7" b="0" i="0">
                <a:solidFill>
                  <a:srgbClr val="BCC3CD"/>
                </a:solidFill>
                <a:latin typeface="Consolas"/>
                <a:ea typeface="Consolas"/>
                <a:cs typeface="Consolas"/>
              </a:rPr>
              <a:t>“帮我修一下下单报错”</a:t>
            </a:r>
            <a:endParaRPr/>
          </a:p>
        </p:txBody>
      </p:sp>
      <p:sp>
        <p:nvSpPr>
          <p:cNvPr id="165" name="TextBox 36"/>
          <p:cNvSpPr txBox="1"/>
          <p:nvPr/>
        </p:nvSpPr>
        <p:spPr>
          <a:xfrm>
            <a:off x="4400550" y="5181600"/>
            <a:ext cx="3190875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87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Agent 只能靠猜：猜范围、猜边界、猜“修好”的标准——猜错三次，信任归零。</a:t>
            </a:r>
            <a:endParaRPr/>
          </a:p>
        </p:txBody>
      </p:sp>
      <p:sp>
        <p:nvSpPr>
          <p:cNvPr id="166" name="Rounded Rectangle 37"/>
          <p:cNvSpPr/>
          <p:nvPr/>
        </p:nvSpPr>
        <p:spPr>
          <a:xfrm>
            <a:off x="7972425" y="4438650"/>
            <a:ext cx="3609975" cy="1638300"/>
          </a:xfrm>
          <a:prstGeom prst="roundRect">
            <a:avLst>
              <a:gd name="adj" fmla="val 6976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38"/>
          <p:cNvSpPr txBox="1"/>
          <p:nvPr/>
        </p:nvSpPr>
        <p:spPr>
          <a:xfrm>
            <a:off x="8181975" y="4591050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✓ 好简报的回报</a:t>
            </a:r>
            <a:endParaRPr/>
          </a:p>
        </p:txBody>
      </p:sp>
      <p:sp>
        <p:nvSpPr>
          <p:cNvPr id="168" name="TextBox 39"/>
          <p:cNvSpPr txBox="1"/>
          <p:nvPr/>
        </p:nvSpPr>
        <p:spPr>
          <a:xfrm>
            <a:off x="8181975" y="4857750"/>
            <a:ext cx="319087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第一次产出就接近可用，返工轮次从 3–4 轮降到 1 轮。</a:t>
            </a:r>
            <a:endParaRPr/>
          </a:p>
        </p:txBody>
      </p:sp>
      <p:sp>
        <p:nvSpPr>
          <p:cNvPr id="169" name="TextBox 40"/>
          <p:cNvSpPr txBox="1"/>
          <p:nvPr/>
        </p:nvSpPr>
        <p:spPr>
          <a:xfrm>
            <a:off x="8181975" y="5448300"/>
            <a:ext cx="3190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87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本课判断：</a:t>
            </a: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加约束比加形容词有效——“认真写”没有用，“不改支付 SDK”才有用。</a:t>
            </a:r>
            <a:endParaRPr/>
          </a:p>
        </p:txBody>
      </p:sp>
      <p:sp>
        <p:nvSpPr>
          <p:cNvPr id="170" name="Rounded Rectangle 41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42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实践篇</a:t>
            </a:r>
            <a:endParaRPr/>
          </a:p>
        </p:txBody>
      </p:sp>
      <p:sp>
        <p:nvSpPr>
          <p:cNvPr id="172" name="TextBox 43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14 / 21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增量交付循环：小步、验证、可回滚</a:t>
            </a:r>
            <a:endParaRPr/>
          </a:p>
        </p:txBody>
      </p:sp>
      <p:sp>
        <p:nvSpPr>
          <p:cNvPr id="175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粒度决定回滚成本：一次一个切片，别让 Agent 一口气跑完整个需求</a:t>
            </a:r>
            <a:endParaRPr/>
          </a:p>
        </p:txBody>
      </p:sp>
      <p:cxnSp>
        <p:nvCxnSpPr>
          <p:cNvPr id="177" name="Connector 4"/>
          <p:cNvCxnSpPr/>
          <p:nvPr/>
        </p:nvCxnSpPr>
        <p:spPr>
          <a:xfrm>
            <a:off x="2762250" y="1962150"/>
            <a:ext cx="5314950" cy="0"/>
          </a:xfrm>
          <a:prstGeom prst="line">
            <a:avLst/>
          </a:prstGeom>
          <a:ln w="25400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5"/>
          <p:cNvCxnSpPr/>
          <p:nvPr/>
        </p:nvCxnSpPr>
        <p:spPr>
          <a:xfrm>
            <a:off x="9067800" y="2286000"/>
            <a:ext cx="0" cy="419100"/>
          </a:xfrm>
          <a:prstGeom prst="line">
            <a:avLst/>
          </a:prstGeom>
          <a:ln w="25400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6"/>
          <p:cNvCxnSpPr/>
          <p:nvPr/>
        </p:nvCxnSpPr>
        <p:spPr>
          <a:xfrm flipH="1">
            <a:off x="2781300" y="3048000"/>
            <a:ext cx="5295900" cy="0"/>
          </a:xfrm>
          <a:prstGeom prst="line">
            <a:avLst/>
          </a:prstGeom>
          <a:ln w="25400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7"/>
          <p:cNvCxnSpPr/>
          <p:nvPr/>
        </p:nvCxnSpPr>
        <p:spPr>
          <a:xfrm flipV="1">
            <a:off x="1771650" y="2286000"/>
            <a:ext cx="0" cy="419100"/>
          </a:xfrm>
          <a:prstGeom prst="line">
            <a:avLst/>
          </a:prstGeom>
          <a:ln w="25400">
            <a:solidFill>
              <a:srgbClr val="35D0B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ounded Rectangle 8"/>
          <p:cNvSpPr/>
          <p:nvPr/>
        </p:nvSpPr>
        <p:spPr>
          <a:xfrm>
            <a:off x="819150" y="1657350"/>
            <a:ext cx="1905000" cy="609600"/>
          </a:xfrm>
          <a:prstGeom prst="roundRect">
            <a:avLst>
              <a:gd name="adj" fmla="val 15625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9"/>
          <p:cNvSpPr txBox="1"/>
          <p:nvPr/>
        </p:nvSpPr>
        <p:spPr>
          <a:xfrm>
            <a:off x="819150" y="173355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① 拆</a:t>
            </a:r>
            <a:endParaRPr/>
          </a:p>
        </p:txBody>
      </p:sp>
      <p:sp>
        <p:nvSpPr>
          <p:cNvPr id="183" name="TextBox 10"/>
          <p:cNvSpPr txBox="1"/>
          <p:nvPr/>
        </p:nvSpPr>
        <p:spPr>
          <a:xfrm>
            <a:off x="819150" y="200025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需求切成可验证的切片</a:t>
            </a:r>
            <a:endParaRPr/>
          </a:p>
        </p:txBody>
      </p:sp>
      <p:sp>
        <p:nvSpPr>
          <p:cNvPr id="184" name="Rounded Rectangle 11"/>
          <p:cNvSpPr/>
          <p:nvPr/>
        </p:nvSpPr>
        <p:spPr>
          <a:xfrm>
            <a:off x="8115300" y="1657350"/>
            <a:ext cx="1905000" cy="609600"/>
          </a:xfrm>
          <a:prstGeom prst="roundRect">
            <a:avLst>
              <a:gd name="adj" fmla="val 15625"/>
            </a:avLst>
          </a:prstGeom>
          <a:solidFill>
            <a:srgbClr val="1C2839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2"/>
          <p:cNvSpPr txBox="1"/>
          <p:nvPr/>
        </p:nvSpPr>
        <p:spPr>
          <a:xfrm>
            <a:off x="8115300" y="173355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② 派</a:t>
            </a:r>
            <a:endParaRPr/>
          </a:p>
        </p:txBody>
      </p:sp>
      <p:sp>
        <p:nvSpPr>
          <p:cNvPr id="186" name="TextBox 13"/>
          <p:cNvSpPr txBox="1"/>
          <p:nvPr/>
        </p:nvSpPr>
        <p:spPr>
          <a:xfrm>
            <a:off x="8115300" y="200025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一次只派一个，带四要素</a:t>
            </a:r>
            <a:endParaRPr/>
          </a:p>
        </p:txBody>
      </p:sp>
      <p:sp>
        <p:nvSpPr>
          <p:cNvPr id="187" name="Rounded Rectangle 14"/>
          <p:cNvSpPr/>
          <p:nvPr/>
        </p:nvSpPr>
        <p:spPr>
          <a:xfrm>
            <a:off x="8115300" y="2743200"/>
            <a:ext cx="1905000" cy="609600"/>
          </a:xfrm>
          <a:prstGeom prst="roundRect">
            <a:avLst>
              <a:gd name="adj" fmla="val 15625"/>
            </a:avLst>
          </a:prstGeom>
          <a:solidFill>
            <a:srgbClr val="1C2839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5"/>
          <p:cNvSpPr txBox="1"/>
          <p:nvPr/>
        </p:nvSpPr>
        <p:spPr>
          <a:xfrm>
            <a:off x="8115300" y="28194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③ 验</a:t>
            </a:r>
            <a:endParaRPr/>
          </a:p>
        </p:txBody>
      </p:sp>
      <p:sp>
        <p:nvSpPr>
          <p:cNvPr id="189" name="TextBox 16"/>
          <p:cNvSpPr txBox="1"/>
          <p:nvPr/>
        </p:nvSpPr>
        <p:spPr>
          <a:xfrm>
            <a:off x="8115300" y="308610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测试 + 人审 diff，不过就回滚</a:t>
            </a:r>
            <a:endParaRPr/>
          </a:p>
        </p:txBody>
      </p:sp>
      <p:sp>
        <p:nvSpPr>
          <p:cNvPr id="190" name="Rounded Rectangle 17"/>
          <p:cNvSpPr/>
          <p:nvPr/>
        </p:nvSpPr>
        <p:spPr>
          <a:xfrm>
            <a:off x="819150" y="2743200"/>
            <a:ext cx="1905000" cy="609600"/>
          </a:xfrm>
          <a:prstGeom prst="roundRect">
            <a:avLst>
              <a:gd name="adj" fmla="val 15625"/>
            </a:avLst>
          </a:prstGeom>
          <a:solidFill>
            <a:srgbClr val="1C2839"/>
          </a:solidFill>
          <a:ln w="12700">
            <a:solidFill>
              <a:srgbClr val="2D54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8"/>
          <p:cNvSpPr txBox="1"/>
          <p:nvPr/>
        </p:nvSpPr>
        <p:spPr>
          <a:xfrm>
            <a:off x="819150" y="281940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④ 收</a:t>
            </a:r>
            <a:endParaRPr/>
          </a:p>
        </p:txBody>
      </p:sp>
      <p:sp>
        <p:nvSpPr>
          <p:cNvPr id="192" name="TextBox 19"/>
          <p:cNvSpPr txBox="1"/>
          <p:nvPr/>
        </p:nvSpPr>
        <p:spPr>
          <a:xfrm>
            <a:off x="819150" y="3086100"/>
            <a:ext cx="190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立即 commit，沉淀上下文</a:t>
            </a:r>
            <a:endParaRPr/>
          </a:p>
        </p:txBody>
      </p:sp>
      <p:sp>
        <p:nvSpPr>
          <p:cNvPr id="193" name="TextBox 20"/>
          <p:cNvSpPr txBox="1"/>
          <p:nvPr/>
        </p:nvSpPr>
        <p:spPr>
          <a:xfrm>
            <a:off x="4762500" y="220980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75" b="1" i="0">
                <a:solidFill>
                  <a:srgbClr val="C8CED6"/>
                </a:solidFill>
                <a:latin typeface="Microsoft YaHei"/>
                <a:ea typeface="Microsoft YaHei"/>
                <a:cs typeface="Microsoft YaHei"/>
              </a:rPr>
              <a:t>每圈 ≤ 1 天</a:t>
            </a:r>
            <a:endParaRPr/>
          </a:p>
        </p:txBody>
      </p:sp>
      <p:sp>
        <p:nvSpPr>
          <p:cNvPr id="194" name="TextBox 21"/>
          <p:cNvSpPr txBox="1"/>
          <p:nvPr/>
        </p:nvSpPr>
        <p:spPr>
          <a:xfrm>
            <a:off x="4762500" y="2495550"/>
            <a:ext cx="2667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SMALL BATCH, FAST FEEDBACK</a:t>
            </a:r>
            <a:endParaRPr/>
          </a:p>
        </p:txBody>
      </p:sp>
      <p:sp>
        <p:nvSpPr>
          <p:cNvPr id="195" name="Rounded Rectangle 22"/>
          <p:cNvSpPr/>
          <p:nvPr/>
        </p:nvSpPr>
        <p:spPr>
          <a:xfrm>
            <a:off x="609600" y="4000500"/>
            <a:ext cx="6667500" cy="2190750"/>
          </a:xfrm>
          <a:prstGeom prst="roundRect">
            <a:avLst>
              <a:gd name="adj" fmla="val 5217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23"/>
          <p:cNvSpPr txBox="1"/>
          <p:nvPr/>
        </p:nvSpPr>
        <p:spPr>
          <a:xfrm>
            <a:off x="876300" y="415290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每一步的硬检查点</a:t>
            </a:r>
            <a:endParaRPr/>
          </a:p>
        </p:txBody>
      </p:sp>
      <p:sp>
        <p:nvSpPr>
          <p:cNvPr id="197" name="Rounded Rectangle 24"/>
          <p:cNvSpPr/>
          <p:nvPr/>
        </p:nvSpPr>
        <p:spPr>
          <a:xfrm>
            <a:off x="876300" y="45339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25"/>
          <p:cNvSpPr txBox="1"/>
          <p:nvPr/>
        </p:nvSpPr>
        <p:spPr>
          <a:xfrm>
            <a:off x="876300" y="4581525"/>
            <a:ext cx="285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拆</a:t>
            </a:r>
            <a:endParaRPr/>
          </a:p>
        </p:txBody>
      </p:sp>
      <p:sp>
        <p:nvSpPr>
          <p:cNvPr id="199" name="TextBox 26"/>
          <p:cNvSpPr txBox="1"/>
          <p:nvPr/>
        </p:nvSpPr>
        <p:spPr>
          <a:xfrm>
            <a:off x="1257300" y="4514850"/>
            <a:ext cx="25908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这个切片能独立验收吗？说不清“怎么验”就还没拆好。</a:t>
            </a:r>
            <a:endParaRPr/>
          </a:p>
        </p:txBody>
      </p:sp>
      <p:sp>
        <p:nvSpPr>
          <p:cNvPr id="200" name="Rounded Rectangle 27"/>
          <p:cNvSpPr/>
          <p:nvPr/>
        </p:nvSpPr>
        <p:spPr>
          <a:xfrm>
            <a:off x="4076700" y="45339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8"/>
          <p:cNvSpPr txBox="1"/>
          <p:nvPr/>
        </p:nvSpPr>
        <p:spPr>
          <a:xfrm>
            <a:off x="4076700" y="4581525"/>
            <a:ext cx="285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派</a:t>
            </a:r>
            <a:endParaRPr/>
          </a:p>
        </p:txBody>
      </p:sp>
      <p:sp>
        <p:nvSpPr>
          <p:cNvPr id="202" name="TextBox 29"/>
          <p:cNvSpPr txBox="1"/>
          <p:nvPr/>
        </p:nvSpPr>
        <p:spPr>
          <a:xfrm>
            <a:off x="4457700" y="4514850"/>
            <a:ext cx="25908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四要素齐了吗？缺 Constraints 的简报退回重写。</a:t>
            </a:r>
            <a:endParaRPr/>
          </a:p>
        </p:txBody>
      </p:sp>
      <p:sp>
        <p:nvSpPr>
          <p:cNvPr id="203" name="Rounded Rectangle 30"/>
          <p:cNvSpPr/>
          <p:nvPr/>
        </p:nvSpPr>
        <p:spPr>
          <a:xfrm>
            <a:off x="876300" y="53149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31"/>
          <p:cNvSpPr txBox="1"/>
          <p:nvPr/>
        </p:nvSpPr>
        <p:spPr>
          <a:xfrm>
            <a:off x="876300" y="5362575"/>
            <a:ext cx="285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验</a:t>
            </a:r>
            <a:endParaRPr/>
          </a:p>
        </p:txBody>
      </p:sp>
      <p:sp>
        <p:nvSpPr>
          <p:cNvPr id="205" name="TextBox 32"/>
          <p:cNvSpPr txBox="1"/>
          <p:nvPr/>
        </p:nvSpPr>
        <p:spPr>
          <a:xfrm>
            <a:off x="1257300" y="5295900"/>
            <a:ext cx="25908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测试红了吗？diff 逐行看过了吗？没看就等于没验。</a:t>
            </a:r>
            <a:endParaRPr/>
          </a:p>
        </p:txBody>
      </p:sp>
      <p:sp>
        <p:nvSpPr>
          <p:cNvPr id="206" name="Rounded Rectangle 33"/>
          <p:cNvSpPr/>
          <p:nvPr/>
        </p:nvSpPr>
        <p:spPr>
          <a:xfrm>
            <a:off x="4076700" y="53149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34"/>
          <p:cNvSpPr txBox="1"/>
          <p:nvPr/>
        </p:nvSpPr>
        <p:spPr>
          <a:xfrm>
            <a:off x="4076700" y="5362575"/>
            <a:ext cx="2857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收</a:t>
            </a:r>
            <a:endParaRPr/>
          </a:p>
        </p:txBody>
      </p:sp>
      <p:sp>
        <p:nvSpPr>
          <p:cNvPr id="208" name="TextBox 35"/>
          <p:cNvSpPr txBox="1"/>
          <p:nvPr/>
        </p:nvSpPr>
        <p:spPr>
          <a:xfrm>
            <a:off x="4457700" y="5295900"/>
            <a:ext cx="25908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commit message 写清“为什么”了吗？它是下一轮的上下文。</a:t>
            </a:r>
            <a:endParaRPr/>
          </a:p>
        </p:txBody>
      </p:sp>
      <p:sp>
        <p:nvSpPr>
          <p:cNvPr id="209" name="Rounded Rectangle 36"/>
          <p:cNvSpPr/>
          <p:nvPr/>
        </p:nvSpPr>
        <p:spPr>
          <a:xfrm>
            <a:off x="7505700" y="4000500"/>
            <a:ext cx="4076700" cy="2190750"/>
          </a:xfrm>
          <a:prstGeom prst="roundRect">
            <a:avLst>
              <a:gd name="adj" fmla="val 5217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ounded Rectangle 37"/>
          <p:cNvSpPr/>
          <p:nvPr/>
        </p:nvSpPr>
        <p:spPr>
          <a:xfrm>
            <a:off x="7734300" y="4248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38"/>
          <p:cNvSpPr txBox="1"/>
          <p:nvPr/>
        </p:nvSpPr>
        <p:spPr>
          <a:xfrm>
            <a:off x="7924800" y="4191000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</a:t>
            </a:r>
            <a:endParaRPr/>
          </a:p>
        </p:txBody>
      </p:sp>
      <p:sp>
        <p:nvSpPr>
          <p:cNvPr id="212" name="TextBox 39"/>
          <p:cNvSpPr txBox="1"/>
          <p:nvPr/>
        </p:nvSpPr>
        <p:spPr>
          <a:xfrm>
            <a:off x="7734300" y="4495800"/>
            <a:ext cx="36195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一句“帮我把整个模块写完”得到的代码，你不敢上线；四个检查点走过的切片，你敢。</a:t>
            </a:r>
            <a:endParaRPr/>
          </a:p>
        </p:txBody>
      </p:sp>
      <p:sp>
        <p:nvSpPr>
          <p:cNvPr id="213" name="TextBox 40"/>
          <p:cNvSpPr txBox="1"/>
          <p:nvPr/>
        </p:nvSpPr>
        <p:spPr>
          <a:xfrm>
            <a:off x="7734300" y="5391150"/>
            <a:ext cx="36195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25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循环的意义不是慢，恰恰是快——因为返工被限制在了一个切片之内。</a:t>
            </a:r>
            <a:endParaRPr/>
          </a:p>
        </p:txBody>
      </p:sp>
      <p:sp>
        <p:nvSpPr>
          <p:cNvPr id="214" name="Rounded Rectangle 41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42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实践篇</a:t>
            </a:r>
            <a:endParaRPr/>
          </a:p>
        </p:txBody>
      </p:sp>
      <p:sp>
        <p:nvSpPr>
          <p:cNvPr id="216" name="TextBox 43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15 / 21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自主度分级：把介入点画在事前</a:t>
            </a:r>
            <a:endParaRPr/>
          </a:p>
        </p:txBody>
      </p:sp>
      <p:sp>
        <p:nvSpPr>
          <p:cNvPr id="219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敢放手的前提，是知道每一级该在哪里伸手</a:t>
            </a:r>
            <a:endParaRPr/>
          </a:p>
        </p:txBody>
      </p:sp>
      <p:sp>
        <p:nvSpPr>
          <p:cNvPr id="221" name="Rounded Rectangle 4"/>
          <p:cNvSpPr/>
          <p:nvPr/>
        </p:nvSpPr>
        <p:spPr>
          <a:xfrm>
            <a:off x="609600" y="1600200"/>
            <a:ext cx="3467100" cy="1009650"/>
          </a:xfrm>
          <a:prstGeom prst="roundRect">
            <a:avLst>
              <a:gd name="adj" fmla="val 943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5"/>
          <p:cNvSpPr txBox="1"/>
          <p:nvPr/>
        </p:nvSpPr>
        <p:spPr>
          <a:xfrm>
            <a:off x="819150" y="1771650"/>
            <a:ext cx="571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L0</a:t>
            </a:r>
            <a:endParaRPr/>
          </a:p>
        </p:txBody>
      </p:sp>
      <p:sp>
        <p:nvSpPr>
          <p:cNvPr id="223" name="TextBox 6"/>
          <p:cNvSpPr txBox="1"/>
          <p:nvPr/>
        </p:nvSpPr>
        <p:spPr>
          <a:xfrm>
            <a:off x="1409700" y="177165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补全级</a:t>
            </a:r>
            <a:endParaRPr/>
          </a:p>
        </p:txBody>
      </p:sp>
      <p:sp>
        <p:nvSpPr>
          <p:cNvPr id="224" name="TextBox 7"/>
          <p:cNvSpPr txBox="1"/>
          <p:nvPr/>
        </p:nvSpPr>
        <p:spPr>
          <a:xfrm>
            <a:off x="819150" y="2114550"/>
            <a:ext cx="3048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介入：按键即审，零额外成本</a:t>
            </a:r>
            <a:endParaRPr/>
          </a:p>
        </p:txBody>
      </p:sp>
      <p:sp>
        <p:nvSpPr>
          <p:cNvPr id="225" name="TextBox 8"/>
          <p:cNvSpPr txBox="1"/>
          <p:nvPr/>
        </p:nvSpPr>
        <p:spPr>
          <a:xfrm>
            <a:off x="3143250" y="1790700"/>
            <a:ext cx="7048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人写，AI 补全单行</a:t>
            </a:r>
            <a:endParaRPr/>
          </a:p>
        </p:txBody>
      </p:sp>
      <p:sp>
        <p:nvSpPr>
          <p:cNvPr id="226" name="Rounded Rectangle 9"/>
          <p:cNvSpPr/>
          <p:nvPr/>
        </p:nvSpPr>
        <p:spPr>
          <a:xfrm>
            <a:off x="609600" y="2724150"/>
            <a:ext cx="4400550" cy="1009650"/>
          </a:xfrm>
          <a:prstGeom prst="roundRect">
            <a:avLst>
              <a:gd name="adj" fmla="val 943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10"/>
          <p:cNvSpPr txBox="1"/>
          <p:nvPr/>
        </p:nvSpPr>
        <p:spPr>
          <a:xfrm>
            <a:off x="819150" y="2895600"/>
            <a:ext cx="571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L1</a:t>
            </a:r>
            <a:endParaRPr/>
          </a:p>
        </p:txBody>
      </p:sp>
      <p:sp>
        <p:nvSpPr>
          <p:cNvPr id="228" name="TextBox 11"/>
          <p:cNvSpPr txBox="1"/>
          <p:nvPr/>
        </p:nvSpPr>
        <p:spPr>
          <a:xfrm>
            <a:off x="1409700" y="289560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单文件级</a:t>
            </a:r>
            <a:endParaRPr/>
          </a:p>
        </p:txBody>
      </p:sp>
      <p:sp>
        <p:nvSpPr>
          <p:cNvPr id="229" name="TextBox 12"/>
          <p:cNvSpPr txBox="1"/>
          <p:nvPr/>
        </p:nvSpPr>
        <p:spPr>
          <a:xfrm>
            <a:off x="819150" y="3238500"/>
            <a:ext cx="39814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介入：逐行审 diff，看测试</a:t>
            </a:r>
            <a:endParaRPr/>
          </a:p>
        </p:txBody>
      </p:sp>
      <p:sp>
        <p:nvSpPr>
          <p:cNvPr id="230" name="TextBox 13"/>
          <p:cNvSpPr txBox="1"/>
          <p:nvPr/>
        </p:nvSpPr>
        <p:spPr>
          <a:xfrm>
            <a:off x="3143250" y="2914650"/>
            <a:ext cx="16383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AI 修改单个文件</a:t>
            </a:r>
            <a:endParaRPr/>
          </a:p>
        </p:txBody>
      </p:sp>
      <p:sp>
        <p:nvSpPr>
          <p:cNvPr id="231" name="Rounded Rectangle 14"/>
          <p:cNvSpPr/>
          <p:nvPr/>
        </p:nvSpPr>
        <p:spPr>
          <a:xfrm>
            <a:off x="609600" y="3848100"/>
            <a:ext cx="5467350" cy="1009650"/>
          </a:xfrm>
          <a:prstGeom prst="roundRect">
            <a:avLst>
              <a:gd name="adj" fmla="val 9433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15"/>
          <p:cNvSpPr txBox="1"/>
          <p:nvPr/>
        </p:nvSpPr>
        <p:spPr>
          <a:xfrm>
            <a:off x="819150" y="4019550"/>
            <a:ext cx="571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L2</a:t>
            </a:r>
            <a:endParaRPr/>
          </a:p>
        </p:txBody>
      </p:sp>
      <p:sp>
        <p:nvSpPr>
          <p:cNvPr id="233" name="TextBox 16"/>
          <p:cNvSpPr txBox="1"/>
          <p:nvPr/>
        </p:nvSpPr>
        <p:spPr>
          <a:xfrm>
            <a:off x="1409700" y="401955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跨文件级</a:t>
            </a:r>
            <a:endParaRPr/>
          </a:p>
        </p:txBody>
      </p:sp>
      <p:sp>
        <p:nvSpPr>
          <p:cNvPr id="234" name="TextBox 17"/>
          <p:cNvSpPr txBox="1"/>
          <p:nvPr/>
        </p:nvSpPr>
        <p:spPr>
          <a:xfrm>
            <a:off x="819150" y="4362450"/>
            <a:ext cx="50482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介入：先审方案设计，再验收测结果</a:t>
            </a:r>
            <a:endParaRPr/>
          </a:p>
        </p:txBody>
      </p:sp>
      <p:sp>
        <p:nvSpPr>
          <p:cNvPr id="235" name="TextBox 18"/>
          <p:cNvSpPr txBox="1"/>
          <p:nvPr/>
        </p:nvSpPr>
        <p:spPr>
          <a:xfrm>
            <a:off x="3143250" y="4038600"/>
            <a:ext cx="2705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AI 完成跨模块小特性</a:t>
            </a:r>
            <a:endParaRPr/>
          </a:p>
        </p:txBody>
      </p:sp>
      <p:sp>
        <p:nvSpPr>
          <p:cNvPr id="236" name="Rounded Rectangle 19"/>
          <p:cNvSpPr/>
          <p:nvPr/>
        </p:nvSpPr>
        <p:spPr>
          <a:xfrm>
            <a:off x="609600" y="4972050"/>
            <a:ext cx="6667500" cy="1009650"/>
          </a:xfrm>
          <a:prstGeom prst="roundRect">
            <a:avLst>
              <a:gd name="adj" fmla="val 9433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0"/>
          <p:cNvSpPr txBox="1"/>
          <p:nvPr/>
        </p:nvSpPr>
        <p:spPr>
          <a:xfrm>
            <a:off x="819150" y="5143500"/>
            <a:ext cx="571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L3</a:t>
            </a:r>
            <a:endParaRPr/>
          </a:p>
        </p:txBody>
      </p:sp>
      <p:sp>
        <p:nvSpPr>
          <p:cNvPr id="238" name="TextBox 21"/>
          <p:cNvSpPr txBox="1"/>
          <p:nvPr/>
        </p:nvSpPr>
        <p:spPr>
          <a:xfrm>
            <a:off x="1409700" y="514350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长周期自主级</a:t>
            </a:r>
            <a:endParaRPr/>
          </a:p>
        </p:txBody>
      </p:sp>
      <p:sp>
        <p:nvSpPr>
          <p:cNvPr id="239" name="TextBox 22"/>
          <p:cNvSpPr txBox="1"/>
          <p:nvPr/>
        </p:nvSpPr>
        <p:spPr>
          <a:xfrm>
            <a:off x="819150" y="5486400"/>
            <a:ext cx="6248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介入：事前定边界与红线，里程碑验收兜底</a:t>
            </a:r>
            <a:endParaRPr/>
          </a:p>
        </p:txBody>
      </p:sp>
      <p:sp>
        <p:nvSpPr>
          <p:cNvPr id="240" name="TextBox 23"/>
          <p:cNvSpPr txBox="1"/>
          <p:nvPr/>
        </p:nvSpPr>
        <p:spPr>
          <a:xfrm>
            <a:off x="3143250" y="5162550"/>
            <a:ext cx="3905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连续多日自主运行（实测曾有 16 天 / 265 次提交）</a:t>
            </a:r>
            <a:endParaRPr/>
          </a:p>
        </p:txBody>
      </p:sp>
      <p:sp>
        <p:nvSpPr>
          <p:cNvPr id="241" name="TextBox 24"/>
          <p:cNvSpPr txBox="1"/>
          <p:nvPr/>
        </p:nvSpPr>
        <p:spPr>
          <a:xfrm>
            <a:off x="7696200" y="1447800"/>
            <a:ext cx="38862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25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等级每升一级，人的角色就换一次：从“写字的”变成“改稿的”，再变成“定标准、验结果的人”。</a:t>
            </a:r>
            <a:endParaRPr/>
          </a:p>
        </p:txBody>
      </p:sp>
      <p:sp>
        <p:nvSpPr>
          <p:cNvPr id="242" name="Rounded Rectangle 25"/>
          <p:cNvSpPr/>
          <p:nvPr/>
        </p:nvSpPr>
        <p:spPr>
          <a:xfrm>
            <a:off x="7696200" y="2857500"/>
            <a:ext cx="3886200" cy="1047750"/>
          </a:xfrm>
          <a:prstGeom prst="roundRect">
            <a:avLst>
              <a:gd name="adj" fmla="val 909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6"/>
          <p:cNvSpPr txBox="1"/>
          <p:nvPr/>
        </p:nvSpPr>
        <p:spPr>
          <a:xfrm>
            <a:off x="7886700" y="2971800"/>
            <a:ext cx="3524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7" b="1" i="0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这些事始终不建议交给 Agent 自主决策</a:t>
            </a:r>
            <a:endParaRPr/>
          </a:p>
        </p:txBody>
      </p:sp>
      <p:sp>
        <p:nvSpPr>
          <p:cNvPr id="244" name="TextBox 27"/>
          <p:cNvSpPr txBox="1"/>
          <p:nvPr/>
        </p:nvSpPr>
        <p:spPr>
          <a:xfrm>
            <a:off x="7886700" y="3238500"/>
            <a:ext cx="35242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087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核心金融计算与估值逻辑、加密与鉴权实现、大规模遗留系统重构——AI 只做展示与辅助，结论必须由人写。</a:t>
            </a:r>
            <a:endParaRPr/>
          </a:p>
        </p:txBody>
      </p:sp>
      <p:sp>
        <p:nvSpPr>
          <p:cNvPr id="245" name="Rounded Rectangle 28"/>
          <p:cNvSpPr/>
          <p:nvPr/>
        </p:nvSpPr>
        <p:spPr>
          <a:xfrm>
            <a:off x="7696200" y="4476750"/>
            <a:ext cx="3886200" cy="1524000"/>
          </a:xfrm>
          <a:prstGeom prst="roundRect">
            <a:avLst>
              <a:gd name="adj" fmla="val 6250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9"/>
          <p:cNvSpPr txBox="1"/>
          <p:nvPr/>
        </p:nvSpPr>
        <p:spPr>
          <a:xfrm>
            <a:off x="7886700" y="4629150"/>
            <a:ext cx="35242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237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本课判断：</a:t>
            </a:r>
            <a:r>
              <a:rPr sz="1237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Qoder 的 16 天自主运行实验证明了上限，也证明了结论——长周期自主仍需人类兜底验收。放手不放眼。</a:t>
            </a:r>
            <a:endParaRPr/>
          </a:p>
        </p:txBody>
      </p:sp>
      <p:sp>
        <p:nvSpPr>
          <p:cNvPr id="247" name="Rounded Rectangle 30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TextBox 31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实践篇</a:t>
            </a:r>
            <a:endParaRPr/>
          </a:p>
        </p:txBody>
      </p:sp>
      <p:sp>
        <p:nvSpPr>
          <p:cNvPr id="249" name="TextBox 32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16 / 21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2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企业落地前，先装好安全护栏</a:t>
            </a:r>
            <a:endParaRPr/>
          </a:p>
        </p:txBody>
      </p:sp>
      <p:sp>
        <p:nvSpPr>
          <p:cNvPr id="252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无论选哪家工具，进研发环境前这四件事一件都不能少</a:t>
            </a:r>
            <a:endParaRPr/>
          </a:p>
        </p:txBody>
      </p:sp>
      <p:sp>
        <p:nvSpPr>
          <p:cNvPr id="254" name="Rounded Rectangle 4"/>
          <p:cNvSpPr/>
          <p:nvPr/>
        </p:nvSpPr>
        <p:spPr>
          <a:xfrm>
            <a:off x="285750" y="5143500"/>
            <a:ext cx="3238500" cy="3238500"/>
          </a:xfrm>
          <a:prstGeom prst="roundRect">
            <a:avLst>
              <a:gd name="adj" fmla="val 50000"/>
            </a:avLst>
          </a:prstGeom>
          <a:solidFill>
            <a:srgbClr val="16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5"/>
          <p:cNvSpPr txBox="1"/>
          <p:nvPr/>
        </p:nvSpPr>
        <p:spPr>
          <a:xfrm>
            <a:off x="609600" y="1524000"/>
            <a:ext cx="361950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4</a:t>
            </a:r>
            <a:endParaRPr/>
          </a:p>
        </p:txBody>
      </p:sp>
      <p:sp>
        <p:nvSpPr>
          <p:cNvPr id="256" name="TextBox 6"/>
          <p:cNvSpPr txBox="1"/>
          <p:nvPr/>
        </p:nvSpPr>
        <p:spPr>
          <a:xfrm>
            <a:off x="2095500" y="2552700"/>
            <a:ext cx="1905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件套</a:t>
            </a:r>
            <a:endParaRPr/>
          </a:p>
        </p:txBody>
      </p:sp>
      <p:sp>
        <p:nvSpPr>
          <p:cNvPr id="257" name="TextBox 7"/>
          <p:cNvSpPr txBox="1"/>
          <p:nvPr/>
        </p:nvSpPr>
        <p:spPr>
          <a:xfrm>
            <a:off x="609600" y="3143250"/>
            <a:ext cx="36195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50" b="0" i="0">
                <a:solidFill>
                  <a:srgbClr val="ABB2BD"/>
                </a:solidFill>
                <a:latin typeface="Microsoft YaHei"/>
                <a:ea typeface="Microsoft YaHei"/>
                <a:cs typeface="Microsoft YaHei"/>
              </a:rPr>
              <a:t>Agent 的每一点效率提升，都来自它比你多拿到的权限；对应地，每一条权限都是一条风险敞口。</a:t>
            </a:r>
            <a:endParaRPr/>
          </a:p>
        </p:txBody>
      </p:sp>
      <p:sp>
        <p:nvSpPr>
          <p:cNvPr id="258" name="TextBox 8"/>
          <p:cNvSpPr txBox="1"/>
          <p:nvPr/>
        </p:nvSpPr>
        <p:spPr>
          <a:xfrm>
            <a:off x="609600" y="4476750"/>
            <a:ext cx="3619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0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TRUST, BUT VERIFY — AND LOG</a:t>
            </a:r>
            <a:endParaRPr/>
          </a:p>
        </p:txBody>
      </p:sp>
      <p:sp>
        <p:nvSpPr>
          <p:cNvPr id="259" name="Rounded Rectangle 9"/>
          <p:cNvSpPr/>
          <p:nvPr/>
        </p:nvSpPr>
        <p:spPr>
          <a:xfrm>
            <a:off x="4953000" y="144780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Rectangle 10"/>
          <p:cNvSpPr/>
          <p:nvPr/>
        </p:nvSpPr>
        <p:spPr>
          <a:xfrm>
            <a:off x="4953000" y="1447800"/>
            <a:ext cx="38100" cy="89535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11"/>
          <p:cNvSpPr txBox="1"/>
          <p:nvPr/>
        </p:nvSpPr>
        <p:spPr>
          <a:xfrm>
            <a:off x="5219700" y="1714500"/>
            <a:ext cx="571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01</a:t>
            </a:r>
            <a:endParaRPr/>
          </a:p>
        </p:txBody>
      </p:sp>
      <p:sp>
        <p:nvSpPr>
          <p:cNvPr id="262" name="TextBox 12"/>
          <p:cNvSpPr txBox="1"/>
          <p:nvPr/>
        </p:nvSpPr>
        <p:spPr>
          <a:xfrm>
            <a:off x="5924550" y="1733550"/>
            <a:ext cx="1619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沙箱隔离</a:t>
            </a:r>
            <a:endParaRPr/>
          </a:p>
        </p:txBody>
      </p:sp>
      <p:sp>
        <p:nvSpPr>
          <p:cNvPr id="263" name="TextBox 13"/>
          <p:cNvSpPr txBox="1"/>
          <p:nvPr/>
        </p:nvSpPr>
        <p:spPr>
          <a:xfrm>
            <a:off x="7677150" y="1619250"/>
            <a:ext cx="371475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16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Agent 在受限容器中运行：非 root、根目录只读、默认禁公网</a:t>
            </a:r>
            <a:endParaRPr/>
          </a:p>
        </p:txBody>
      </p:sp>
      <p:sp>
        <p:nvSpPr>
          <p:cNvPr id="264" name="Rounded Rectangle 14"/>
          <p:cNvSpPr/>
          <p:nvPr/>
        </p:nvSpPr>
        <p:spPr>
          <a:xfrm>
            <a:off x="4953000" y="245745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15"/>
          <p:cNvSpPr/>
          <p:nvPr/>
        </p:nvSpPr>
        <p:spPr>
          <a:xfrm>
            <a:off x="4953000" y="2457450"/>
            <a:ext cx="38100" cy="89535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16"/>
          <p:cNvSpPr txBox="1"/>
          <p:nvPr/>
        </p:nvSpPr>
        <p:spPr>
          <a:xfrm>
            <a:off x="5219700" y="2724150"/>
            <a:ext cx="571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02</a:t>
            </a:r>
            <a:endParaRPr/>
          </a:p>
        </p:txBody>
      </p:sp>
      <p:sp>
        <p:nvSpPr>
          <p:cNvPr id="267" name="TextBox 17"/>
          <p:cNvSpPr txBox="1"/>
          <p:nvPr/>
        </p:nvSpPr>
        <p:spPr>
          <a:xfrm>
            <a:off x="5924550" y="2743200"/>
            <a:ext cx="1619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最小权限</a:t>
            </a:r>
            <a:endParaRPr/>
          </a:p>
        </p:txBody>
      </p:sp>
      <p:sp>
        <p:nvSpPr>
          <p:cNvPr id="268" name="TextBox 18"/>
          <p:cNvSpPr txBox="1"/>
          <p:nvPr/>
        </p:nvSpPr>
        <p:spPr>
          <a:xfrm>
            <a:off x="7677150" y="2628900"/>
            <a:ext cx="371475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16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只授予“读仓库 + 写工作区”；shell 全权、删库、外发一律不给</a:t>
            </a:r>
            <a:endParaRPr/>
          </a:p>
        </p:txBody>
      </p:sp>
      <p:sp>
        <p:nvSpPr>
          <p:cNvPr id="269" name="Rounded Rectangle 19"/>
          <p:cNvSpPr/>
          <p:nvPr/>
        </p:nvSpPr>
        <p:spPr>
          <a:xfrm>
            <a:off x="4953000" y="346710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Rectangle 20"/>
          <p:cNvSpPr/>
          <p:nvPr/>
        </p:nvSpPr>
        <p:spPr>
          <a:xfrm>
            <a:off x="4953000" y="3467100"/>
            <a:ext cx="38100" cy="89535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1"/>
          <p:cNvSpPr txBox="1"/>
          <p:nvPr/>
        </p:nvSpPr>
        <p:spPr>
          <a:xfrm>
            <a:off x="5219700" y="3733800"/>
            <a:ext cx="571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03</a:t>
            </a:r>
            <a:endParaRPr/>
          </a:p>
        </p:txBody>
      </p:sp>
      <p:sp>
        <p:nvSpPr>
          <p:cNvPr id="272" name="TextBox 22"/>
          <p:cNvSpPr txBox="1"/>
          <p:nvPr/>
        </p:nvSpPr>
        <p:spPr>
          <a:xfrm>
            <a:off x="5924550" y="3752850"/>
            <a:ext cx="1619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调用审计</a:t>
            </a:r>
            <a:endParaRPr/>
          </a:p>
        </p:txBody>
      </p:sp>
      <p:sp>
        <p:nvSpPr>
          <p:cNvPr id="273" name="TextBox 23"/>
          <p:cNvSpPr txBox="1"/>
          <p:nvPr/>
        </p:nvSpPr>
        <p:spPr>
          <a:xfrm>
            <a:off x="7677150" y="3638550"/>
            <a:ext cx="371475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16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每一次工具调用留痕：谁、何时、动了什么——可回溯、可问责</a:t>
            </a:r>
            <a:endParaRPr/>
          </a:p>
        </p:txBody>
      </p:sp>
      <p:sp>
        <p:nvSpPr>
          <p:cNvPr id="274" name="Rounded Rectangle 24"/>
          <p:cNvSpPr/>
          <p:nvPr/>
        </p:nvSpPr>
        <p:spPr>
          <a:xfrm>
            <a:off x="4953000" y="447675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ectangle 25"/>
          <p:cNvSpPr/>
          <p:nvPr/>
        </p:nvSpPr>
        <p:spPr>
          <a:xfrm>
            <a:off x="4953000" y="4476750"/>
            <a:ext cx="38100" cy="89535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6"/>
          <p:cNvSpPr txBox="1"/>
          <p:nvPr/>
        </p:nvSpPr>
        <p:spPr>
          <a:xfrm>
            <a:off x="5219700" y="4743450"/>
            <a:ext cx="571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04</a:t>
            </a:r>
            <a:endParaRPr/>
          </a:p>
        </p:txBody>
      </p:sp>
      <p:sp>
        <p:nvSpPr>
          <p:cNvPr id="277" name="TextBox 27"/>
          <p:cNvSpPr txBox="1"/>
          <p:nvPr/>
        </p:nvSpPr>
        <p:spPr>
          <a:xfrm>
            <a:off x="5924550" y="4762500"/>
            <a:ext cx="1619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人工审批闸</a:t>
            </a:r>
            <a:endParaRPr/>
          </a:p>
        </p:txBody>
      </p:sp>
      <p:sp>
        <p:nvSpPr>
          <p:cNvPr id="278" name="TextBox 28"/>
          <p:cNvSpPr txBox="1"/>
          <p:nvPr/>
        </p:nvSpPr>
        <p:spPr>
          <a:xfrm>
            <a:off x="7677150" y="4648200"/>
            <a:ext cx="371475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16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删库、资金、数据外发等高敏感动作零自动化，必须人工确认</a:t>
            </a:r>
            <a:endParaRPr/>
          </a:p>
        </p:txBody>
      </p:sp>
      <p:sp>
        <p:nvSpPr>
          <p:cNvPr id="279" name="Rounded Rectangle 29"/>
          <p:cNvSpPr/>
          <p:nvPr/>
        </p:nvSpPr>
        <p:spPr>
          <a:xfrm>
            <a:off x="609600" y="5676900"/>
            <a:ext cx="10972800" cy="628650"/>
          </a:xfrm>
          <a:prstGeom prst="roundRect">
            <a:avLst>
              <a:gd name="adj" fmla="val 15151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Rounded Rectangle 30"/>
          <p:cNvSpPr/>
          <p:nvPr/>
        </p:nvSpPr>
        <p:spPr>
          <a:xfrm>
            <a:off x="876300" y="59055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31"/>
          <p:cNvSpPr txBox="1"/>
          <p:nvPr/>
        </p:nvSpPr>
        <p:spPr>
          <a:xfrm>
            <a:off x="1085850" y="5791200"/>
            <a:ext cx="10287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2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本课判断：</a:t>
            </a:r>
            <a:r>
              <a:rPr sz="1312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先画笼子，再放 Agent。护栏建设的一次性投入，远低于一次数据泄露的代价。</a:t>
            </a:r>
            <a:endParaRPr/>
          </a:p>
        </p:txBody>
      </p:sp>
      <p:sp>
        <p:nvSpPr>
          <p:cNvPr id="282" name="Rounded Rectangle 32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33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实践篇</a:t>
            </a:r>
            <a:endParaRPr/>
          </a:p>
        </p:txBody>
      </p:sp>
      <p:sp>
        <p:nvSpPr>
          <p:cNvPr id="284" name="TextBox 34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17 / 21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Picture 1" descr="p_ch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7" name="TextBox 2"/>
          <p:cNvSpPr txBox="1"/>
          <p:nvPr/>
        </p:nvSpPr>
        <p:spPr>
          <a:xfrm>
            <a:off x="8382000" y="-285750"/>
            <a:ext cx="3810000" cy="323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500" b="1" i="0">
                <a:solidFill>
                  <a:srgbClr val="1A2638"/>
                </a:solidFill>
                <a:latin typeface="Consolas"/>
                <a:ea typeface="Consolas"/>
                <a:cs typeface="Consolas"/>
              </a:rPr>
              <a:t>04</a:t>
            </a:r>
            <a:endParaRPr/>
          </a:p>
        </p:txBody>
      </p:sp>
      <p:sp>
        <p:nvSpPr>
          <p:cNvPr id="288" name="TextBox 3"/>
          <p:cNvSpPr txBox="1"/>
          <p:nvPr/>
        </p:nvSpPr>
        <p:spPr>
          <a:xfrm>
            <a:off x="609600" y="20002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spc="40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CHAPTER 04</a:t>
            </a:r>
            <a:endParaRPr/>
          </a:p>
        </p:txBody>
      </p:sp>
      <p:sp>
        <p:nvSpPr>
          <p:cNvPr id="289" name="Rectangle 4"/>
          <p:cNvSpPr/>
          <p:nvPr/>
        </p:nvSpPr>
        <p:spPr>
          <a:xfrm>
            <a:off x="2381250" y="2152650"/>
            <a:ext cx="6858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5"/>
          <p:cNvSpPr txBox="1"/>
          <p:nvPr/>
        </p:nvSpPr>
        <p:spPr>
          <a:xfrm>
            <a:off x="609600" y="2381250"/>
            <a:ext cx="6667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 spc="20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落地篇</a:t>
            </a:r>
            <a:endParaRPr/>
          </a:p>
        </p:txBody>
      </p:sp>
      <p:sp>
        <p:nvSpPr>
          <p:cNvPr id="291" name="TextBox 6"/>
          <p:cNvSpPr txBox="1"/>
          <p:nvPr/>
        </p:nvSpPr>
        <p:spPr>
          <a:xfrm>
            <a:off x="609600" y="3390900"/>
            <a:ext cx="666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从个人提效到团队可复制</a:t>
            </a:r>
            <a:endParaRPr/>
          </a:p>
        </p:txBody>
      </p:sp>
      <p:sp>
        <p:nvSpPr>
          <p:cNvPr id="292" name="TextBox 7"/>
          <p:cNvSpPr txBox="1"/>
          <p:nvPr/>
        </p:nvSpPr>
        <p:spPr>
          <a:xfrm>
            <a:off x="609600" y="3962400"/>
            <a:ext cx="5905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个人用得好不难，难的是让 20 个人用得一样好——这一章给出 90 天路线图和度量方法。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团队落地：90 天路线图</a:t>
            </a:r>
            <a:endParaRPr/>
          </a:p>
        </p:txBody>
      </p:sp>
      <p:sp>
        <p:nvSpPr>
          <p:cNvPr id="295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每个阶段都有明确交付物——没有交付物的时间点就是走形式</a:t>
            </a:r>
            <a:endParaRPr/>
          </a:p>
        </p:txBody>
      </p:sp>
      <p:sp>
        <p:nvSpPr>
          <p:cNvPr id="297" name="Rounded Rectangle 4"/>
          <p:cNvSpPr/>
          <p:nvPr/>
        </p:nvSpPr>
        <p:spPr>
          <a:xfrm>
            <a:off x="609600" y="1409700"/>
            <a:ext cx="2000250" cy="4667250"/>
          </a:xfrm>
          <a:prstGeom prst="roundRect">
            <a:avLst>
              <a:gd name="adj" fmla="val 5714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5"/>
          <p:cNvSpPr txBox="1"/>
          <p:nvPr/>
        </p:nvSpPr>
        <p:spPr>
          <a:xfrm>
            <a:off x="838200" y="1657350"/>
            <a:ext cx="16192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30</a:t>
            </a:r>
            <a:endParaRPr/>
          </a:p>
          <a:p>
            <a:pPr algn="l">
              <a:lnSpc>
                <a:spcPct val="115000"/>
              </a:lnSpc>
            </a:pPr>
            <a:r>
              <a:rPr sz="28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60</a:t>
            </a:r>
            <a:endParaRPr/>
          </a:p>
          <a:p>
            <a:pPr algn="l">
              <a:lnSpc>
                <a:spcPct val="115000"/>
              </a:lnSpc>
            </a:pPr>
            <a:r>
              <a:rPr sz="28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90</a:t>
            </a:r>
            <a:endParaRPr/>
          </a:p>
        </p:txBody>
      </p:sp>
      <p:sp>
        <p:nvSpPr>
          <p:cNvPr id="299" name="TextBox 6"/>
          <p:cNvSpPr txBox="1"/>
          <p:nvPr/>
        </p:nvSpPr>
        <p:spPr>
          <a:xfrm>
            <a:off x="838200" y="3067050"/>
            <a:ext cx="1619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三步走</a:t>
            </a:r>
            <a:endParaRPr/>
          </a:p>
        </p:txBody>
      </p:sp>
      <p:sp>
        <p:nvSpPr>
          <p:cNvPr id="300" name="TextBox 7"/>
          <p:cNvSpPr txBox="1"/>
          <p:nvPr/>
        </p:nvSpPr>
        <p:spPr>
          <a:xfrm>
            <a:off x="838200" y="3390900"/>
            <a:ext cx="15621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87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先建规范、再跑试点、最后进流水线。</a:t>
            </a:r>
            <a:endParaRPr/>
          </a:p>
        </p:txBody>
      </p:sp>
      <p:sp>
        <p:nvSpPr>
          <p:cNvPr id="301" name="TextBox 8"/>
          <p:cNvSpPr txBox="1"/>
          <p:nvPr/>
        </p:nvSpPr>
        <p:spPr>
          <a:xfrm>
            <a:off x="838200" y="4762500"/>
            <a:ext cx="15621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012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一汽的路径印证了顺序：规范先行，90% 研发启用后，AI 代码占比 25%、整体效率 +14%。</a:t>
            </a:r>
            <a:endParaRPr/>
          </a:p>
        </p:txBody>
      </p:sp>
      <p:sp>
        <p:nvSpPr>
          <p:cNvPr id="302" name="Rounded Rectangle 9"/>
          <p:cNvSpPr/>
          <p:nvPr/>
        </p:nvSpPr>
        <p:spPr>
          <a:xfrm>
            <a:off x="2819400" y="1409700"/>
            <a:ext cx="4248150" cy="1485900"/>
          </a:xfrm>
          <a:prstGeom prst="roundRect">
            <a:avLst>
              <a:gd name="adj" fmla="val 641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10"/>
          <p:cNvSpPr txBox="1"/>
          <p:nvPr/>
        </p:nvSpPr>
        <p:spPr>
          <a:xfrm>
            <a:off x="3028950" y="154305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Day 1-30</a:t>
            </a:r>
            <a:endParaRPr/>
          </a:p>
        </p:txBody>
      </p:sp>
      <p:sp>
        <p:nvSpPr>
          <p:cNvPr id="304" name="TextBox 11"/>
          <p:cNvSpPr txBox="1"/>
          <p:nvPr/>
        </p:nvSpPr>
        <p:spPr>
          <a:xfrm>
            <a:off x="4191000" y="1504950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建规范</a:t>
            </a:r>
            <a:endParaRPr/>
          </a:p>
        </p:txBody>
      </p:sp>
      <p:sp>
        <p:nvSpPr>
          <p:cNvPr id="305" name="TextBox 12"/>
          <p:cNvSpPr txBox="1"/>
          <p:nvPr/>
        </p:nvSpPr>
        <p:spPr>
          <a:xfrm>
            <a:off x="3028950" y="1847850"/>
            <a:ext cx="3905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· 手写 AGENTS.md：命令、约定、边界红线</a:t>
            </a:r>
            <a:endParaRPr/>
          </a:p>
        </p:txBody>
      </p:sp>
      <p:sp>
        <p:nvSpPr>
          <p:cNvPr id="306" name="TextBox 13"/>
          <p:cNvSpPr txBox="1"/>
          <p:nvPr/>
        </p:nvSpPr>
        <p:spPr>
          <a:xfrm>
            <a:off x="3028950" y="2095500"/>
            <a:ext cx="3905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· 全员对齐四要素简报与增量循环</a:t>
            </a:r>
            <a:endParaRPr/>
          </a:p>
        </p:txBody>
      </p:sp>
      <p:sp>
        <p:nvSpPr>
          <p:cNvPr id="307" name="TextBox 14"/>
          <p:cNvSpPr txBox="1"/>
          <p:nvPr/>
        </p:nvSpPr>
        <p:spPr>
          <a:xfrm>
            <a:off x="3028950" y="2571750"/>
            <a:ext cx="390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交付物：仓库规则文件 v1</a:t>
            </a:r>
            <a:endParaRPr/>
          </a:p>
        </p:txBody>
      </p:sp>
      <p:sp>
        <p:nvSpPr>
          <p:cNvPr id="308" name="Rounded Rectangle 15"/>
          <p:cNvSpPr/>
          <p:nvPr/>
        </p:nvSpPr>
        <p:spPr>
          <a:xfrm>
            <a:off x="2819400" y="3009900"/>
            <a:ext cx="4248150" cy="1485900"/>
          </a:xfrm>
          <a:prstGeom prst="roundRect">
            <a:avLst>
              <a:gd name="adj" fmla="val 641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16"/>
          <p:cNvSpPr txBox="1"/>
          <p:nvPr/>
        </p:nvSpPr>
        <p:spPr>
          <a:xfrm>
            <a:off x="3028950" y="314325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Day 31-60</a:t>
            </a:r>
            <a:endParaRPr/>
          </a:p>
        </p:txBody>
      </p:sp>
      <p:sp>
        <p:nvSpPr>
          <p:cNvPr id="310" name="TextBox 17"/>
          <p:cNvSpPr txBox="1"/>
          <p:nvPr/>
        </p:nvSpPr>
        <p:spPr>
          <a:xfrm>
            <a:off x="4191000" y="3105150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跑试点</a:t>
            </a:r>
            <a:endParaRPr/>
          </a:p>
        </p:txBody>
      </p:sp>
      <p:sp>
        <p:nvSpPr>
          <p:cNvPr id="311" name="TextBox 18"/>
          <p:cNvSpPr txBox="1"/>
          <p:nvPr/>
        </p:nvSpPr>
        <p:spPr>
          <a:xfrm>
            <a:off x="3028950" y="3448050"/>
            <a:ext cx="3905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· 2-3 名骨干 × 3 类真实任务</a:t>
            </a:r>
            <a:endParaRPr/>
          </a:p>
        </p:txBody>
      </p:sp>
      <p:sp>
        <p:nvSpPr>
          <p:cNvPr id="312" name="TextBox 19"/>
          <p:cNvSpPr txBox="1"/>
          <p:nvPr/>
        </p:nvSpPr>
        <p:spPr>
          <a:xfrm>
            <a:off x="3028950" y="3695700"/>
            <a:ext cx="3905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· 每周复盘：采纳率、返工率基线</a:t>
            </a:r>
            <a:endParaRPr/>
          </a:p>
        </p:txBody>
      </p:sp>
      <p:sp>
        <p:nvSpPr>
          <p:cNvPr id="313" name="TextBox 20"/>
          <p:cNvSpPr txBox="1"/>
          <p:nvPr/>
        </p:nvSpPr>
        <p:spPr>
          <a:xfrm>
            <a:off x="3028950" y="4171950"/>
            <a:ext cx="390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交付物：试点数据基线</a:t>
            </a:r>
            <a:endParaRPr/>
          </a:p>
        </p:txBody>
      </p:sp>
      <p:sp>
        <p:nvSpPr>
          <p:cNvPr id="314" name="Rounded Rectangle 21"/>
          <p:cNvSpPr/>
          <p:nvPr/>
        </p:nvSpPr>
        <p:spPr>
          <a:xfrm>
            <a:off x="2819400" y="4610100"/>
            <a:ext cx="4248150" cy="1485900"/>
          </a:xfrm>
          <a:prstGeom prst="roundRect">
            <a:avLst>
              <a:gd name="adj" fmla="val 641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22"/>
          <p:cNvSpPr txBox="1"/>
          <p:nvPr/>
        </p:nvSpPr>
        <p:spPr>
          <a:xfrm>
            <a:off x="3028950" y="474345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Day 61-90</a:t>
            </a:r>
            <a:endParaRPr/>
          </a:p>
        </p:txBody>
      </p:sp>
      <p:sp>
        <p:nvSpPr>
          <p:cNvPr id="316" name="TextBox 23"/>
          <p:cNvSpPr txBox="1"/>
          <p:nvPr/>
        </p:nvSpPr>
        <p:spPr>
          <a:xfrm>
            <a:off x="4191000" y="4705350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进流水线</a:t>
            </a:r>
            <a:endParaRPr/>
          </a:p>
        </p:txBody>
      </p:sp>
      <p:sp>
        <p:nvSpPr>
          <p:cNvPr id="317" name="TextBox 24"/>
          <p:cNvSpPr txBox="1"/>
          <p:nvPr/>
        </p:nvSpPr>
        <p:spPr>
          <a:xfrm>
            <a:off x="3028950" y="5048250"/>
            <a:ext cx="3905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· 验证步骤固化进 CI，Agent 直接消费</a:t>
            </a:r>
            <a:endParaRPr/>
          </a:p>
        </p:txBody>
      </p:sp>
      <p:sp>
        <p:nvSpPr>
          <p:cNvPr id="318" name="TextBox 25"/>
          <p:cNvSpPr txBox="1"/>
          <p:nvPr/>
        </p:nvSpPr>
        <p:spPr>
          <a:xfrm>
            <a:off x="3028950" y="5295900"/>
            <a:ext cx="39052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A9B0BB"/>
                </a:solidFill>
                <a:latin typeface="Microsoft YaHei"/>
                <a:ea typeface="Microsoft YaHei"/>
                <a:cs typeface="Microsoft YaHei"/>
              </a:rPr>
              <a:t>· 安全护栏四件套上线，推广全团队</a:t>
            </a:r>
            <a:endParaRPr/>
          </a:p>
        </p:txBody>
      </p:sp>
      <p:sp>
        <p:nvSpPr>
          <p:cNvPr id="319" name="TextBox 26"/>
          <p:cNvSpPr txBox="1"/>
          <p:nvPr/>
        </p:nvSpPr>
        <p:spPr>
          <a:xfrm>
            <a:off x="3028950" y="5772150"/>
            <a:ext cx="39052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交付物：团队手册 + 治理基线</a:t>
            </a:r>
            <a:endParaRPr/>
          </a:p>
        </p:txBody>
      </p:sp>
      <p:pic>
        <p:nvPicPr>
          <p:cNvPr id="320" name="Picture 27" descr="p_pai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7100" y="1409700"/>
            <a:ext cx="4305300" cy="4667250"/>
          </a:xfrm>
          <a:prstGeom prst="rect">
            <a:avLst/>
          </a:prstGeom>
        </p:spPr>
      </p:pic>
      <p:sp>
        <p:nvSpPr>
          <p:cNvPr id="321" name="Rectangle 28"/>
          <p:cNvSpPr/>
          <p:nvPr/>
        </p:nvSpPr>
        <p:spPr>
          <a:xfrm>
            <a:off x="7277100" y="5334000"/>
            <a:ext cx="4305300" cy="74295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TextBox 29"/>
          <p:cNvSpPr txBox="1"/>
          <p:nvPr/>
        </p:nvSpPr>
        <p:spPr>
          <a:xfrm>
            <a:off x="7467600" y="5867400"/>
            <a:ext cx="4000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人机各占一个工位：人定边界，Agent 干活</a:t>
            </a:r>
            <a:endParaRPr/>
          </a:p>
        </p:txBody>
      </p:sp>
      <p:sp>
        <p:nvSpPr>
          <p:cNvPr id="323" name="Rounded Rectangle 30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TextBox 31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落地篇</a:t>
            </a:r>
            <a:endParaRPr/>
          </a:p>
        </p:txBody>
      </p:sp>
      <p:sp>
        <p:nvSpPr>
          <p:cNvPr id="325" name="TextBox 32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19 / 21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3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"/>
          <p:cNvSpPr txBox="1"/>
          <p:nvPr/>
        </p:nvSpPr>
        <p:spPr>
          <a:xfrm>
            <a:off x="609600" y="247650"/>
            <a:ext cx="95250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度量什么，就得到什么</a:t>
            </a:r>
            <a:endParaRPr/>
          </a:p>
        </p:txBody>
      </p:sp>
      <p:sp>
        <p:nvSpPr>
          <p:cNvPr id="357" name="Rectangle 2"/>
          <p:cNvSpPr/>
          <p:nvPr/>
        </p:nvSpPr>
        <p:spPr>
          <a:xfrm>
            <a:off x="609600" y="781050"/>
            <a:ext cx="533400" cy="28575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TextBox 3"/>
          <p:cNvSpPr txBox="1"/>
          <p:nvPr/>
        </p:nvSpPr>
        <p:spPr>
          <a:xfrm>
            <a:off x="1295400" y="685800"/>
            <a:ext cx="9525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四个该看的指标，五个最常踩的坑</a:t>
            </a:r>
            <a:endParaRPr/>
          </a:p>
        </p:txBody>
      </p:sp>
      <p:sp>
        <p:nvSpPr>
          <p:cNvPr id="359" name="Rounded Rectangle 4"/>
          <p:cNvSpPr/>
          <p:nvPr/>
        </p:nvSpPr>
        <p:spPr>
          <a:xfrm>
            <a:off x="609600" y="1447800"/>
            <a:ext cx="5905500" cy="1028700"/>
          </a:xfrm>
          <a:prstGeom prst="roundRect">
            <a:avLst>
              <a:gd name="adj" fmla="val 9259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Rectangle 5"/>
          <p:cNvSpPr/>
          <p:nvPr/>
        </p:nvSpPr>
        <p:spPr>
          <a:xfrm>
            <a:off x="609600" y="1447800"/>
            <a:ext cx="38100" cy="10287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6"/>
          <p:cNvSpPr txBox="1"/>
          <p:nvPr/>
        </p:nvSpPr>
        <p:spPr>
          <a:xfrm>
            <a:off x="876300" y="1600200"/>
            <a:ext cx="228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采纳率</a:t>
            </a:r>
            <a:endParaRPr/>
          </a:p>
        </p:txBody>
      </p:sp>
      <p:sp>
        <p:nvSpPr>
          <p:cNvPr id="362" name="TextBox 7"/>
          <p:cNvSpPr txBox="1"/>
          <p:nvPr/>
        </p:nvSpPr>
        <p:spPr>
          <a:xfrm>
            <a:off x="3048000" y="1638300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看产出质量</a:t>
            </a:r>
            <a:endParaRPr/>
          </a:p>
        </p:txBody>
      </p:sp>
      <p:sp>
        <p:nvSpPr>
          <p:cNvPr id="363" name="TextBox 8"/>
          <p:cNvSpPr txBox="1"/>
          <p:nvPr/>
        </p:nvSpPr>
        <p:spPr>
          <a:xfrm>
            <a:off x="876300" y="1924050"/>
            <a:ext cx="5391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AI 产出被保留的比例。行业参照：建信金科代码智能生成采纳率超 30%。</a:t>
            </a:r>
            <a:endParaRPr/>
          </a:p>
        </p:txBody>
      </p:sp>
      <p:sp>
        <p:nvSpPr>
          <p:cNvPr id="364" name="Rounded Rectangle 9"/>
          <p:cNvSpPr/>
          <p:nvPr/>
        </p:nvSpPr>
        <p:spPr>
          <a:xfrm>
            <a:off x="609600" y="2590800"/>
            <a:ext cx="5905500" cy="1028700"/>
          </a:xfrm>
          <a:prstGeom prst="roundRect">
            <a:avLst>
              <a:gd name="adj" fmla="val 9259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Rectangle 10"/>
          <p:cNvSpPr/>
          <p:nvPr/>
        </p:nvSpPr>
        <p:spPr>
          <a:xfrm>
            <a:off x="609600" y="2590800"/>
            <a:ext cx="38100" cy="10287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TextBox 11"/>
          <p:cNvSpPr txBox="1"/>
          <p:nvPr/>
        </p:nvSpPr>
        <p:spPr>
          <a:xfrm>
            <a:off x="876300" y="2743200"/>
            <a:ext cx="228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返工率</a:t>
            </a:r>
            <a:endParaRPr/>
          </a:p>
        </p:txBody>
      </p:sp>
      <p:sp>
        <p:nvSpPr>
          <p:cNvPr id="367" name="TextBox 12"/>
          <p:cNvSpPr txBox="1"/>
          <p:nvPr/>
        </p:nvSpPr>
        <p:spPr>
          <a:xfrm>
            <a:off x="3048000" y="2781300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看过程成本</a:t>
            </a:r>
            <a:endParaRPr/>
          </a:p>
        </p:txBody>
      </p:sp>
      <p:sp>
        <p:nvSpPr>
          <p:cNvPr id="368" name="TextBox 13"/>
          <p:cNvSpPr txBox="1"/>
          <p:nvPr/>
        </p:nvSpPr>
        <p:spPr>
          <a:xfrm>
            <a:off x="876300" y="3067050"/>
            <a:ext cx="5391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AI 产出被打回重做的平均轮次，直接反映简报与规则文件的质量。</a:t>
            </a:r>
            <a:endParaRPr/>
          </a:p>
        </p:txBody>
      </p:sp>
      <p:sp>
        <p:nvSpPr>
          <p:cNvPr id="369" name="Rounded Rectangle 14"/>
          <p:cNvSpPr/>
          <p:nvPr/>
        </p:nvSpPr>
        <p:spPr>
          <a:xfrm>
            <a:off x="609600" y="3733800"/>
            <a:ext cx="5905500" cy="1028700"/>
          </a:xfrm>
          <a:prstGeom prst="roundRect">
            <a:avLst>
              <a:gd name="adj" fmla="val 9259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Rectangle 15"/>
          <p:cNvSpPr/>
          <p:nvPr/>
        </p:nvSpPr>
        <p:spPr>
          <a:xfrm>
            <a:off x="609600" y="3733800"/>
            <a:ext cx="38100" cy="10287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TextBox 16"/>
          <p:cNvSpPr txBox="1"/>
          <p:nvPr/>
        </p:nvSpPr>
        <p:spPr>
          <a:xfrm>
            <a:off x="876300" y="3886200"/>
            <a:ext cx="228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缺陷密度</a:t>
            </a:r>
            <a:endParaRPr/>
          </a:p>
        </p:txBody>
      </p:sp>
      <p:sp>
        <p:nvSpPr>
          <p:cNvPr id="372" name="TextBox 17"/>
          <p:cNvSpPr txBox="1"/>
          <p:nvPr/>
        </p:nvSpPr>
        <p:spPr>
          <a:xfrm>
            <a:off x="3048000" y="3924300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看质量底线</a:t>
            </a:r>
            <a:endParaRPr/>
          </a:p>
        </p:txBody>
      </p:sp>
      <p:sp>
        <p:nvSpPr>
          <p:cNvPr id="373" name="TextBox 18"/>
          <p:cNvSpPr txBox="1"/>
          <p:nvPr/>
        </p:nvSpPr>
        <p:spPr>
          <a:xfrm>
            <a:off x="876300" y="4210050"/>
            <a:ext cx="5391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AI 参与代码的千行缺陷数，对照纯人工基线——守住质量红线。</a:t>
            </a:r>
            <a:endParaRPr/>
          </a:p>
        </p:txBody>
      </p:sp>
      <p:sp>
        <p:nvSpPr>
          <p:cNvPr id="374" name="Rounded Rectangle 19"/>
          <p:cNvSpPr/>
          <p:nvPr/>
        </p:nvSpPr>
        <p:spPr>
          <a:xfrm>
            <a:off x="609600" y="4876800"/>
            <a:ext cx="5905500" cy="1028700"/>
          </a:xfrm>
          <a:prstGeom prst="roundRect">
            <a:avLst>
              <a:gd name="adj" fmla="val 9259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Rectangle 20"/>
          <p:cNvSpPr/>
          <p:nvPr/>
        </p:nvSpPr>
        <p:spPr>
          <a:xfrm>
            <a:off x="609600" y="4876800"/>
            <a:ext cx="38100" cy="10287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21"/>
          <p:cNvSpPr txBox="1"/>
          <p:nvPr/>
        </p:nvSpPr>
        <p:spPr>
          <a:xfrm>
            <a:off x="876300" y="5029200"/>
            <a:ext cx="228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端到端时长</a:t>
            </a:r>
            <a:endParaRPr/>
          </a:p>
        </p:txBody>
      </p:sp>
      <p:sp>
        <p:nvSpPr>
          <p:cNvPr id="377" name="TextBox 22"/>
          <p:cNvSpPr txBox="1"/>
          <p:nvPr/>
        </p:nvSpPr>
        <p:spPr>
          <a:xfrm>
            <a:off x="3048000" y="5067300"/>
            <a:ext cx="19050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0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看业务结果</a:t>
            </a:r>
            <a:endParaRPr/>
          </a:p>
        </p:txBody>
      </p:sp>
      <p:sp>
        <p:nvSpPr>
          <p:cNvPr id="378" name="TextBox 23"/>
          <p:cNvSpPr txBox="1"/>
          <p:nvPr/>
        </p:nvSpPr>
        <p:spPr>
          <a:xfrm>
            <a:off x="876300" y="5353050"/>
            <a:ext cx="5391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87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需求到上线的周期变化，这才是老板视角的真实收益。</a:t>
            </a:r>
            <a:endParaRPr/>
          </a:p>
        </p:txBody>
      </p:sp>
      <p:sp>
        <p:nvSpPr>
          <p:cNvPr id="379" name="TextBox 24"/>
          <p:cNvSpPr txBox="1"/>
          <p:nvPr/>
        </p:nvSpPr>
        <p:spPr>
          <a:xfrm>
            <a:off x="6934200" y="1447800"/>
            <a:ext cx="46482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五大高频误区</a:t>
            </a:r>
            <a:endParaRPr/>
          </a:p>
        </p:txBody>
      </p:sp>
      <p:sp>
        <p:nvSpPr>
          <p:cNvPr id="380" name="Rounded Rectangle 25"/>
          <p:cNvSpPr/>
          <p:nvPr/>
        </p:nvSpPr>
        <p:spPr>
          <a:xfrm>
            <a:off x="6934200" y="1809750"/>
            <a:ext cx="4648200" cy="552450"/>
          </a:xfrm>
          <a:prstGeom prst="roundRect">
            <a:avLst>
              <a:gd name="adj" fmla="val 15517"/>
            </a:avLst>
          </a:prstGeom>
          <a:solidFill>
            <a:srgbClr val="162132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TextBox 26"/>
          <p:cNvSpPr txBox="1"/>
          <p:nvPr/>
        </p:nvSpPr>
        <p:spPr>
          <a:xfrm>
            <a:off x="7124700" y="196215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1</a:t>
            </a:r>
            <a:endParaRPr/>
          </a:p>
        </p:txBody>
      </p:sp>
      <p:sp>
        <p:nvSpPr>
          <p:cNvPr id="382" name="TextBox 27"/>
          <p:cNvSpPr txBox="1"/>
          <p:nvPr/>
        </p:nvSpPr>
        <p:spPr>
          <a:xfrm>
            <a:off x="7486650" y="1885950"/>
            <a:ext cx="2095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2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统计“生成了多少行”</a:t>
            </a:r>
            <a:endParaRPr/>
          </a:p>
        </p:txBody>
      </p:sp>
      <p:sp>
        <p:nvSpPr>
          <p:cNvPr id="383" name="TextBox 28"/>
          <p:cNvSpPr txBox="1"/>
          <p:nvPr/>
        </p:nvSpPr>
        <p:spPr>
          <a:xfrm>
            <a:off x="7486650" y="2114550"/>
            <a:ext cx="3943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奖励注水行为——改看采纳后存活代码。</a:t>
            </a:r>
            <a:endParaRPr/>
          </a:p>
        </p:txBody>
      </p:sp>
      <p:sp>
        <p:nvSpPr>
          <p:cNvPr id="384" name="Rounded Rectangle 29"/>
          <p:cNvSpPr/>
          <p:nvPr/>
        </p:nvSpPr>
        <p:spPr>
          <a:xfrm>
            <a:off x="6934200" y="2438400"/>
            <a:ext cx="4648200" cy="552450"/>
          </a:xfrm>
          <a:prstGeom prst="roundRect">
            <a:avLst>
              <a:gd name="adj" fmla="val 15517"/>
            </a:avLst>
          </a:prstGeom>
          <a:solidFill>
            <a:srgbClr val="162132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30"/>
          <p:cNvSpPr txBox="1"/>
          <p:nvPr/>
        </p:nvSpPr>
        <p:spPr>
          <a:xfrm>
            <a:off x="7124700" y="259080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2</a:t>
            </a:r>
            <a:endParaRPr/>
          </a:p>
        </p:txBody>
      </p:sp>
      <p:sp>
        <p:nvSpPr>
          <p:cNvPr id="386" name="TextBox 31"/>
          <p:cNvSpPr txBox="1"/>
          <p:nvPr/>
        </p:nvSpPr>
        <p:spPr>
          <a:xfrm>
            <a:off x="7486650" y="2514600"/>
            <a:ext cx="2095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2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买工具不建规范</a:t>
            </a:r>
            <a:endParaRPr/>
          </a:p>
        </p:txBody>
      </p:sp>
      <p:sp>
        <p:nvSpPr>
          <p:cNvPr id="387" name="TextBox 32"/>
          <p:cNvSpPr txBox="1"/>
          <p:nvPr/>
        </p:nvSpPr>
        <p:spPr>
          <a:xfrm>
            <a:off x="7486650" y="2743200"/>
            <a:ext cx="3943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没有 AGENTS.md，20 个人 20 种用法，产出互不相认。</a:t>
            </a:r>
            <a:endParaRPr/>
          </a:p>
        </p:txBody>
      </p:sp>
      <p:sp>
        <p:nvSpPr>
          <p:cNvPr id="388" name="Rounded Rectangle 33"/>
          <p:cNvSpPr/>
          <p:nvPr/>
        </p:nvSpPr>
        <p:spPr>
          <a:xfrm>
            <a:off x="6934200" y="3067050"/>
            <a:ext cx="4648200" cy="552450"/>
          </a:xfrm>
          <a:prstGeom prst="roundRect">
            <a:avLst>
              <a:gd name="adj" fmla="val 15517"/>
            </a:avLst>
          </a:prstGeom>
          <a:solidFill>
            <a:srgbClr val="162132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TextBox 34"/>
          <p:cNvSpPr txBox="1"/>
          <p:nvPr/>
        </p:nvSpPr>
        <p:spPr>
          <a:xfrm>
            <a:off x="7124700" y="321945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3</a:t>
            </a:r>
            <a:endParaRPr/>
          </a:p>
        </p:txBody>
      </p:sp>
      <p:sp>
        <p:nvSpPr>
          <p:cNvPr id="390" name="TextBox 35"/>
          <p:cNvSpPr txBox="1"/>
          <p:nvPr/>
        </p:nvSpPr>
        <p:spPr>
          <a:xfrm>
            <a:off x="7486650" y="3143250"/>
            <a:ext cx="2095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2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让 Agent 拍架构决策</a:t>
            </a:r>
            <a:endParaRPr/>
          </a:p>
        </p:txBody>
      </p:sp>
      <p:sp>
        <p:nvSpPr>
          <p:cNvPr id="391" name="TextBox 36"/>
          <p:cNvSpPr txBox="1"/>
          <p:nvPr/>
        </p:nvSpPr>
        <p:spPr>
          <a:xfrm>
            <a:off x="7486650" y="3371850"/>
            <a:ext cx="3943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方案必须人审，Agent 交给你的默认是“最平均的答案”。</a:t>
            </a:r>
            <a:endParaRPr/>
          </a:p>
        </p:txBody>
      </p:sp>
      <p:sp>
        <p:nvSpPr>
          <p:cNvPr id="392" name="Rounded Rectangle 37"/>
          <p:cNvSpPr/>
          <p:nvPr/>
        </p:nvSpPr>
        <p:spPr>
          <a:xfrm>
            <a:off x="6934200" y="3695700"/>
            <a:ext cx="4648200" cy="552450"/>
          </a:xfrm>
          <a:prstGeom prst="roundRect">
            <a:avLst>
              <a:gd name="adj" fmla="val 15517"/>
            </a:avLst>
          </a:prstGeom>
          <a:solidFill>
            <a:srgbClr val="162132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TextBox 38"/>
          <p:cNvSpPr txBox="1"/>
          <p:nvPr/>
        </p:nvSpPr>
        <p:spPr>
          <a:xfrm>
            <a:off x="7124700" y="384810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4</a:t>
            </a:r>
            <a:endParaRPr/>
          </a:p>
        </p:txBody>
      </p:sp>
      <p:sp>
        <p:nvSpPr>
          <p:cNvPr id="394" name="TextBox 39"/>
          <p:cNvSpPr txBox="1"/>
          <p:nvPr/>
        </p:nvSpPr>
        <p:spPr>
          <a:xfrm>
            <a:off x="7486650" y="3771900"/>
            <a:ext cx="2095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2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一次派整个模块</a:t>
            </a:r>
            <a:endParaRPr/>
          </a:p>
        </p:txBody>
      </p:sp>
      <p:sp>
        <p:nvSpPr>
          <p:cNvPr id="395" name="TextBox 40"/>
          <p:cNvSpPr txBox="1"/>
          <p:nvPr/>
        </p:nvSpPr>
        <p:spPr>
          <a:xfrm>
            <a:off x="7486650" y="4000500"/>
            <a:ext cx="3943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回滚成本爆炸，切回增量循环。</a:t>
            </a:r>
            <a:endParaRPr/>
          </a:p>
        </p:txBody>
      </p:sp>
      <p:sp>
        <p:nvSpPr>
          <p:cNvPr id="396" name="Rounded Rectangle 41"/>
          <p:cNvSpPr/>
          <p:nvPr/>
        </p:nvSpPr>
        <p:spPr>
          <a:xfrm>
            <a:off x="6934200" y="4324350"/>
            <a:ext cx="4648200" cy="552450"/>
          </a:xfrm>
          <a:prstGeom prst="roundRect">
            <a:avLst>
              <a:gd name="adj" fmla="val 15517"/>
            </a:avLst>
          </a:prstGeom>
          <a:solidFill>
            <a:srgbClr val="162132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TextBox 42"/>
          <p:cNvSpPr txBox="1"/>
          <p:nvPr/>
        </p:nvSpPr>
        <p:spPr>
          <a:xfrm>
            <a:off x="7124700" y="4476750"/>
            <a:ext cx="285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C8DFF"/>
                </a:solidFill>
                <a:latin typeface="Consolas"/>
                <a:ea typeface="Consolas"/>
                <a:cs typeface="Consolas"/>
              </a:rPr>
              <a:t>5</a:t>
            </a:r>
            <a:endParaRPr/>
          </a:p>
        </p:txBody>
      </p:sp>
      <p:sp>
        <p:nvSpPr>
          <p:cNvPr id="398" name="TextBox 43"/>
          <p:cNvSpPr txBox="1"/>
          <p:nvPr/>
        </p:nvSpPr>
        <p:spPr>
          <a:xfrm>
            <a:off x="7486650" y="4400550"/>
            <a:ext cx="2095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2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把输出当终稿</a:t>
            </a:r>
            <a:endParaRPr/>
          </a:p>
        </p:txBody>
      </p:sp>
      <p:sp>
        <p:nvSpPr>
          <p:cNvPr id="399" name="TextBox 44"/>
          <p:cNvSpPr txBox="1"/>
          <p:nvPr/>
        </p:nvSpPr>
        <p:spPr>
          <a:xfrm>
            <a:off x="7486650" y="4629150"/>
            <a:ext cx="3943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 i="0">
                <a:solidFill>
                  <a:srgbClr val="8A94A6"/>
                </a:solidFill>
                <a:latin typeface="Microsoft YaHei"/>
                <a:ea typeface="Microsoft YaHei"/>
                <a:cs typeface="Microsoft YaHei"/>
              </a:rPr>
              <a:t>测试、评审、审计一样不能省——它写得快，不代表你可以审得快。</a:t>
            </a:r>
            <a:endParaRPr/>
          </a:p>
        </p:txBody>
      </p:sp>
      <p:sp>
        <p:nvSpPr>
          <p:cNvPr id="400" name="Rounded Rectangle 45"/>
          <p:cNvSpPr/>
          <p:nvPr/>
        </p:nvSpPr>
        <p:spPr>
          <a:xfrm>
            <a:off x="6934200" y="5029200"/>
            <a:ext cx="4648200" cy="1047750"/>
          </a:xfrm>
          <a:prstGeom prst="roundRect">
            <a:avLst>
              <a:gd name="adj" fmla="val 9090"/>
            </a:avLst>
          </a:prstGeom>
          <a:solidFill>
            <a:srgbClr val="132B3A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TextBox 46"/>
          <p:cNvSpPr txBox="1"/>
          <p:nvPr/>
        </p:nvSpPr>
        <p:spPr>
          <a:xfrm>
            <a:off x="7124700" y="5181600"/>
            <a:ext cx="42672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本课判断：</a:t>
            </a:r>
            <a:r>
              <a:rPr sz="1200" b="0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度量是行为的指挥棒——指标错了，团队会精准地跑向错误方向。</a:t>
            </a:r>
            <a:endParaRPr/>
          </a:p>
        </p:txBody>
      </p:sp>
      <p:sp>
        <p:nvSpPr>
          <p:cNvPr id="402" name="Rounded Rectangle 47"/>
          <p:cNvSpPr/>
          <p:nvPr/>
        </p:nvSpPr>
        <p:spPr>
          <a:xfrm>
            <a:off x="609600" y="65532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143140"/>
          </a:solidFill>
          <a:ln w="12700">
            <a:solidFill>
              <a:srgbClr val="20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TextBox 48"/>
          <p:cNvSpPr txBox="1"/>
          <p:nvPr/>
        </p:nvSpPr>
        <p:spPr>
          <a:xfrm>
            <a:off x="838200" y="651510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落地篇</a:t>
            </a:r>
            <a:endParaRPr/>
          </a:p>
        </p:txBody>
      </p:sp>
      <p:sp>
        <p:nvSpPr>
          <p:cNvPr id="404" name="TextBox 49"/>
          <p:cNvSpPr txBox="1"/>
          <p:nvPr/>
        </p:nvSpPr>
        <p:spPr>
          <a:xfrm>
            <a:off x="9525000" y="6515100"/>
            <a:ext cx="2057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20 / 21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F1B2D"/>
        </a:solidFill>
        <a:effectLst/>
      </p:bgPr>
    </p:bg>
    <p:spTree>
      <p:nvGrpSpPr>
        <p:cNvPr id="4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5D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Rounded Rectangle 2"/>
          <p:cNvSpPr/>
          <p:nvPr/>
        </p:nvSpPr>
        <p:spPr>
          <a:xfrm>
            <a:off x="-952500" y="-13335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16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Rounded Rectangle 3"/>
          <p:cNvSpPr/>
          <p:nvPr/>
        </p:nvSpPr>
        <p:spPr>
          <a:xfrm>
            <a:off x="9525000" y="3810000"/>
            <a:ext cx="4953000" cy="4953000"/>
          </a:xfrm>
          <a:prstGeom prst="roundRect">
            <a:avLst>
              <a:gd name="adj" fmla="val 50000"/>
            </a:avLst>
          </a:prstGeom>
          <a:solidFill>
            <a:srgbClr val="1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TextBox 4"/>
          <p:cNvSpPr txBox="1"/>
          <p:nvPr/>
        </p:nvSpPr>
        <p:spPr>
          <a:xfrm>
            <a:off x="1524000" y="1428750"/>
            <a:ext cx="9144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250" b="1" i="0">
                <a:solidFill>
                  <a:srgbClr val="2A5A5F"/>
                </a:solidFill>
                <a:latin typeface="Consolas"/>
                <a:ea typeface="Consolas"/>
                <a:cs typeface="Consolas"/>
              </a:rPr>
              <a:t>“</a:t>
            </a:r>
            <a:endParaRPr/>
          </a:p>
        </p:txBody>
      </p:sp>
      <p:sp>
        <p:nvSpPr>
          <p:cNvPr id="410" name="TextBox 5"/>
          <p:cNvSpPr txBox="1"/>
          <p:nvPr/>
        </p:nvSpPr>
        <p:spPr>
          <a:xfrm>
            <a:off x="1524000" y="2286000"/>
            <a:ext cx="914400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33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决定产出的不是模型，</a:t>
            </a:r>
            <a:endParaRPr/>
          </a:p>
          <a:p>
            <a:pPr algn="ctr">
              <a:lnSpc>
                <a:spcPct val="150000"/>
              </a:lnSpc>
            </a:pPr>
            <a:r>
              <a:rPr sz="33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而是</a:t>
            </a:r>
            <a:r>
              <a:rPr sz="3300" b="1" i="0">
                <a:solidFill>
                  <a:srgbClr val="35D0BA"/>
                </a:solidFill>
                <a:latin typeface="Microsoft YaHei"/>
                <a:ea typeface="Microsoft YaHei"/>
                <a:cs typeface="Microsoft YaHei"/>
              </a:rPr>
              <a:t>你给它的上下文与边界</a:t>
            </a:r>
            <a:r>
              <a:rPr sz="3300" b="1" i="0">
                <a:solidFill>
                  <a:srgbClr val="E8EDF5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/>
          </a:p>
        </p:txBody>
      </p:sp>
      <p:sp>
        <p:nvSpPr>
          <p:cNvPr id="411" name="TextBox 6"/>
          <p:cNvSpPr txBox="1"/>
          <p:nvPr/>
        </p:nvSpPr>
        <p:spPr>
          <a:xfrm>
            <a:off x="1524000" y="4000500"/>
            <a:ext cx="9144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0" i="0">
                <a:solidFill>
                  <a:srgbClr val="A6ADB8"/>
                </a:solidFill>
                <a:latin typeface="Microsoft YaHei"/>
                <a:ea typeface="Microsoft YaHei"/>
                <a:cs typeface="Microsoft YaHei"/>
              </a:rPr>
              <a:t>把默契写进仓库，Agent 才会成为团队的一员。</a:t>
            </a:r>
            <a:endParaRPr/>
          </a:p>
        </p:txBody>
      </p:sp>
      <p:sp>
        <p:nvSpPr>
          <p:cNvPr id="412" name="Rounded Rectangle 7"/>
          <p:cNvSpPr/>
          <p:nvPr/>
        </p:nvSpPr>
        <p:spPr>
          <a:xfrm>
            <a:off x="1524000" y="4667250"/>
            <a:ext cx="2933700" cy="1047750"/>
          </a:xfrm>
          <a:prstGeom prst="roundRect">
            <a:avLst>
              <a:gd name="adj" fmla="val 909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TextBox 8"/>
          <p:cNvSpPr txBox="1"/>
          <p:nvPr/>
        </p:nvSpPr>
        <p:spPr>
          <a:xfrm>
            <a:off x="1714500" y="4781550"/>
            <a:ext cx="762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01</a:t>
            </a:r>
            <a:endParaRPr/>
          </a:p>
        </p:txBody>
      </p:sp>
      <p:sp>
        <p:nvSpPr>
          <p:cNvPr id="414" name="TextBox 9"/>
          <p:cNvSpPr txBox="1"/>
          <p:nvPr/>
        </p:nvSpPr>
        <p:spPr>
          <a:xfrm>
            <a:off x="1714500" y="5105400"/>
            <a:ext cx="25527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2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本周内为自己的仓库建一个 AGENTS.md（手写，&lt; 150 行）</a:t>
            </a:r>
            <a:endParaRPr/>
          </a:p>
        </p:txBody>
      </p:sp>
      <p:sp>
        <p:nvSpPr>
          <p:cNvPr id="415" name="Rounded Rectangle 10"/>
          <p:cNvSpPr/>
          <p:nvPr/>
        </p:nvSpPr>
        <p:spPr>
          <a:xfrm>
            <a:off x="4610100" y="4667250"/>
            <a:ext cx="2933700" cy="1047750"/>
          </a:xfrm>
          <a:prstGeom prst="roundRect">
            <a:avLst>
              <a:gd name="adj" fmla="val 909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TextBox 11"/>
          <p:cNvSpPr txBox="1"/>
          <p:nvPr/>
        </p:nvSpPr>
        <p:spPr>
          <a:xfrm>
            <a:off x="4800600" y="4781550"/>
            <a:ext cx="762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02</a:t>
            </a:r>
            <a:endParaRPr/>
          </a:p>
        </p:txBody>
      </p:sp>
      <p:sp>
        <p:nvSpPr>
          <p:cNvPr id="417" name="TextBox 12"/>
          <p:cNvSpPr txBox="1"/>
          <p:nvPr/>
        </p:nvSpPr>
        <p:spPr>
          <a:xfrm>
            <a:off x="4800600" y="5105400"/>
            <a:ext cx="25527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2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用一个真实小需求跑通一轮“拆-派-验-收”增量循环</a:t>
            </a:r>
            <a:endParaRPr/>
          </a:p>
        </p:txBody>
      </p:sp>
      <p:sp>
        <p:nvSpPr>
          <p:cNvPr id="418" name="Rounded Rectangle 13"/>
          <p:cNvSpPr/>
          <p:nvPr/>
        </p:nvSpPr>
        <p:spPr>
          <a:xfrm>
            <a:off x="7696200" y="4667250"/>
            <a:ext cx="2933700" cy="1047750"/>
          </a:xfrm>
          <a:prstGeom prst="roundRect">
            <a:avLst>
              <a:gd name="adj" fmla="val 9090"/>
            </a:avLst>
          </a:prstGeom>
          <a:solidFill>
            <a:srgbClr val="1C2839"/>
          </a:solidFill>
          <a:ln w="12700">
            <a:solidFill>
              <a:srgbClr val="293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TextBox 14"/>
          <p:cNvSpPr txBox="1"/>
          <p:nvPr/>
        </p:nvSpPr>
        <p:spPr>
          <a:xfrm>
            <a:off x="7886700" y="4781550"/>
            <a:ext cx="762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35D0BA"/>
                </a:solidFill>
                <a:latin typeface="Consolas"/>
                <a:ea typeface="Consolas"/>
                <a:cs typeface="Consolas"/>
              </a:rPr>
              <a:t>03</a:t>
            </a:r>
            <a:endParaRPr/>
          </a:p>
        </p:txBody>
      </p:sp>
      <p:sp>
        <p:nvSpPr>
          <p:cNvPr id="420" name="TextBox 15"/>
          <p:cNvSpPr txBox="1"/>
          <p:nvPr/>
        </p:nvSpPr>
        <p:spPr>
          <a:xfrm>
            <a:off x="7886700" y="5105400"/>
            <a:ext cx="25527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25" b="0" i="0">
                <a:solidFill>
                  <a:srgbClr val="BCC3CD"/>
                </a:solidFill>
                <a:latin typeface="Microsoft YaHei"/>
                <a:ea typeface="Microsoft YaHei"/>
                <a:cs typeface="Microsoft YaHei"/>
              </a:rPr>
              <a:t>对照安全四件套自查权限，补上调用审计</a:t>
            </a:r>
            <a:endParaRPr/>
          </a:p>
        </p:txBody>
      </p:sp>
      <p:sp>
        <p:nvSpPr>
          <p:cNvPr id="421" name="TextBox 16"/>
          <p:cNvSpPr txBox="1"/>
          <p:nvPr/>
        </p:nvSpPr>
        <p:spPr>
          <a:xfrm>
            <a:off x="1524000" y="609600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0" i="0">
                <a:solidFill>
                  <a:srgbClr val="7B8494"/>
                </a:solidFill>
                <a:latin typeface="Microsoft YaHei"/>
                <a:ea typeface="Microsoft YaHei"/>
                <a:cs typeface="Microsoft YaHei"/>
              </a:rPr>
              <a:t>Coding Agent 实战指南 · 研发效能内训 · 2026.10</a:t>
            </a:r>
            <a:endParaRPr/>
          </a:p>
        </p:txBody>
      </p:sp>
      <p:sp>
        <p:nvSpPr>
          <p:cNvPr id="422" name="TextBox 17"/>
          <p:cNvSpPr txBox="1"/>
          <p:nvPr/>
        </p:nvSpPr>
        <p:spPr>
          <a:xfrm>
            <a:off x="6858000" y="60960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25" b="0" i="0">
                <a:solidFill>
                  <a:srgbClr val="7B8494"/>
                </a:solidFill>
                <a:latin typeface="Consolas"/>
                <a:ea typeface="Consolas"/>
                <a:cs typeface="Consolas"/>
              </a:rPr>
              <a:t>21 / 21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2026-10-08T17:08:03Z</dcterms:created>
  <dcterms:modified xsi:type="dcterms:W3CDTF">2026-10-08T17:08:03Z</dcterms:modified>
</cp:coreProperties>
</file>