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开场钩子（两问，30 秒）：</a:t>
            </a:r>
          </a:p>
          <a:p>
            <a:r>
              <a:t>在座多少人已经在用 AI 写代码？——再问：多少人敢让它直接改一个横跨五个文件的真实需求？这个落差，就是今天要补的东西。</a:t>
            </a:r>
          </a:p>
          <a:p/>
          <a:p>
            <a:r>
              <a:t>三件事先说明白：</a:t>
            </a:r>
          </a:p>
          <a:p>
            <a:r>
              <a:t>① 不绑定工具：今天讲的方法，换任何一个 Agent 原样生效；</a:t>
            </a:r>
          </a:p>
          <a:p>
            <a:r>
              <a:t>② 结构：第 1 章定工具，第 2 章看真实效果，后四章讲方法；</a:t>
            </a:r>
          </a:p>
          <a:p>
            <a:r>
              <a:t>③ 随时打断提问。</a:t>
            </a:r>
          </a:p>
          <a:p/>
          <a:p>
            <a:r>
              <a:t>时间分配参考：第 1 章 15 分钟、第 2 章 10 分钟、第 3 章 10 分钟、第 4 章 25 分钟、第 5 章 25 分钟、第 6 章 15 分钟。时间紧就砍第 6 章最后两页。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这一页别逐条念，停 20 秒。</a:t>
            </a:r>
          </a:p>
          <a:p/>
          <a:p>
            <a:r>
              <a:t>主线一句话：先看有哪些工具 → 相信它真能做到 → 理解那条约束 → 单次任务的标准动作 → 上下文怎么搭 → 团队怎么起来。</a:t>
            </a:r>
          </a:p>
          <a:p/>
          <a:p>
            <a:r>
              <a:t>如果有人问“为什么不直接讲技巧”：技巧在第 4、5 章，但不先理解第 3 章那条约束，技巧只能靠背。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这一章的目的不是让大家记住市占率，是接受两件事：</a:t>
            </a:r>
          </a:p>
          <a:p>
            <a:r>
              <a:t>① 排行榜半年换一遍，别把选型押在当期第一名；</a:t>
            </a:r>
          </a:p>
          <a:p>
            <a:r>
              <a:t>② 选型看的是「形态」与「合规边界」，不是品牌。</a:t>
            </a:r>
          </a:p>
          <a:p/>
          <a:p>
            <a:r>
              <a:t>提醒：本章不可避免地出现产品名（选型避不开），从第 3 章起不再出现任何产品名。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数字只念两个：90% 的人每周在用；七个月里两个翻倍、两个下滑（Claude Code 18%→39%，Codex 3%→16%；Copilot 29%→21%，Cursor 18%→12%）。</a:t>
            </a:r>
          </a:p>
          <a:p/>
          <a:p>
            <a:r>
              <a:t>其余让听众自己看条的长度，不要逐个念。</a:t>
            </a:r>
          </a:p>
          <a:p/>
          <a:p>
            <a:r>
              <a:t>有人追问时的补充：</a:t>
            </a:r>
          </a:p>
          <a:p>
            <a:r>
              <a:t>DeepSeek Harness，2026-08 开源，MIT，发布两周 GitHub 破 3 万星；Pi，2026-10 发布 1.0，MIT，极简终端智能体。两者都未进该调研口径。</a:t>
            </a:r>
          </a:p>
          <a:p/>
          <a:p>
            <a:r>
              <a:t>出处：JetBrains《Developer Ecosystem Survey 2026》，15,000+ 职业开发者，2026-05 至 07 田野期。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数据口径先声明：企业侧份额是 IDC《中国 AI 编程市场》报告的二手引用，个人侧是媒体引用口径。课前建议核一遍原始报告再讲。</a:t>
            </a:r>
          </a:p>
          <a:p/>
          <a:p>
            <a:r>
              <a:t>品牌注（有人问起就这么答）：ZCode 是智谱当前主推的编程智能体，CodeGeeX 是其早期的 IDE 插件品牌。</a:t>
            </a:r>
          </a:p>
          <a:p/>
          <a:p>
            <a:r>
              <a:t>这一页真正值钱的观察：MiniMax Code 与 MiMo Code 都直接基于开源 OpenCode 构建——连模型厂商都不自己写 harness。这句话直接引出下一页。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⑧：dsh › 液体处理平台 › main。可以在这里现场切过去跑一段：同一个模型，换一个 harness 就是另一个 Agent。</a:t>
            </a:r>
          </a:p>
          <a:p/>
          <a:p>
            <a:r>
              <a:t>⚠ 课前必做：dsh 目前是 v0.1 预览版，接口有破坏性变更。请提前确认现场环境能正常跑，并准备一个备选 demo，不要在课上翻车。</a:t>
            </a:r>
          </a:p>
          <a:p/>
          <a:p>
            <a:r>
              <a:t>留给观众的一句：模型是大脑，harness 是执行神经系统。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章的结论页之一。</a:t>
            </a:r>
          </a:p>
          <a:p/>
          <a:p>
            <a:r>
              <a:t>最容易讲错的地方：开源 / 自托管不是第六种形态，是可以叠加在任意形态上的另一条线——中间那条横带就是在提醒这个。</a:t>
            </a:r>
          </a:p>
          <a:p/>
          <a:p>
            <a:r>
              <a:t>现场互动：问“你们手上的工具属于哪一列？”答案通常集中在 IDE 插件和命令行两列，正好接下一页的三步漏斗。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按顺序讲三步，别跳。</a:t>
            </a:r>
          </a:p>
          <a:p/>
          <a:p>
            <a:r>
              <a:t>第 03 步「跑满两周」值得停顿：第一天的新鲜感会骗人，很多团队第一天就下结论，第二周推翻重选。</a:t>
            </a:r>
          </a:p>
          <a:p/>
          <a:p>
            <a:r>
              <a:t>收尾强调：工具统一的产出不是“选到最好的”，是“大家用同一个”——规则文件、技能库、钩子配置要沉淀在同一套工具上。</a:t>
            </a:r>
          </a:p>
          <a:p/>
          <a:p>
            <a:r>
              <a:t>衔接下一章：选定了工具，先看它在真实项目里做到过什么。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这一章只有一张表，作用是建立信任，不要在这里讲方法。</a:t>
            </a:r>
          </a:p>
          <a:p/>
          <a:p>
            <a:r>
              <a:t>节奏：每段会话 60–90 秒，说清“当时要做什么”和“结果怎样”，点到为止。方法是后面几章的事。</a:t>
            </a:r>
          </a:p>
          <a:p/>
          <a:p>
            <a:r>
              <a:t>建议从 ① 开场（最朴素的用法，先立住印象），至少现场演示 ②（先出方案）和 ④（换上下文挑刺）。如果只够一段，选 ④——反差最大。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会话坐标（页面上刻意不写，避免把内部项目信息投影出去）。顺序由表格自动生成，与表格逐行一致——从上往下就是讲课顺序：</a:t>
            </a:r>
          </a:p>
          <a:p>
            <a:r>
              <a:t>① 最简单的用法 → Zcode › V3 › third · 消息 1–2</a:t>
            </a:r>
          </a:p>
          <a:p>
            <a:r>
              <a:t>② 先计划再执行 → Zcode › StdCommuProtocol › minor · 倒数第 2–1 条</a:t>
            </a:r>
          </a:p>
          <a:p>
            <a:r>
              <a:t>③ 改完一个问题后 → Zcode › StdCommuProtocol › minor · 消息 1–6</a:t>
            </a:r>
          </a:p>
          <a:p>
            <a:r>
              <a:t>④ 对抗式审查 → Zcode › StdCommuProtocol › main · 消息 3–9</a:t>
            </a:r>
          </a:p>
          <a:p>
            <a:r>
              <a:t>⑤ 与同事同改一个项目时 → Zcode › V3 › main · 倒数第 13–10 条</a:t>
            </a:r>
          </a:p>
          <a:p>
            <a:r>
              <a:t>⑥ 给确定的设计图 → Zcode › V3 › main · 拉到底后第 3–4 条</a:t>
            </a:r>
          </a:p>
          <a:p>
            <a:r>
              <a:t>⑦ 同事发来新版 dll → Zcode › V3 › minor · 拉到底后第 5–9 条</a:t>
            </a:r>
          </a:p>
          <a:p>
            <a:r>
              <a:t>⑧ 开源 harness 的实机演示 → dsh › 液体处理平台 › main</a:t>
            </a:r>
          </a:p>
          <a:p/>
          <a:p>
            <a:r>
              <a:t>① 是基线（最朴素的用法，先立住这个印象）；②③④ 连着在同一个通信协议库里讲完，不用中途切仓库；⑤⑥⑦ 在第二个项目；⑧ 在开源底座上。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这一章回答“为什么这套方法有效”，而不是碰巧有用。讲慢一点，它是后面所有内容的父节点。</a:t>
            </a:r>
          </a:p>
          <a:p/>
          <a:p>
            <a:r>
              <a:t>听众里“用过”和“没用过”差别很大时，这一章对没用过的人更重要——它决定了他们会不会把后面的方法当成玄学。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3–4 分钟讲，这是全场唯一的“物理规律”。</a:t>
            </a:r>
          </a:p>
          <a:p/>
          <a:p>
            <a:r>
              <a:t>三个现象用自己的经历印证，别照读：铺垫一句“有没有遇到过它越改越蠢、明明说过的约束它又违反？”——那就是窗口满了。</a:t>
            </a:r>
          </a:p>
          <a:p/>
          <a:p>
            <a:r>
              <a:t>推论一、推论二讲的是怎么省上下文，推论三讲的是怎么把上下文花对地方。三条推论都是后面所有做法的父节点，第 5 章会一层层展开。这里只留印象。</a:t>
            </a:r>
          </a:p>
          <a:p/>
          <a:p>
            <a:r>
              <a:t>【推论三怎么讲】页面上的“结构”“消解”是书面语，不要照读，翻成一句大白话：</a:t>
            </a:r>
          </a:p>
          <a:p>
            <a:r>
              <a:t>它做错了，你再解释一遍是最贵的做法——话说得越来越多，窗口越来越满，可它到底对不对，你仍然不知道。不如让它跑一次测试或编译，红就是红、绿就是绿，这个结论不用你描述，它自己会读。</a:t>
            </a:r>
          </a:p>
          <a:p/>
          <a:p>
            <a:r>
              <a:t>现场举例（任选一个，别两个都讲）：</a:t>
            </a:r>
          </a:p>
          <a:p>
            <a:r>
              <a:t>· 让它改完自己跑单测，把失败的 3 条原样贴回去，比你写三段“注意这里要怎样”有效得多。</a:t>
            </a:r>
          </a:p>
          <a:p>
            <a:r>
              <a:t>· 编译/类型报错：把报错原文丢给它，比你复述“大概是那个类型转换的问题”有效得多。</a:t>
            </a:r>
          </a:p>
          <a:p/>
          <a:p>
            <a:r>
              <a:t>一句话收口：解释是花钱买它的理解，验证是花钱买一个能判定的结论——同样消耗上下文，后者划算。</a:t>
            </a:r>
          </a:p>
          <a:p/>
          <a:p>
            <a:r>
              <a:t>常见质疑：“我就多说两句怎么了？”——一次两次没事，但这是每天几十次的习惯，而且解释到第三遍时，确定性基本不再上涨。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核心句式让听众复述一遍：过去我在执行环节，现在我在边界环节和验收环节。</a:t>
            </a:r>
          </a:p>
          <a:p/>
          <a:p>
            <a:r>
              <a:t>最容易被挑战：有人说“它写得没我快”。用下方那句回应——评价交付工具要看是否省掉了整个下午，不是看打字速度。</a:t>
            </a:r>
          </a:p>
          <a:p/>
          <a:p>
            <a:r>
              <a:t>如果现场有管理者，这是他们最需要转变的一页。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从这一章开始进实操，时间给够（建议 25 分钟）。每页都留一个“下周就能用”的动作。</a:t>
            </a:r>
          </a:p>
          <a:p/>
          <a:p>
            <a:r>
              <a:t>四页顺序：先给可运行的验证 → 把提示词改具体 → 单次任务的四步动作 → 大特性的采访式起手。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③：Zcode › StdCommuProtocol › minor · 消息 1–6（改完让它自己回头查一遍）。</a:t>
            </a:r>
          </a:p>
          <a:p/>
          <a:p>
            <a:r>
              <a:t>一句话概括本页：别让你自己成为验证回路。</a:t>
            </a:r>
          </a:p>
          <a:p/>
          <a:p>
            <a:r>
              <a:t>一定要强调“它的检查通过 ≠ 你的验收通过”，两者是不同层级，上线前仍需端到端确认——否则有人会把 AI 的自检当上线依据。</a:t>
            </a:r>
          </a:p>
          <a:p/>
          <a:p>
            <a:r>
              <a:t>四级闸门不必全用：L1 今天就能用，L4 是无人值守的前提。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⑥：Zcode › V3 › main · 拉到底后第 3–4 条（给确定的设计图，而不是一句“做得好看点”）。</a:t>
            </a:r>
          </a:p>
          <a:p/>
          <a:p>
            <a:r>
              <a:t>三组对照，一组 40 秒。念“改写前”时带点调侃，听众会笑着认出自己。</a:t>
            </a:r>
          </a:p>
          <a:p/>
          <a:p>
            <a:r>
              <a:t>把自检句式留给观众：把“完成定义”盖住，如果你判断不了它算不算完成，它就不够具体。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②⑤⑦：</a:t>
            </a:r>
          </a:p>
          <a:p>
            <a:r>
              <a:t>② Zcode › StdCommuProtocol › minor · 倒数第 2–1 条</a:t>
            </a:r>
          </a:p>
          <a:p>
            <a:r>
              <a:t>⑤ Zcode › V3 › main · 倒数第 13–10 条</a:t>
            </a:r>
          </a:p>
          <a:p>
            <a:r>
              <a:t>⑦ Zcode › V3 › minor · 拉到底后第 5–9 条</a:t>
            </a:r>
          </a:p>
          <a:p/>
          <a:p>
            <a:r>
              <a:t>四步里最常被跳过的是「探索」——多数人第一句话就是“改一下这个函数”。</a:t>
            </a:r>
          </a:p>
          <a:p/>
          <a:p>
            <a:r>
              <a:t>右下角「何时跳过规划」一定要讲，否则听众会觉得这套流程太重、落不了地。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这一页现场效果最好。把那句邀请直接投出来让大家抄：</a:t>
            </a:r>
          </a:p>
          <a:p>
            <a:r>
              <a:t>“我想构建 X。请详细采访我：技术实现、UI/UX、边界情况、顾虑与权衡。不问显而易见的，深挖我可能没考虑到的。”</a:t>
            </a:r>
          </a:p>
          <a:p/>
          <a:p>
            <a:r>
              <a:t>提醒：采访产出的规格必须落成文件。口头聊完直接开干等于没做，而且会同时污染上下文和代码。</a:t>
            </a:r>
          </a:p>
          <a:p/>
          <a:p>
            <a:r>
              <a:t>合格的规格三条：自包含、有边界、可验收。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这一章是这门手艺的主体，建议 25 分钟以上，自底向上讲：规则 → 任务 → 能力 → 会话。</a:t>
            </a:r>
          </a:p>
          <a:p/>
          <a:p>
            <a:r>
              <a:t>开场锚点（下一页）那张五层图必须讲透，后面四页是逐层展开。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锚点页。</a:t>
            </a:r>
          </a:p>
          <a:p/>
          <a:p>
            <a:r>
              <a:t>模型层已在第 3 章讲过，这里一句话带过，不要展开——听众会以为还要讲模型选型。</a:t>
            </a:r>
          </a:p>
          <a:p/>
          <a:p>
            <a:r>
              <a:t>留给观众记的一句：模型的差距是线性的，上下文结构的差距是乘性的。</a:t>
            </a:r>
          </a:p>
          <a:p/>
          <a:p>
            <a:r>
              <a:t>②③④ 三层是团队真正能动的，下面四页分别讲。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全场最容易立刻执行的一页：今天就为自己的主仓库写一份，控制在 100 行以内。</a:t>
            </a:r>
          </a:p>
          <a:p/>
          <a:p>
            <a:r>
              <a:t>让听众记住这句：每一行都问一遍“删掉这行会让它犯错吗？”答不上来就删。</a:t>
            </a:r>
          </a:p>
          <a:p/>
          <a:p>
            <a:r>
              <a:t>提前点破误区：把代码规范、API 文档、逐文件描述全塞进去——那会把真正重要的指令淹没。</a:t>
            </a:r>
          </a:p>
          <a:p/>
          <a:p>
            <a:r>
              <a:t>右侧排错指南可以现场用：已经写了规则文件还踩坑的，按这三行自查。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⑤：Zcode › V3 › main · 倒数第 13–10 条（同事改了同一个项目，问题不一定是 AI 引入的）。</a:t>
            </a:r>
          </a:p>
          <a:p/>
          <a:p>
            <a:r>
              <a:t>四种策略各给一个例子就够。重点是右下角「任务简报四要素」——这是听众能直接照着写的模板。</a:t>
            </a:r>
          </a:p>
          <a:p/>
          <a:p>
            <a:r>
              <a:t>别讲成一刀切：探索期可以用模糊提示找灵感，交付期必须给出可判定的验收。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一句话区分：技能 = 共享内容（加载进主窗口），子智能体 = 隔离消耗（独立上下文，只回传摘要）。</a:t>
            </a:r>
          </a:p>
          <a:p/>
          <a:p>
            <a:r>
              <a:t>选错的代价要讲清楚：把重型调研直接放进主对话，窗口就是这么被悄悄吃掉的——很多人不知道自己为什么中途变蠢了。</a:t>
            </a:r>
          </a:p>
          <a:p/>
          <a:p>
            <a:r>
              <a:t>五种机制的细节留给资料，台上只讲这一对。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这一页回答“我是不是得先把这些全配好”——不用。每个机制都有一个可识别的触发信号。</a:t>
            </a:r>
          </a:p>
          <a:p/>
          <a:p>
            <a:r>
              <a:t>最好用的一条：同一段开场提示词你打第三遍了 → 存成技能。几乎人人都有过。</a:t>
            </a:r>
          </a:p>
          <a:p/>
          <a:p>
            <a:r>
              <a:t>右侧竖排那句是本页主旨：配置顺序由问题决定，先有问题，再有配置。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硬规则必须讲：同一问题上纠正了两次 → 立刻清理上下文重开会话。很多人舍不得丢那段历史。</a:t>
            </a:r>
          </a:p>
          <a:p/>
          <a:p>
            <a:r>
              <a:t>⚠ 必须强调：检查点只追踪编辑工具产生的改动，不能替代 git。否则真有人拿它当版本管理。</a:t>
            </a:r>
          </a:p>
          <a:p/>
          <a:p>
            <a:r>
              <a:t>「会话当分支」是最容易被忽略的好习惯：每条工作流一个命名会话（如 oauth-migration），跨天继续不用重讲背景。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最后一章回答：怎么从“一个人在用”走到“整个团队在用”。顺序不能反——先画笼子，再放大产出。</a:t>
            </a:r>
          </a:p>
          <a:p/>
          <a:p>
            <a:r>
              <a:t>听众里没有管理者可以压到 10 分钟；有管理者在场就按 15 分钟讲，落地路线那页多停一会。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开场那个场景要演出来：“每次都弹窗确认，点过第十次你就不再是审查，只是在点。”很多人会笑，因为那就是他们。</a:t>
            </a:r>
          </a:p>
          <a:p/>
          <a:p>
            <a:r>
              <a:t>四种模式不必全讲，挑贵公司实际会用的两种展开。</a:t>
            </a:r>
          </a:p>
          <a:p/>
          <a:p>
            <a:r>
              <a:t>沙箱隔离那四条底线是安全 / 合规同事唯一真正关心的，如果他们到场，这里多停两分钟。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④：Zcode › StdCommuProtocol › main · 消息 3–9（换一个全新上下文做对抗式审查）。</a:t>
            </a:r>
          </a:p>
          <a:p/>
          <a:p>
            <a:r>
              <a:t>Writer / Reviewer 那段强烈建议现场演：同一个需求开两个会话，一个写一个审，效果最直观。</a:t>
            </a:r>
          </a:p>
          <a:p/>
          <a:p>
            <a:r>
              <a:t>⚠ 提醒防过度工程：被命令“找缺口”的评审者几乎必然报出缺口。要明确只标记影响正确性的问题，其余视为可选。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左边七条不必逐条念，停 5 秒让大家自己扫。</a:t>
            </a:r>
          </a:p>
          <a:p/>
          <a:p>
            <a:r>
              <a:t>真正要讲是右边那四条自查顺序——七条里八成问题落在其中一条。</a:t>
            </a:r>
          </a:p>
          <a:p/>
          <a:p>
            <a:r>
              <a:t>态度问题：把这些失败归到“工作方法”，而不是“工具不行”。这是听众今天要带走的立场。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这页是给 leader 看的。</a:t>
            </a:r>
          </a:p>
          <a:p/>
          <a:p>
            <a:r>
              <a:t>每个阶段的「判定」比「时间表」重要：判定不过，就不要进下一阶段。</a:t>
            </a:r>
          </a:p>
          <a:p/>
          <a:p>
            <a:r>
              <a:t>四个指标重点讲最后一个（端到端时长）：唯一能证明整体更快的指标；“生成了多少代码”会奖励错误行为。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收尾不要讲新东西。</a:t>
            </a:r>
          </a:p>
          <a:p/>
          <a:p>
            <a:r>
              <a:t>重复那句核心：方法对了，换一个 Agent 也是同样的效果——今天讲的没有一句绑定工具。</a:t>
            </a:r>
          </a:p>
          <a:p/>
          <a:p>
            <a:r>
              <a:t>让大家把「本周就能开始的三件事」真的写下来，不是听完就算。</a:t>
            </a:r>
          </a:p>
          <a:p/>
          <a:p>
            <a:r>
              <a:t>留 5 分钟提问。常见提问预案：</a:t>
            </a:r>
          </a:p>
          <a:p>
            <a:r>
              <a:t>① “公司不让代码出网怎么办” → 第 6 页开源路线；</a:t>
            </a:r>
          </a:p>
          <a:p>
            <a:r>
              <a:t>② “我们已经在用某某工具” → 第 8 页三步漏斗；</a:t>
            </a:r>
          </a:p>
          <a:p>
            <a:r>
              <a:t>③ “没人愿意写规则文件” → 第 21 页，先从排错那三条开始收。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04950"/>
            <a:ext cx="914400" cy="381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76400" y="139065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3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UNIVERSAL METHODOLOGY · VENDOR NEUTRAL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771650"/>
            <a:ext cx="66675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Consolas"/>
                <a:ea typeface="Consolas"/>
                <a:cs typeface="Consolas"/>
              </a:rPr>
              <a:t>Coding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724150"/>
            <a:ext cx="6667500" cy="876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9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工程实践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810000"/>
            <a:ext cx="6286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通用编码智能体方法论 · 从“会用”到“敢用”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600075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2950" y="6124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067425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研发效能内训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6067425"/>
            <a:ext cx="666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2026.10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2750" y="6000750"/>
            <a:ext cx="1447800" cy="323850"/>
          </a:xfrm>
          <a:prstGeom prst="roundRect">
            <a:avLst>
              <a:gd name="adj" fmla="val 5000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6100" y="6124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7550" y="6067425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主讲 · 杨庆刚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34500" y="6191250"/>
            <a:ext cx="2857500" cy="66675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0" y="6438900"/>
            <a:ext cx="2476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 spc="20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BEST PRACTICES 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85750"/>
            <a:ext cx="3810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1524000"/>
            <a:ext cx="57150" cy="1143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2857500"/>
            <a:ext cx="28575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五个问题，</a:t>
            </a:r>
          </a:p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一条方法论主线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619500"/>
            <a:ext cx="2857500" cy="1428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第 1 章先解决“用哪个”，第 2 章给你看真实效果，其余四章讲方法。不绑定任何一款工具——换一个 Agent，这套方法原样生效。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500" y="12192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7200" y="13906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2050" y="13144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选型篇 · 市场、形态与怎么选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2050" y="16383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现在有哪些工具，我该用哪个？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0" y="14859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P03 - P08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500" y="20574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7200" y="22288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2050" y="21526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实战篇 · 八段真实会话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2050" y="24765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它到底能做成什么样？先建立印象。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0" y="23241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P09 - P10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0500" y="28956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7200" y="30670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2050" y="29908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认知篇 · 一个约束与一种心智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2050" y="33147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为什么这套方法有效，而不是碰巧有用？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2250" y="31623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P11 - P13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500" y="37338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7200" y="39052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2050" y="38290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方法篇 · 单次任务的标准动作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2050" y="41529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一个需求从提出到合入，每步该怎么做？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40005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P14 - P18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00500" y="45720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47434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050" y="46672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工程篇 · 上下文工程四层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2050" y="49911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产出质量的差距，到底从哪一层来？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82250" y="48387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P19 - P25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54102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7200" y="55816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2050" y="55054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规模化篇 · 权限、并行与落地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72050" y="58293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如何从一个人快，走到整个团队快？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82250" y="56769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P26 - P30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目录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选型篇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先看战场，再定工具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这一章只回答两件事：现在有什么、你该选哪个。下一章要打开几段真实会话，自然会提到工具名；再往后的四章，不依赖你选了谁。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全球格局：一个已经重排过的市场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90% 的职业开发者每周都在用——座次却在七个月内换了一遍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333500"/>
            <a:ext cx="6667500" cy="3676650"/>
          </a:xfrm>
          <a:prstGeom prst="roundRect">
            <a:avLst>
              <a:gd name="adj" fmla="val 25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485900"/>
            <a:ext cx="4000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工作中使用率 · 2026 年 5–7 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752600"/>
            <a:ext cx="5334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同一人可多选，故总和 &gt; 100%；口径是“使用率”，不是营收份额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05740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Claude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4100" y="209550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24100" y="2095500"/>
            <a:ext cx="2667000" cy="1714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20574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39%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5500" y="207645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18%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245745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GitHub Copilot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4100" y="249555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24100" y="2495550"/>
            <a:ext cx="1438275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45745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247650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29%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285750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OpenAI Codex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4100" y="289560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324100" y="2895600"/>
            <a:ext cx="1095375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7800" y="28575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0" y="287655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325755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24100" y="329565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324100" y="3295650"/>
            <a:ext cx="819150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57800" y="325755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5500" y="327660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18%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" y="365760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JetBrains 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24100" y="369570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324100" y="3695700"/>
            <a:ext cx="609600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36576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5500" y="367665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13%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5765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24100" y="409575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324100" y="4095750"/>
            <a:ext cx="476250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57800" y="405765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5500" y="407670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开源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" y="445770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Google Antigravity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24100" y="449580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324100" y="4495800"/>
            <a:ext cx="409575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57800" y="44577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05500" y="447675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印度 15%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0" y="1333500"/>
            <a:ext cx="3962400" cy="1600200"/>
          </a:xfrm>
          <a:prstGeom prst="roundRect">
            <a:avLst>
              <a:gd name="adj" fmla="val 595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48600" y="1524000"/>
            <a:ext cx="36195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90%</a:t>
            </a:r>
            <a:r>
              <a:rPr sz="112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   每周至少用一次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8600" y="1981200"/>
            <a:ext cx="36195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68%</a:t>
            </a:r>
            <a:r>
              <a:rPr sz="112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   每天都在用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48600" y="2419350"/>
            <a:ext cx="3619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样本 15,000+ 职业开发者，按地区与语言加权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20000" y="3124200"/>
            <a:ext cx="3962400" cy="1885950"/>
          </a:xfrm>
          <a:prstGeom prst="roundRect">
            <a:avLst>
              <a:gd name="adj" fmla="val 505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848600" y="33147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39100" y="32575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48600" y="3543300"/>
            <a:ext cx="35052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七个月里两个翻倍、两个下滑。把选型押在今天的排名上，等于给半年后埋一次返工——选“能长跑的形态”，而不是“当期第一名”。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9600" y="5105400"/>
            <a:ext cx="10972800" cy="723900"/>
          </a:xfrm>
          <a:prstGeom prst="roundRect">
            <a:avLst>
              <a:gd name="adj" fmla="val 1184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200" y="5200650"/>
            <a:ext cx="105537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数据来源：JetBrains《Developer Ecosystem Survey 2026》，15,000+ 职业开发者，2026-05 至 07 田野期；“1 月”为同年 1 月波次，用于对照七个月变化。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未进该调研口径、但值得单独看：DeepSeek Harness（2026-08 开源，MIT，发布两周 GitHub 破 3 万星）、Pi（2026-10 发布 1.0，MIT 终端智能体）——都走“自托管 + 可换模型”的开源路线。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国内格局：两种口径，且榜单会漏掉新人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“用的人最多”和“赚的钱最多”不是同一家——2026 下半年还有三家刚入场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333500"/>
            <a:ext cx="352425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485900"/>
            <a:ext cx="3143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企业侧 · 收入份额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7526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IDC 口径 · 2026 · 企业付费收入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038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阿里 Qoder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7900" y="2076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47900" y="2076450"/>
            <a:ext cx="1419225" cy="1524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2850" y="2038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47.6%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419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智谱 ZCode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7900" y="2457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7900" y="2457450"/>
            <a:ext cx="342900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2850" y="2419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2800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商汤 Raccoon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7900" y="2838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7900" y="2838450"/>
            <a:ext cx="314325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2850" y="2800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" y="3181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腾讯 CodeBuddy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7900" y="3219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47900" y="3219450"/>
            <a:ext cx="200025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52850" y="3181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3562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百度 文心快码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7900" y="3600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247900" y="3600450"/>
            <a:ext cx="171450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2850" y="3562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6.0%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4350" y="1333500"/>
            <a:ext cx="352425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2950" y="1485900"/>
            <a:ext cx="3143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个人侧 · IDE 使用率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2950" y="17526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媒体引用口径 · 2026 · 实际在用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4850" y="2038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字节 Trae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62650" y="2076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62650" y="2076450"/>
            <a:ext cx="1419225" cy="1524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67600" y="2038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41.2%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24574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阿里 通义灵码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62650" y="24955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62650" y="2495550"/>
            <a:ext cx="638175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67600" y="24574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18.5%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4850" y="28765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百度 文心快码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62650" y="29146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62650" y="2914650"/>
            <a:ext cx="419100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67600" y="28765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12.3%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4850" y="3429000"/>
            <a:ext cx="314325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62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文心快码服务 800 万+ 开发者；Cursor 中国区使用率一年内由 28% 降至 16%（JetBrains 2026）。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9100" y="1333500"/>
            <a:ext cx="354330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7700" y="1485900"/>
            <a:ext cx="3143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榜单之外 · 2026 下半年新入场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7700" y="17526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发布晚于榜单口径，份额尚未反映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2019300"/>
            <a:ext cx="3200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Kimi Code · 月之暗面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228850"/>
            <a:ext cx="3200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2026-09 桌面端 1.0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419350"/>
            <a:ext cx="32004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内置终端 / 浏览器 / Git，Plan · Swarm · Tower 多模式协作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2724150"/>
            <a:ext cx="3200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MiniMax Code · 稀宇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2933700"/>
            <a:ext cx="3200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2026-06 随 M3 发布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3124200"/>
            <a:ext cx="32004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桌面客户端（多端），基于 OpenCode + Pi 构建，支持 Computer Use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3429000"/>
            <a:ext cx="3200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MiMo Code · 小米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3638550"/>
            <a:ext cx="3200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2026-06 开源 MIT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0" y="3829050"/>
            <a:ext cx="32004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终端原生，fork 自 OpenCode；持久记忆 + Compose 模式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9600" y="4343400"/>
            <a:ext cx="7048500" cy="1676400"/>
          </a:xfrm>
          <a:prstGeom prst="roundRect">
            <a:avLst>
              <a:gd name="adj" fmla="val 5681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38200" y="45339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8700" y="44767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8200" y="4762500"/>
            <a:ext cx="659130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国内“用的人多”和“赚的钱多”是两件事，份额榜单还会漏掉刚入场的人。更值得注意的是：MiniMax Code 与 MiMo Code 都直接基于开源 OpenCode 构建——模型厂商也不自己写 harness，而是 fork 开源 harness 再叠自己的模型。选型别看份额，看合规边界、工具链与自主权。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0500" y="4343400"/>
            <a:ext cx="37719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39100" y="4495800"/>
            <a:ext cx="3238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数据来源与可信度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39100" y="4819650"/>
            <a:ext cx="33337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份额为 IDC《中国 AI 编程市场》报告的二手引用；三家新入场产品信息来自 2026-06 至 09 的官方发布，份额尚未覆盖。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开源路线：Harness 是可替换的那一层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MIT 许可、可自托管、可换模型——同一个模型，换一个 harness 就是另一个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333500"/>
            <a:ext cx="3524250" cy="2381250"/>
          </a:xfrm>
          <a:prstGeom prst="roundRect">
            <a:avLst>
              <a:gd name="adj" fmla="val 4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428750"/>
            <a:ext cx="318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50" y="1695450"/>
            <a:ext cx="31813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插件化运行底座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" y="1943100"/>
            <a:ext cx="318135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050" y="20383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许可 / 状态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0383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MIT · v0.1 预览版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" y="235267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35267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一切皆插件 · Cordis 内核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" y="266700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66700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追加式事件流 · 自动压缩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" y="298132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沙箱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98132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内置，可热插拔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050" y="32956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2956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接口仍有破坏性变更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3875" y="1333500"/>
            <a:ext cx="3524250" cy="2381250"/>
          </a:xfrm>
          <a:prstGeom prst="roundRect">
            <a:avLst>
              <a:gd name="adj" fmla="val 4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325" y="1428750"/>
            <a:ext cx="318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325" y="1695450"/>
            <a:ext cx="31813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极简终端智能体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05325" y="1943100"/>
            <a:ext cx="318135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5325" y="20383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许可 / 状态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4475" y="20383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MIT · 1.0 已发布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5325" y="235267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24475" y="235267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只给 read/write/edit/bash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5325" y="266700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上下文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4475" y="266700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系统提示约 2–3k token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5325" y="298132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沙箱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24475" y="298132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无，依赖外部环境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5325" y="32956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4475" y="32956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官方明确不做子代理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8150" y="1333500"/>
            <a:ext cx="3524250" cy="2381250"/>
          </a:xfrm>
          <a:prstGeom prst="roundRect">
            <a:avLst>
              <a:gd name="adj" fmla="val 4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1428750"/>
            <a:ext cx="318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1695450"/>
            <a:ext cx="31813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终端优先的全能选手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943100"/>
            <a:ext cx="318135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20383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许可 / 状态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48750" y="20383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MIT · 社区规模最大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235267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48750" y="235267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配置化工具 + MCP 外接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266700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上下文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48750" y="266700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支持 75+ 模型提供方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298132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沙箱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8750" y="298132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进程隔离 C/S 架构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32956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48750" y="32956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系统提示约 10k token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600" y="3848100"/>
            <a:ext cx="4953000" cy="952500"/>
          </a:xfrm>
          <a:prstGeom prst="roundRect">
            <a:avLst>
              <a:gd name="adj" fmla="val 1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8200" y="3962400"/>
            <a:ext cx="4572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Model + Harness =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4267200"/>
            <a:ext cx="4572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模型是大脑，harness 是执行神经系统：上下文怎么管、怎么隔离、工具怎么调度，都由 harness 决定。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53100" y="3848100"/>
            <a:ext cx="5829300" cy="952500"/>
          </a:xfrm>
          <a:prstGeom prst="roundRect">
            <a:avLst>
              <a:gd name="adj" fmla="val 10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81700" y="3962400"/>
            <a:ext cx="5524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还有这些（同为可自托管 / 可换模型）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1700" y="4248150"/>
            <a:ext cx="5524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Cline（VS Code，逐操作审批）· OpenHands（自主 + 沙箱）· Aider（git 原生）· Goose（MCP 原生）· Codex CLI / Gemini CLI（厂商开源）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9600" y="4953000"/>
            <a:ext cx="539115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8200" y="5067300"/>
            <a:ext cx="495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该走开源路线的信号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8200" y="54578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0600" y="53911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代码与数据不能出网（合规 / 数据本地化）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8200" y="56673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0600" y="56007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必须能换模型，不愿被单一厂商绑定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8200" y="5876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0600" y="58102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规模上来后，按席位计费成本线性增长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91250" y="4953000"/>
            <a:ext cx="539115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19850" y="5067300"/>
            <a:ext cx="495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代价：开源 ≠ 省事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419850" y="54578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72250" y="53911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要自己搭建、维护与升级，没有厂商兜底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19850" y="56673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72250" y="56007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早期版本接口不稳，生产环境慎用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19850" y="5876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72250" y="58102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参数与状态随版本快速变化，选型前以仓库为准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五类形态：先认形态，再看品牌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形态决定能力边界，品牌只决定细节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333500"/>
            <a:ext cx="10972800" cy="3467100"/>
          </a:xfrm>
          <a:prstGeom prst="roundRect">
            <a:avLst>
              <a:gd name="adj" fmla="val 274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447800"/>
            <a:ext cx="1714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2700" y="1447800"/>
            <a:ext cx="20002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代表产品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9150" y="1447800"/>
            <a:ext cx="2667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擅长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2350" y="1447800"/>
            <a:ext cx="3333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 / 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1714500"/>
            <a:ext cx="1066800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09750"/>
            <a:ext cx="10820400" cy="533400"/>
          </a:xfrm>
          <a:prstGeom prst="roundRect">
            <a:avLst>
              <a:gd name="adj" fmla="val 10714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194310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IDE 插件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2700" y="186690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Copilot · 通义灵码 · CodeBuddy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9150" y="186690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嵌入现有编辑器：补全、解释、局部重构，零迁移成本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2350" y="186690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受编辑器边界约束；跨文件长任务与流水线能力弱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53365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命令行智能体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2700" y="245745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Pi · Claude Code · Codex CLI · OpenCode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150" y="245745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直接操作仓库与终端，易脚本化，可无头进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2350" y="245745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无可视化界面；上手曲线陡；长任务要自己治理上下文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990850"/>
            <a:ext cx="10820400" cy="533400"/>
          </a:xfrm>
          <a:prstGeom prst="roundRect">
            <a:avLst>
              <a:gd name="adj" fmla="val 10714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312420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编辑器内核分叉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2700" y="304800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Cursor · Trae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9150" y="304800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编辑器与智能体深度耦合，既有配置可一键迁移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2350" y="304800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团队工具链被锁定；版本节奏跟随厂商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371475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桌面工作台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52700" y="363855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腾讯 WorkBuddy · Qoder 工作台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363855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一人指挥多个专家智能体并行，适合复杂需求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2350" y="363855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上下文与 token 消耗高；可复现性与可控性挑战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171950"/>
            <a:ext cx="10820400" cy="533400"/>
          </a:xfrm>
          <a:prstGeom prst="roundRect">
            <a:avLst>
              <a:gd name="adj" fmla="val 10714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000" y="430530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云端智能体平台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2700" y="422910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Codex Cloud · Antigravity · Qoder 云端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9150" y="422910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任务在云端异步跑完，直接交付 PR，人不盯屏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2350" y="422910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代码与上下文出网，需过合规；结果可控性最低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4914900"/>
            <a:ext cx="10972800" cy="533400"/>
          </a:xfrm>
          <a:prstGeom prst="roundRect">
            <a:avLst>
              <a:gd name="adj" fmla="val 16071"/>
            </a:avLst>
          </a:prstGeom>
          <a:solidFill>
            <a:srgbClr val="1C2839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00" y="5029200"/>
            <a:ext cx="105156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12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可叠加的另一条线（见上页）· 开源、可自托管、可换模型：</a:t>
            </a: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DeepSeek Harness · Pi · OpenCode · Cline · OpenHands —— 与下面任何一种形态都能组合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5600700"/>
            <a:ext cx="10972800" cy="609600"/>
          </a:xfrm>
          <a:prstGeom prst="roundRect">
            <a:avLst>
              <a:gd name="adj" fmla="val 15625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9150" y="58578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9650" y="5600700"/>
            <a:ext cx="7620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76400" y="5676900"/>
            <a:ext cx="97155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先看「跑在哪、怎么接入」定形态；要不要开源 / 自托管是另一条线，可叠加——两个维度各自独立，别混在一起比。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怎么选：三步，一步一句话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先划掉不能用的，再按工作方式定形态，最后用真实任务验证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10972800" cy="838200"/>
          </a:xfrm>
          <a:prstGeom prst="roundRect">
            <a:avLst>
              <a:gd name="adj" fmla="val 1136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600" y="1428750"/>
            <a:ext cx="57150" cy="838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38300"/>
            <a:ext cx="8572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9750" y="1581150"/>
            <a:ext cx="4000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排除 · 把不能用的先划掉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9750" y="1866900"/>
            <a:ext cx="952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代码不能出网 → 不用云端平台；必须自托管 / 可换模型 → 只走开源路线；深度绑定某个 IDE → 优先该 IDE 的插件或内核分叉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381250"/>
            <a:ext cx="10972800" cy="838200"/>
          </a:xfrm>
          <a:prstGeom prst="roundRect">
            <a:avLst>
              <a:gd name="adj" fmla="val 1136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600" y="2381250"/>
            <a:ext cx="57150" cy="838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90800"/>
            <a:ext cx="8572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2533650"/>
            <a:ext cx="4000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定形态 · 你要它替你做到哪一步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2819400"/>
            <a:ext cx="952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只要补全与解释 → IDE 插件；要它自己跑完并自验 → 命令行 或 桌面工作台；要它异步跑完直接交 PR → 云端平台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3333750"/>
            <a:ext cx="10972800" cy="838200"/>
          </a:xfrm>
          <a:prstGeom prst="roundRect">
            <a:avLst>
              <a:gd name="adj" fmla="val 1136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600" y="3333750"/>
            <a:ext cx="57150" cy="838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43300"/>
            <a:ext cx="8572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9750" y="3486150"/>
            <a:ext cx="4000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验证 · 同类里挑哪个，别靠感觉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3771900"/>
            <a:ext cx="952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同一批真实任务 + 同一套可运行验收（跑测试 / 跑构建），跑满两周再定——第一天的新鲜感会骗人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4476750"/>
            <a:ext cx="10972800" cy="1200150"/>
          </a:xfrm>
          <a:prstGeom prst="roundRect">
            <a:avLst>
              <a:gd name="adj" fmla="val 793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150" y="5029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9650" y="4476750"/>
            <a:ext cx="762000" cy="1200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6400" y="4552950"/>
            <a:ext cx="9715500" cy="1047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统一比最优重要：团队选型的产出不是「选到最好的那个」，而是「大家用同一个」——规则文件、技能库、钩子配置都要沉淀在同一套工具上。下一章要看真实会话，会提到工具名；从第 3 章起，后面四章不再提产品名，也不依赖你选了谁。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实战篇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先看看它真能干什么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在讲任何纪律之前，先建立印象。接下来的索引表里是八段真实会话：同一个模型、同一套做法，在三个代码库里反复成立。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八段真实会话：从最朴素的用法，到最严格的用法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先看它做到了什么——为什么这样有效，从第 3 章开始解释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333500"/>
            <a:ext cx="10972800" cy="4629150"/>
          </a:xfrm>
          <a:prstGeom prst="roundRect">
            <a:avLst>
              <a:gd name="adj" fmla="val 205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4287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8250" y="142875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它替我们做成了什么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0" y="1428750"/>
            <a:ext cx="4476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背后那条方法 · 见第几页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695450"/>
            <a:ext cx="1066800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752600"/>
            <a:ext cx="10820400" cy="476250"/>
          </a:xfrm>
          <a:prstGeom prst="roundRect">
            <a:avLst>
              <a:gd name="adj" fmla="val 12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86690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250" y="184785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最简单的用法：一句话需求，从头做到尾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0" y="184785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基线 · 不加任何方法时的表现，后面每一段都是在它之上加一层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23812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8250" y="23622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先计划再执行：先出方案，你认可了才动手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0750" y="236220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P17 · 规划先于编码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781300"/>
            <a:ext cx="10820400" cy="476250"/>
          </a:xfrm>
          <a:prstGeom prst="roundRect">
            <a:avLst>
              <a:gd name="adj" fmla="val 12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289560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287655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改完一个问题后，让它自己回头审查一遍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750" y="287655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P15 · 让它自己跑完并读结果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" y="34099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8250" y="33909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对抗式审查：换一个全新上下文让它来找茬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0750" y="339090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P28 · Writer / Reviewer 与新上下文评审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810000"/>
            <a:ext cx="10820400" cy="476250"/>
          </a:xfrm>
          <a:prstGeom prst="roundRect">
            <a:avLst>
              <a:gd name="adj" fmla="val 12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" y="392430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390525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与同事同改一个项目时，定位问题出在哪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0750" y="390525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P22 · 指向信息源，让它自己去查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" y="44386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8250" y="44196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给确定的设计图，而不是一句「做得好看点」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0750" y="441960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P16 · UI 改动要有视觉验证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38700"/>
            <a:ext cx="10820400" cy="476250"/>
          </a:xfrm>
          <a:prstGeom prst="roundRect">
            <a:avLst>
              <a:gd name="adj" fmla="val 12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" y="495300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8250" y="493395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同事发来新版 dll：先让它分析，再动手开发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00750" y="493395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P17 · 依赖变了，探索阶段就得重跑一遍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" y="54673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8250" y="54483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开源 harness 的实机演示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00750" y="544830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P06 · 换一层底座，做法不变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096000"/>
            <a:ext cx="10972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3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发生在三个不同的真实项目里，跨两种运行环境——工具换了，这套做法没有换。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实战篇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认知篇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先理解约束，再使用方法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方法论不解释“为什么”，就只能靠记忆。理解这一个约束，后面所有做法都是它的推论——你不需要背清单。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一个约束：上下文窗口是稀缺资源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它是唯一必须持续管理的东西——几乎所有最佳实践都从这条事实推导出来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消耗极快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一次调试会话或一轮代码库探索，就可能产出并消耗数万个 token——上下文不是慢慢用的，是几步就能烧掉一大截。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67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开始“遗忘”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67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窗口将满时，模型开始遗忘你在第一句写下的指令——你以为它记得的约束，可能已经不起作用了。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43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43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犯错率上升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43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表现为“它明明知道却还是写错了”——其实它已经不“知道”了。这不是模型变笨，是窗口太满。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295275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308610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推论一 · 能移出去的都移出去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337185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长期约定进规则文件，偶发知识进技能，重型调研交给子智能体——主对话只留本次任务。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88620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401955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推论二 · 一次会话一类问题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430530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堆积的无关历史不是背景资料，是会主动降低性能的噪声。任务串味时，立刻开新会话。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481965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495300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推论三 · 不确定性靠结构消解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23875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只堆更多解释，等于花最贵的资源买边际极低的确定性。真正有效的是可判定的信号。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5750" y="2952750"/>
            <a:ext cx="38100" cy="8382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7200" y="2914650"/>
            <a:ext cx="35052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上下文窗口装着整场对话：你的每条消息、它读过的每个文件、每条命令的输出。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5750" y="4114800"/>
            <a:ext cx="3676650" cy="2038350"/>
          </a:xfrm>
          <a:prstGeom prst="roundRect">
            <a:avLst>
              <a:gd name="adj" fmla="val 467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4350" y="43053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4850" y="42481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4350" y="4533900"/>
            <a:ext cx="321945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把不该留在窗口里的挪出去（推论一、二），把留下来的花在能判定对错的东西上（推论三）。前提是它得可见——看不见的约束，谈不上管理。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认知篇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一种心智：从“帮你写”到“替你做”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“自主”不等于不需要人——它意味着人的工作位置变了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8478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254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900" y="19621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62050" y="142875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0650" y="16383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阶段一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8115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代码补全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650" y="198120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人在写，AI 猜下一个词。Tab 键就是全部交互，出错成本极低。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2766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254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3900" y="33909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62050" y="285750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06705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阶段二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00990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对话改写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0650" y="340995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人规划，AI 生成整段。选中-提问-粘贴，心智仍是“我来改”。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47053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85775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62050" y="428625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44958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阶段三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43865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自主执行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0650" y="483870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AI 拆任务、调工具、改文件、跑测试；人定边界、给约束、做验收。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9500" y="1428750"/>
            <a:ext cx="41529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分工的变化</a:t>
            </a:r>
            <a:r>
              <a:rPr sz="9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   同一个需求，两种工作方式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29500" y="18097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58100" y="19145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你的角色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8100" y="21240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执行环节：亲手写代码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23431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边界环节（划定范围）＋ 验收环节（定义“完成”）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9500" y="28384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8100" y="29432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AI 的角色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8100" y="31527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返回建议文本，看完还得你来改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8100" y="33718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探索、规划、实施，自己跑验证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29500" y="38671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58100" y="39719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主要瓶颈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8100" y="41814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你敲键盘的速度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58100" y="44005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需求表述的精度＋验收信号的质量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29500" y="4762500"/>
            <a:ext cx="4152900" cy="1619250"/>
          </a:xfrm>
          <a:prstGeom prst="roundRect">
            <a:avLst>
              <a:gd name="adj" fmla="val 588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58100" y="49530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8600" y="48958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58100" y="5181600"/>
            <a:ext cx="36957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变的是人的位置，不是人的必要性：过去在执行环节，现在在边界和验收环节。评价标准也要跟着换——不是「写得快不快」，而是「有没有省掉整个下午」。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认知篇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方法篇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一次需求，四个标准动作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给可运行的验证、先探索再编码、让它采访你、规格先行——四件事，把“玄学体验”变成“稳定产出”。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第一条纪律：给它一个可运行的验证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没有验证手段时，“看起来做完了”是唯一信号——于是你本人成了验证回路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5334000" cy="1123950"/>
          </a:xfrm>
          <a:prstGeom prst="roundRect">
            <a:avLst>
              <a:gd name="adj" fmla="val 847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5621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没有验证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84785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它只能以“看起来像”为准。每个错误都等你发现——你把验证从机器搬回了自己身上，而且是串行的。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76600" y="2590800"/>
            <a:ext cx="0" cy="20955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9600" y="2819400"/>
            <a:ext cx="5334000" cy="1200150"/>
          </a:xfrm>
          <a:prstGeom prst="roundRect">
            <a:avLst>
              <a:gd name="adj" fmla="val 793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2952750"/>
            <a:ext cx="419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给它一个能读出 pass / fail 的信号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238500"/>
            <a:ext cx="485775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测试套件、构建退出码、Linter、输出对比脚本、UI 截图比对。它做、它跑、它读结果、它继续改——循环自己闭合。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52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注意：它的检查通过 ≠ 你的验收通过——两者是不同层级，上线前你仍需端到端确认。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705350"/>
            <a:ext cx="5334000" cy="1276350"/>
          </a:xfrm>
          <a:prstGeom prst="roundRect">
            <a:avLst>
              <a:gd name="adj" fmla="val 746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200" y="48958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" y="48387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5124450"/>
            <a:ext cx="48768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要证据，不要声明：完成后必须附上命令原文与原始输出（UI 改动附截图）。审证据比重跑验证快得多，且对你没在旁观的会话同样有效。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1352550"/>
            <a:ext cx="19050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4250" y="1676400"/>
            <a:ext cx="42481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级验证闸门</a:t>
            </a:r>
          </a:p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逐级降低你的注意力消耗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24955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495550"/>
            <a:ext cx="38100" cy="762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4150" y="26098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L1 · 单次提示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28765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同一条消息里要求“跑检查并迭代”——任何任务，今天就能用。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6500" y="33337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6500" y="3333750"/>
            <a:ext cx="38100" cy="762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150" y="34480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L2 · 会话级目标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4150" y="37147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由独立评估器每轮复核目标是否达成，未达成则继续——中长任务。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41719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4171950"/>
            <a:ext cx="38100" cy="762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4150" y="42862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L3 · 确定性闸门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4150" y="45529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用脚本钩子在轮次结束前强制检查，不通过不许停——零例外的规范。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6500" y="50101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6500" y="5010150"/>
            <a:ext cx="38100" cy="762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4150" y="51244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L4 · 第三方复核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4150" y="53911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全新上下文的评审智能体：做题的人，不是打分的人——无人值守。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提示词改写：三组实战对照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加约束比加形容词有效——每一组“好”，都附带了可判定的验收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8288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实现一个校验邮箱的函数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29300" y="20478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86500" y="14287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15621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给出验收标准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18288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写一个 validateEmail：user@example.com → true、invalid → false、user@.com → false。实现后运行测试，直到全部通过。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28384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29718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385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把仪表盘弄好看点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29300" y="34575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86500" y="28384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5100" y="29718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UI 改动要视觉验证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32385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按这张设计稿实现（附截图）。完成后对结果截图并与原图对比，逐条列出差异并修复。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" y="42481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" y="43815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46482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构建挂了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29300" y="48672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86500" y="42481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5100" y="43815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修根因，不压症状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6482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构建失败，报错如下（粘贴完整错误）。修复并验证构建通过——处理根因，不要压制报错。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5772150"/>
            <a:ext cx="10972800" cy="495300"/>
          </a:xfrm>
          <a:prstGeom prst="roundRect">
            <a:avLst>
              <a:gd name="adj" fmla="val 1923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" y="59721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650" y="5772150"/>
            <a:ext cx="762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76400" y="5848350"/>
            <a:ext cx="97155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一句话自检：把“完成定义”盖住——如果你无法判断这部分是否算完成，它就还不够具体。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单次任务的标准动作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探索 → 规划 → 编码 → 提交——分开，是因为两段旅程的失败成本完全不同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 ×3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只读模式下读懂相关代码，期间不得修改。让它讲清现状，而不是急着动手。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242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290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5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产出实施方案：改哪些文件、流程是什么。人可以直接修改方案再批准。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484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退出只读，按方案实现；为新逻辑补测试，跑到通过为止。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630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0678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提交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描述性提交信息，开 PR，附验证输出作为证据。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3524250"/>
            <a:ext cx="5334000" cy="2400300"/>
          </a:xfrm>
          <a:prstGeom prst="roundRect">
            <a:avLst>
              <a:gd name="adj" fmla="val 396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200" y="36766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何时跳过规划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401955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直接做：</a:t>
            </a: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改错别字、加日志、重命名、单文件局部小修。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468630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值得规划：</a:t>
            </a: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你对方案不确定 / 改动横跨多文件 / 你不熟悉被改的那部分代码。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5353050"/>
            <a:ext cx="4857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判据：一句话能描述清楚的 diff，就不要上仪式。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86500" y="3524250"/>
            <a:ext cx="5295900" cy="2400300"/>
          </a:xfrm>
          <a:prstGeom prst="roundRect">
            <a:avLst>
              <a:gd name="adj" fmla="val 3968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15100" y="37147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05600" y="36576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5100" y="3943350"/>
            <a:ext cx="4838700" cy="1847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规划的成本是固定的，收益取决于“做错方向的概率”——用它对冲高不确定性，而不是给每个任务都上流程。探索错了，损失几轮对话；在错误方向写完 800 行再被发现，损失的是你的信任和一下午。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大特性起手式：先让它采访你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不确定的地方不该让它猜，该让它问——把规格改精确，回报高于盯着实现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38200" y="1638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16859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16002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发出采访邀请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19240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“我想构建 X。请详细采访我：技术实现、UI/UX、边界情况、顾虑与权衡。不问显而易见的，深挖我可能没考虑到的。”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8765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200" y="3086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31337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3500" y="30480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产出自包含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3718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规格写进文件：点名涉及的文件与接口，声明什么不在范围内，以端到端验证步骤收尾。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3243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200" y="45339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81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4958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开新会话执行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48196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干净上下文，全部注意力给实施。书面规格随时可引用、可评审、可交接。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6500" y="1428750"/>
            <a:ext cx="5295900" cy="2038350"/>
          </a:xfrm>
          <a:prstGeom prst="roundRect">
            <a:avLst>
              <a:gd name="adj" fmla="val 467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5100" y="1581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什么样的规格才算好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5100" y="1981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05600" y="19240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自包含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不读对话记录也能看懂——别人（和未来的你）可以直接接手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5100" y="24765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05600" y="24193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有边界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明确写下“什么不做”——范围蔓延是 Agent 返工的最大来源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29718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5600" y="29146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可验收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以端到端验证步骤收尾——完成与否，跑一条命令就知道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6500" y="3695700"/>
            <a:ext cx="5295900" cy="2286000"/>
          </a:xfrm>
          <a:prstGeom prst="roundRect">
            <a:avLst>
              <a:gd name="adj" fmla="val 416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5100" y="3886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5600" y="38290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5100" y="4114800"/>
            <a:ext cx="48387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口述需求、边做边改，会让每一次口头纠偏同时污染上下文与代码——规格未固化就开工，是最高频的失败模式之一。把规格写精确所花的时间，回报高于你盯着它实现所花的时间。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工程篇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产出差距在上下文结构，不在模型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同一个模型，在不同团队手里产出天差地别。差距来自四层：规则怎么沉淀、任务怎么写、能力怎么扩展、会话怎么治理。自底向上讲。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上下文工程：这门手艺的主体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五层结构——把静态约束从提示词里搬出去，主线程只留本次任务契约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43100" y="1428750"/>
            <a:ext cx="40005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14550" y="16573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750" y="15621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750" y="1866900"/>
            <a:ext cx="3143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清理、压缩、回溯、子智能体隔离——管理已进入窗口的内容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7350" y="2305050"/>
            <a:ext cx="4572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5336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4384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能力层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按需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43200"/>
            <a:ext cx="37147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技能、子智能体、外部工具、事件钩子——不常驻，需要时才加载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181350"/>
            <a:ext cx="5143500" cy="800100"/>
          </a:xfrm>
          <a:prstGeom prst="roundRect">
            <a:avLst>
              <a:gd name="adj" fmla="val 11904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43050" y="34099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33147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任务层</a:t>
            </a:r>
            <a:r>
              <a:rPr sz="975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  临时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0250" y="3619500"/>
            <a:ext cx="4286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本次的任务简报：目标、上下文、约束、验收——每次任务临时提供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5850" y="40576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42862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4500" y="41910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规则层</a:t>
            </a:r>
            <a:r>
              <a:rPr sz="975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  常驻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14500" y="4495800"/>
            <a:ext cx="48577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每次会话都加载的项目约定——必须极短，只放普适的东西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" y="4933950"/>
            <a:ext cx="62865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" y="51625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50673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底座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5372100"/>
            <a:ext cx="5429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基座推理与代码能力——决定下限，我们换不了（第 3 章已讲过）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1447800"/>
            <a:ext cx="39624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同一个模型，在不同团队手里产出天差地别——差距几乎都出在 ②③④：规则写得准不准、简报给得清不清、能力接得全不全。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0" y="2914650"/>
            <a:ext cx="38100" cy="8382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1450" y="2914650"/>
            <a:ext cx="379095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模型的差距是线性的，上下文结构的差距是乘性的。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20000" y="4191000"/>
            <a:ext cx="3962400" cy="1809750"/>
          </a:xfrm>
          <a:prstGeom prst="roundRect">
            <a:avLst>
              <a:gd name="adj" fmla="val 5263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48600" y="43815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43243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8600" y="4610100"/>
            <a:ext cx="350520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1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模型决定下限，上下文结构决定上限。换模型不如补上下文——这是这门课最值钱的一句话。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规则层：把默契写进仓库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每次会话都加载——所以只放普适的东西，并且必须极短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3009900" cy="4476750"/>
          </a:xfrm>
          <a:prstGeom prst="roundRect">
            <a:avLst>
              <a:gd name="adj" fmla="val 3164"/>
            </a:avLst>
          </a:prstGeom>
          <a:solidFill>
            <a:srgbClr val="1C2839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81150"/>
            <a:ext cx="190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应该写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82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600" y="19431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它猜不出来的构建/测试命令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200" y="2628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25717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与默认习惯不同的代码风格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200" y="3257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" y="32004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测试指令与偏好的运行器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82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0600" y="38290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仓库礼仪：分支命名、PR 规范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200" y="4514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0600" y="44577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本项目特有的架构决策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200" y="5143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600" y="50863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环境怪癖与不自明的坑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71900" y="1428750"/>
            <a:ext cx="3009900" cy="4476750"/>
          </a:xfrm>
          <a:prstGeom prst="roundRect">
            <a:avLst>
              <a:gd name="adj" fmla="val 316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0500" y="1581150"/>
            <a:ext cx="190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不该写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52900" y="19431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读一遍代码就能明白的东西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0500" y="2628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52900" y="25717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语言通用规范（它本来就会）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257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2900" y="32004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详细 API 文档（改为给链接）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005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52900" y="38290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频繁变动的信息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4514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52900" y="44577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逐文件的代码库描述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500" y="5143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52900" y="50863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“写整洁代码”式正确废话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8500" y="1428750"/>
            <a:ext cx="4533900" cy="1123950"/>
          </a:xfrm>
          <a:prstGeom prst="roundRect">
            <a:avLst>
              <a:gd name="adj" fmla="val 8474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7100" y="156210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篇幅纪律（最重要）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100" y="1866900"/>
            <a:ext cx="40767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对每一行问：“删掉这行会让它犯错吗？” 答不上来就删。臃肿的规则会让它忽略你真正的指令——目标 &lt; 100 行。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48500" y="2705100"/>
            <a:ext cx="4533900" cy="1619250"/>
          </a:xfrm>
          <a:prstGeom prst="roundRect">
            <a:avLst>
              <a:gd name="adj" fmla="val 588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100" y="285750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排错指南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100" y="320040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明令禁止仍反复出现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6400" y="320040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文件太长，规则被淹没：剪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7100" y="356235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问了规则里已答的问题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6400" y="356235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表述有歧义：改写得更具体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7100" y="392430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单条指令总被跳过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6400" y="392430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只在这一行加强调，别处处加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48500" y="4476750"/>
            <a:ext cx="4533900" cy="1638300"/>
          </a:xfrm>
          <a:prstGeom prst="roundRect">
            <a:avLst>
              <a:gd name="adj" fmla="val 5813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771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676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77100" y="4895850"/>
            <a:ext cx="4076700" cy="1085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把它当代码对待：出问题就审查、定期修剪、用“行为是否真的改变”验证改动。纳入 git 团队共建——这份文件的价值随时间复利增长。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任务层：把提示词写具体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它能推断意图，但读不了你的心——四种策略，一份简报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限定范围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“为 foo.py 写一个覆盖‘用户已登出’边界情况的测试。不要用 mock。”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4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指向信息源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4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“翻一下这个类的 git 历史，总结它的 API 是怎么演变成这样的。”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4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8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引用既有范式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8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“参照首页既有组件的实现范式来做日历组件，不引入新依赖。”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78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症状+定位+验收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92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“会话超时后登录失败。检查 auth 模块的 token 刷新，先写复现的失败测试再修。”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600" y="3295650"/>
            <a:ext cx="5334000" cy="1752600"/>
          </a:xfrm>
          <a:prstGeom prst="roundRect">
            <a:avLst>
              <a:gd name="adj" fmla="val 543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34480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五种方式喂给它富上下文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82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600" y="38100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引用文件（@路径）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375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86150" y="38100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粘贴截图 / 设计稿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200" y="4286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2100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提供文档 URL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3750" y="4286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86150" y="42100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管道喂数据（日志、报错）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8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0600" y="46101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让它自己去取（读文件/跑命令/调工具）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86500" y="3295650"/>
            <a:ext cx="5295900" cy="1752600"/>
          </a:xfrm>
          <a:prstGeom prst="roundRect">
            <a:avLst>
              <a:gd name="adj" fmla="val 543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5100" y="34480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任务简报四要素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5100" y="381000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Goal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5100" y="403860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要什么——一句话说清终点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10650" y="381000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Context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10650" y="403860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在哪儿——具体路径，指向既有范式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5100" y="436245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Constraints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459105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不能做什么——依赖、范围、风格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0650" y="436245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Done-when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10650" y="459105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什么叫完成——可运行、可判定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9600" y="5200650"/>
            <a:ext cx="10972800" cy="723900"/>
          </a:xfrm>
          <a:prstGeom prst="roundRect">
            <a:avLst>
              <a:gd name="adj" fmla="val 1315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9150" y="55149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9650" y="5200650"/>
            <a:ext cx="7620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76400" y="5276850"/>
            <a:ext cx="9715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明确程度与任务确定性成正比：探索期可以用模糊提示找灵感（“你觉得这个文件有哪些可改进？”），交付期必须给出可判定的验收。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能力层：五种扩展机制，别选错工具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要共享内容用技能；要隔离消耗用子智能体——选错是常见的浪费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6953250" cy="4552950"/>
          </a:xfrm>
          <a:prstGeom prst="roundRect">
            <a:avLst>
              <a:gd name="adj" fmla="val 2092"/>
            </a:avLst>
          </a:prstGeom>
          <a:solidFill>
            <a:srgbClr val="141F30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3900" y="1504950"/>
          <a:ext cx="672465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2819400"/>
                <a:gridCol w="26479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什么时候用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例子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规则文件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永远生效的项目约定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“用 pnpm 不用 npm；提交前跑测试”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技能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可复用的知识 / 工作流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部署清单、API 规范、代码评审手册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子智能体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读大量文件但只回报结论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重型调研、专职安全审查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外部工具连接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访问外部数据或动作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查数据库、发消息、读工单系统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事件钩子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每次必然发生的自动化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每次文件编辑后自动跑 lint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插件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多仓库复用同一套配置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把技能+钩子打包成可分发单元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905750" y="1428750"/>
            <a:ext cx="3676650" cy="1866900"/>
          </a:xfrm>
          <a:prstGeom prst="roundRect">
            <a:avLst>
              <a:gd name="adj" fmla="val 510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4350" y="1581150"/>
            <a:ext cx="3238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最易混淆的一对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4350" y="1924050"/>
            <a:ext cx="3238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技能 = </a:t>
            </a: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可复用内容，加载进你的主窗口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4350" y="2552700"/>
            <a:ext cx="3238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子智能体 = </a:t>
            </a: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隔离执行者，独立上下文，只回传摘要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5750" y="3486150"/>
            <a:ext cx="3676650" cy="2476500"/>
          </a:xfrm>
          <a:prstGeom prst="roundRect">
            <a:avLst>
              <a:gd name="adj" fmla="val 384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4350" y="36766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4850" y="36195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4350" y="3905250"/>
            <a:ext cx="3219450" cy="1924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内容由技能承载，消耗由子智能体隔离。分不清这一对，等于把全部调研成本压在自己的主上下文里——窗口就是这么被悄悄吃掉的。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渐进式搭建：让问题触发配置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你不需要预先配置任何东西——每个机制都有一个可识别的触发信号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4097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同一个约定或命令，它错了两次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91300" y="16573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972300" y="14097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2800" y="14097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写进规则文件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19431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19431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你反复输入同一段开场提示词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91300" y="21907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72300" y="19431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62800" y="19431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存成可直接调用的技能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24765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24765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同一份操作手册粘贴了第三次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91300" y="27241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72300" y="24765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2800" y="24765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固化成技能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0099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0099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手动从浏览器复制它看不到的数据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91300" y="32575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72300" y="30099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62800" y="30099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把那个系统接成外部工具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600" y="35433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200" y="35433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它为找一个符号要读很多文件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91300" y="37909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72300" y="35433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2800" y="35433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装代码智能插件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40767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" y="40767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支线任务灌入大量不再引用的输出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91300" y="43243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972300" y="40767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62800" y="40767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转给子智能体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46101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46101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希望某件事每次自动发生、无需提醒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91300" y="48577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972300" y="46101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2800" y="46101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写成事件钩子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51435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51435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第二个仓库需要同样的配置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591300" y="53911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972300" y="51435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62800" y="51435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打包成插件分发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96500" y="1409700"/>
            <a:ext cx="1485900" cy="4229100"/>
          </a:xfrm>
          <a:prstGeom prst="roundRect">
            <a:avLst>
              <a:gd name="adj" fmla="val 641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1619250"/>
            <a:ext cx="1104900" cy="361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配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置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顺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序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由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问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题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5810250"/>
            <a:ext cx="10972800" cy="495300"/>
          </a:xfrm>
          <a:prstGeom prst="roundRect">
            <a:avLst>
              <a:gd name="adj" fmla="val 1923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150" y="60102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9650" y="5810250"/>
            <a:ext cx="762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76400" y="5886450"/>
            <a:ext cx="97155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同样的信号也告诉你何时更新：一个反复出现的错误，应该是规则文件的一次编辑，而不是对话里的又一次口头纠正。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会话层：上下文治理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清理、压缩、回溯是你的日常操作——不是急救手段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4953000" cy="2038350"/>
          </a:xfrm>
          <a:prstGeom prst="roundRect">
            <a:avLst>
              <a:gd name="adj" fmla="val 467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600200"/>
            <a:ext cx="4381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硬规则：同一问题上纠正了两次</a:t>
            </a:r>
          </a:p>
          <a:p>
            <a:pPr algn="l">
              <a:lnSpc>
                <a:spcPct val="145000"/>
              </a:lnSpc>
            </a:pPr>
            <a:r>
              <a:rPr sz="14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立刻清理上下文，重开会话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2324100"/>
            <a:ext cx="44767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此时上下文已塞满失败方案。带着学到的东西写一个更好的初始提示词——干净的会话几乎总是优于一个堆满纠正的长会话。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3619500"/>
            <a:ext cx="4953000" cy="1600200"/>
          </a:xfrm>
          <a:prstGeom prst="roundRect">
            <a:avLst>
              <a:gd name="adj" fmla="val 59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77190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检查点：放心让它试错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095750"/>
            <a:ext cx="44767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冒险方案不行就回溯换条路，检查点随会话保存，隔天依然可回溯。⚠ 但它只追踪编辑工具产生的改动——检查点不能替代 git。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0" y="14287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05500" y="14287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4100" y="15430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主动压缩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4100" y="18288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任务之间清理上下文；定向压缩（“聚焦 API 改动”）；把“压缩时必须保留什么”写进规则文件。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24193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05500" y="24193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4100" y="25336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调研外包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4100" y="28194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需要读大量文件的调研交给子智能体——在独立上下文里消耗，只回传摘要。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0" y="34099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05500" y="34099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4100" y="35242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即时纠偏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4100" y="38100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发现跑偏立刻中断改向，上下文保留，可以马上换指令。越晚纠偏，成本越高。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05500" y="44005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05500" y="44005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4100" y="45148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会话当分支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4100" y="48006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每条工作流一个命名会话（如 oauth-migration），跨天继续不用重复解释背景。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467350"/>
            <a:ext cx="10972800" cy="723900"/>
          </a:xfrm>
          <a:prstGeom prst="roundRect">
            <a:avLst>
              <a:gd name="adj" fmla="val 1315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9150" y="57816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650" y="5467350"/>
            <a:ext cx="7620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76400" y="5543550"/>
            <a:ext cx="9715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最好的结果来自紧密的反馈循环，而不是完美的第一版提示词。发现跑偏立刻纠偏——这是用 Agent 和用搜索引擎的根本区别。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先画笼子，再放大产出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先把一个智能体用得有效，再用并行、无头与流水线把产出成倍放大——顺序反了，只会把低效复制 N 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权限：先画笼子，再放它出去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每次都弹窗确认，点过第十次你就不再是审查——只是在点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104900"/>
          </a:xfrm>
          <a:prstGeom prst="roundRect">
            <a:avLst>
              <a:gd name="adj" fmla="val 86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621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47850"/>
            <a:ext cx="48577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全确认 = 安全但注意力疲劳，审查形同虚设；全放行 = 风险失控。真正有效的注意力是稀缺的，别消耗在低价值点击上。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6860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8194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两条互补的解法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105150"/>
            <a:ext cx="485775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权限白名单：具名放行你信任的操作 ｜ 沙箱隔离：限制文件系统与网络边界，让它在笼子内自由工作。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867150"/>
            <a:ext cx="5334000" cy="2114550"/>
          </a:xfrm>
          <a:prstGeom prst="roundRect">
            <a:avLst>
              <a:gd name="adj" fmla="val 45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01955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四种权限模式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434340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自动复核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2150" y="434340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独立模型替你拦风险操作，日常改动不弹窗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74345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手动确认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2150" y="474345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写文件、跑命令前逐次询问——你想亲自批准时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14350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只读规划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2150" y="514350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只能探索与出方案，不落任何修改——探索阶段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54355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预批准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2150" y="554355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只放行具名工具，其余一律拒绝——无人值守批量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14287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14287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5100" y="15621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沙箱隔离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18669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文件系统与网络必须有边界，不让它在主环境裸奔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6500" y="24574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6500" y="24574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5100" y="25908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最小权限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5100" y="28956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批量运行前具名声明放行工具，不做全量授权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34861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34861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5100" y="36195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全程可审计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39243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能回答“它改了什么、执行了什么命令”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6500" y="45148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6500" y="45148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5100" y="46482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危险动作人工闸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5100" y="49530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数据变更、部署、密钥操作保留人工审批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6500" y="5562600"/>
            <a:ext cx="5295900" cy="571500"/>
          </a:xfrm>
          <a:prstGeom prst="roundRect">
            <a:avLst>
              <a:gd name="adj" fmla="val 1666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96050" y="580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86550" y="5562600"/>
            <a:ext cx="762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53300" y="5638800"/>
            <a:ext cx="40386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便利来自权限，风险也来自权限——顺序不能颠倒。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规模化：从一个 Agent 到一条流水线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先让一个智能体用得有效，再成倍放大——顺序反了，只会复制低效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5430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无头模式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8478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命令行非交互调用 + 结构化输出（JSON），接进 CI、提交前钩子与自动化脚本。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32410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243840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并行会话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74320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在隔离检出中同时跑多个会话，改动互不覆盖；会话之间可传递发现。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32194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3337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扇出迁移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6385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大迁移拆成批量任务：先 2-3 个小样试跑、调提示词，再全量——具名放行所需工具。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11480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22910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无人值守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453390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自动复核模式下跑长任务；结束时由全新上下文的评审智能体做对抗式检查。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600" y="50101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51244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流水线集成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54292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输出 JSON 供下游命令消费——让 Agent 成为数据处理管道中的一环。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67500" y="1428750"/>
            <a:ext cx="4914900" cy="2495550"/>
          </a:xfrm>
          <a:prstGeom prst="roundRect">
            <a:avLst>
              <a:gd name="adj" fmla="val 38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6100" y="1581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Writer / Reviewer 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6100" y="196215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会话 A · Writer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6100" y="21907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“为 API 端点实现限流器。”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6100" y="259080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会话 B · Reviewer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6100" y="281940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“审查这个实现：边界情况、竞态条件、与既有中间件范式的一致性。”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6100" y="321945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会话 A · Writer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6100" y="34480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“这是评审意见（粘贴 B 的输出），处理这些问题。”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67500" y="4076700"/>
            <a:ext cx="4914900" cy="1905000"/>
          </a:xfrm>
          <a:prstGeom prst="roundRect">
            <a:avLst>
              <a:gd name="adj" fmla="val 500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96100" y="4267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42100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6100" y="4495800"/>
            <a:ext cx="4457700" cy="1352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全新上下文的评审者不会偏向自己刚写的代码——多会话最大的红利不是速度，是质量。⚠ 被命令“找缺口”的评审者几乎必然报出缺口：明确只标记影响正确性的问题，把其余视为可选，警惕过度工程。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七个高频失败模式与修正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它们反复出现在所有团队——早识别，省的是一下午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7315200" cy="4552950"/>
          </a:xfrm>
          <a:prstGeom prst="roundRect">
            <a:avLst>
              <a:gd name="adj" fmla="val 2092"/>
            </a:avLst>
          </a:prstGeom>
          <a:solidFill>
            <a:srgbClr val="141F30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3900" y="1504950"/>
          <a:ext cx="7086600" cy="430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5300"/>
                <a:gridCol w="2781300"/>
              </a:tblGrid>
              <a:tr h="438150"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失败模式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修正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· 大杂烩会话：任务串味，上下文塞满无关信息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无关任务之间，清理上下文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· 反复纠正：改了两次还是错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清理重开，重写初始提示词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· 规则文件过长：重要规则淹没在噪声里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无情修剪；能自动化的改写成钩子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· 信任-验证缺口：看似合理，漏掉边界情况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无法验证的东西，不上线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 · 无限探索：一次调研读了上百个文件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收窄范围，或交给子智能体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· 规格未固化就开工：口述需求、边做边改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先写 SPEC，再开新会话执行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 · 批量任务权限全放行：为了省事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具名放行 + 沙箱 + 预批准模式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1409700"/>
            <a:ext cx="335280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5811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表现不好时，按序自查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0002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① 上下文是否太脏？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4574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② 提示词是否太糊？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9146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③ 任务是否大到不该一次跑完？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3718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④ 验证信号是否存在？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3848100"/>
            <a:ext cx="2857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八成问题落在其中一条。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476750"/>
            <a:ext cx="3352800" cy="1600200"/>
          </a:xfrm>
          <a:prstGeom prst="roundRect">
            <a:avLst>
              <a:gd name="adj" fmla="val 595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582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87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895850"/>
            <a:ext cx="28956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这些不是“工具不行”，而是工作方法问题——方法对了，换一个 Agent 也是同样的效果。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团队落地：90 天，三个阶段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先统一规则文件，再谈覆盖率——顺序不能颠倒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428750"/>
            <a:ext cx="38100" cy="131445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5811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第 1 个 30 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5430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建规范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19240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规则文件 &lt; 100 行 + 3 个高频技能 + 2 个确定性钩子。判定：新人照规则文件能跑通一次完整改动。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8765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2876550"/>
            <a:ext cx="38100" cy="13144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30289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第 2 个 60 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908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跑试点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3718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1-2 个真实需求的端到端案例（含 SPEC、diff、验证输出、评审记录）。判定：复盘能说清哪里省了时间、哪里把时间还回去了。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3243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4324350"/>
            <a:ext cx="38100" cy="13144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44767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第 3 个 90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4386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进流水线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300" y="48196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CI 中的无头调用 + 提交前钩子 + 权限白名单基线。判定：无人值守任务有失败告警，且有回滚路径。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8500" y="14287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77100" y="15430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采纳率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7100" y="18478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实际使用比例与频次——不好用的东西推广不动，这是前置指标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8500" y="23431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7100" y="24574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返工率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27622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产出被人工推翻/重写的比例——直接反映上下文质量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8500" y="32575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7100" y="33718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缺陷密度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7100" y="36766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单位改动引入的缺陷数——防止“速度换质量”的自欺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8500" y="41719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77100" y="42862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端到端时长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77100" y="45910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需求提出到合入的墙钟时间——唯一能证明“整体更快”的指标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48500" y="5124450"/>
            <a:ext cx="4533900" cy="1276350"/>
          </a:xfrm>
          <a:prstGeom prst="roundRect">
            <a:avLst>
              <a:gd name="adj" fmla="val 746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77100" y="53149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67600" y="52578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100" y="5543550"/>
            <a:ext cx="40767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只统计“生成了多少代码”会奖励错误行为——产出更多代码，从来不是工程目标。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914400"/>
            <a:ext cx="2857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09750"/>
            <a:ext cx="10287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5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这套方法的终点，不是让 AI 写代码——</a:t>
            </a:r>
          </a:p>
          <a:p>
            <a:pPr algn="l">
              <a:lnSpc>
                <a:spcPct val="155000"/>
              </a:lnSpc>
            </a:pPr>
            <a:r>
              <a:rPr sz="25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而是把团队的工程默契，从人的脑子里搬进仓库。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354330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771900"/>
            <a:ext cx="571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本周就能开始的三件事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1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为主仓库写一份规则文件，删到 100 行以内，纳入 git。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67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本周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用任务简报四要素跑一个真实需求——必须带一个能跑出 pass/fail 的验证命令。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8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43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本周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43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把一个重复了三次以上的操作，固化成可复用的技能。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753100"/>
            <a:ext cx="109728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何时打破规则：深陷复杂问题时让上下文累积；探索性任务跳过规划；想先看它怎么解释问题时用模糊提示——直觉比任何指南可靠，而直觉从实践中长出来。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64389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 spc="20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ENGINEERING PRACTICES ·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