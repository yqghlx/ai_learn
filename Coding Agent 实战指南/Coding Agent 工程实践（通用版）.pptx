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1504950"/>
            <a:ext cx="9144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76400" y="139065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3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UNIVERSAL METHODOLOGY · VENDOR NEUTRAL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71650"/>
            <a:ext cx="6667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Coding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24150"/>
            <a:ext cx="66675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0"/>
            <a:ext cx="6286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通用编码智能体方法论 · 从“会用”到“敢用”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60007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6124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67425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研发效能内训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6067425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4A6"/>
                </a:solidFill>
                <a:latin typeface="Consolas"/>
                <a:ea typeface="Consolas"/>
                <a:cs typeface="Consolas"/>
              </a:rPr>
              <a:t>2026.10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34500" y="6191250"/>
            <a:ext cx="2857500" cy="66675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0" y="6438900"/>
            <a:ext cx="2476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75" b="0" i="0" spc="20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BEST PRACTICES 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85750"/>
            <a:ext cx="3810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24000"/>
            <a:ext cx="57150" cy="11430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857500"/>
            <a:ext cx="2857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五个问题，</a:t>
            </a:r>
          </a:p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一条方法论主线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33800"/>
            <a:ext cx="28575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第 1 章先解决“用哪个”，其余四章讲方法。不绑定任何一款工具——换一个 Agent，这套方法原样生效。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500" y="1257300"/>
            <a:ext cx="7581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200" y="1466850"/>
            <a:ext cx="666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8250" y="1390650"/>
            <a:ext cx="533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选型篇 · 市场、形态与怎么选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8250" y="175260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现在有哪些工具，我该用哪个？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0" y="160020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P03 - P08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500" y="2228850"/>
            <a:ext cx="7581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7200" y="2438400"/>
            <a:ext cx="666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0" y="2362200"/>
            <a:ext cx="533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认知篇 · 一个约束与一种心智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8250" y="272415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为什么这套方法有效，而不是碰巧有用？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0" y="257175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P09 - P11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0500" y="3200400"/>
            <a:ext cx="7581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7200" y="3409950"/>
            <a:ext cx="666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250" y="3333750"/>
            <a:ext cx="533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方法篇 · 单次任务的标准动作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250" y="369570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一个需求从提出到合入，每步该怎么做？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0" y="354330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P12 - P16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500" y="4171950"/>
            <a:ext cx="7581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7200" y="4381500"/>
            <a:ext cx="666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8250" y="4305300"/>
            <a:ext cx="533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工程篇 · 上下文工程四层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250" y="466725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产出质量的差距，到底从哪一层来？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0" y="451485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P17 - P23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00500" y="5143500"/>
            <a:ext cx="7581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200" y="5353050"/>
            <a:ext cx="666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8250" y="5276850"/>
            <a:ext cx="533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规模化篇 · 权限、并行与落地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8250" y="563880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如何从一个人快，走到整个团队快？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0" y="548640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P24 - P28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目录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_ch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选型篇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先看战场，再定工具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这一章只回答两件事：现在有什么、你该选哪个。后面四章讲的方法不依赖你选了谁——所以从第 2 章起，不再提任何产品名。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全球格局：一个已经重排过的市场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90% 的职业开发者每周都在用——座次却在七个月内换了一遍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33500"/>
            <a:ext cx="6667500" cy="3676650"/>
          </a:xfrm>
          <a:prstGeom prst="roundRect">
            <a:avLst>
              <a:gd name="adj" fmla="val 25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485900"/>
            <a:ext cx="4000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工作中使用率 · 2026 年 5–7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752600"/>
            <a:ext cx="5334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同一人可多选，故总和 &gt; 100%；口径是“使用率”，不是营收份额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57400"/>
            <a:ext cx="144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4100" y="2095500"/>
            <a:ext cx="2819400" cy="17145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24100" y="2095500"/>
            <a:ext cx="2667000" cy="1714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057400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39%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0" y="2076450"/>
            <a:ext cx="1238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1月 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457450"/>
            <a:ext cx="144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GitHub 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4100" y="2495550"/>
            <a:ext cx="2819400" cy="17145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4100" y="2495550"/>
            <a:ext cx="1438275" cy="1714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457450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0" y="2476500"/>
            <a:ext cx="1238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1月 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857500"/>
            <a:ext cx="144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OpenAI Codex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4100" y="2895600"/>
            <a:ext cx="2819400" cy="17145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24100" y="2895600"/>
            <a:ext cx="1095375" cy="1714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857500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0" y="2876550"/>
            <a:ext cx="1238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1月 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3257550"/>
            <a:ext cx="144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24100" y="3295650"/>
            <a:ext cx="2819400" cy="17145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24100" y="3295650"/>
            <a:ext cx="819150" cy="1714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3257550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5500" y="3276600"/>
            <a:ext cx="1238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1月 18%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3657600"/>
            <a:ext cx="144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JetBrains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24100" y="3695700"/>
            <a:ext cx="2819400" cy="17145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24100" y="3695700"/>
            <a:ext cx="609600" cy="1714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3657600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0" y="3676650"/>
            <a:ext cx="1238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1月 13%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4057650"/>
            <a:ext cx="144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24100" y="4095750"/>
            <a:ext cx="2819400" cy="17145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324100" y="4095750"/>
            <a:ext cx="476250" cy="1714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4057650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5500" y="4076700"/>
            <a:ext cx="1238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开源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4457700"/>
            <a:ext cx="144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Google Antigravity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24100" y="4495800"/>
            <a:ext cx="2819400" cy="17145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24100" y="4495800"/>
            <a:ext cx="409575" cy="1714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4457700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0" y="4476750"/>
            <a:ext cx="1238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印度 15%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0" y="1333500"/>
            <a:ext cx="3962400" cy="1600200"/>
          </a:xfrm>
          <a:prstGeom prst="roundRect">
            <a:avLst>
              <a:gd name="adj" fmla="val 5952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8600" y="1524000"/>
            <a:ext cx="3619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90%</a:t>
            </a:r>
            <a:r>
              <a:rPr sz="112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   每周至少用一次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8600" y="1981200"/>
            <a:ext cx="3619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68%</a:t>
            </a:r>
            <a:r>
              <a:rPr sz="112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   每天都在用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48600" y="2419350"/>
            <a:ext cx="361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样本 15,000+ 职业开发者，按地区与语言加权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0000" y="3124200"/>
            <a:ext cx="3962400" cy="1885950"/>
          </a:xfrm>
          <a:prstGeom prst="roundRect">
            <a:avLst>
              <a:gd name="adj" fmla="val 505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848600" y="3314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39100" y="325755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600" y="3543300"/>
            <a:ext cx="35052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七个月里两个翻倍、两个下滑。把选型押在今天的排名上，等于给半年后埋一次返工——选“能长跑的形态”，而不是“当期第一名”。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600" y="5105400"/>
            <a:ext cx="10972800" cy="723900"/>
          </a:xfrm>
          <a:prstGeom prst="roundRect">
            <a:avLst>
              <a:gd name="adj" fmla="val 1184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200" y="5200650"/>
            <a:ext cx="105537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数据来源：JetBrains《Developer Ecosystem Survey 2026》，15,000+ 职业开发者，2026-05 至 07 田野期；“1 月”为同年 1 月波次，用于对照七个月变化。</a:t>
            </a:r>
          </a:p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未进该调研口径、但值得单独看：DeepSeek Harness（2026-08 开源，MIT，发布两周 GitHub 破 3 万星）、Pi（2026-10 发布 1.0，MIT 终端智能体）——都走“自托管 + 可换模型”的开源路线。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选型篇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国内格局：两种口径，且榜单会漏掉新人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“用的人最多”和“赚的钱最多”不是同一家——2026 下半年还有三家刚入场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33500"/>
            <a:ext cx="3524250" cy="2857500"/>
          </a:xfrm>
          <a:prstGeom prst="roundRect">
            <a:avLst>
              <a:gd name="adj" fmla="val 333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485900"/>
            <a:ext cx="3143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企业侧 · 收入份额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752600"/>
            <a:ext cx="3143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IDC 口径 · 2026 · 企业付费收入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383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阿里 Qoder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7900" y="20764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47900" y="2076450"/>
            <a:ext cx="1419225" cy="1524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2850" y="20383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47.6%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4193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智谱 ZCode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7900" y="24574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7900" y="2457450"/>
            <a:ext cx="342900" cy="1524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2850" y="24193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11.5%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8003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商汤 Raccoon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7900" y="28384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7900" y="2838450"/>
            <a:ext cx="314325" cy="1524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2850" y="28003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10.5%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1813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腾讯 CodeBuddy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7900" y="32194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47900" y="3219450"/>
            <a:ext cx="200025" cy="1524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52850" y="31813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6.9%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35623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百度 文心快码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7900" y="36004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47900" y="3600450"/>
            <a:ext cx="171450" cy="1524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2850" y="35623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6.0%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3810000"/>
            <a:ext cx="31432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25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注：ZCode 是智谱当前主推的编程智能体，CodeGeeX 为其早期 IDE 插件品牌。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4350" y="1333500"/>
            <a:ext cx="3524250" cy="2857500"/>
          </a:xfrm>
          <a:prstGeom prst="roundRect">
            <a:avLst>
              <a:gd name="adj" fmla="val 333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2950" y="1485900"/>
            <a:ext cx="3143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个人侧 · IDE 使用率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2950" y="1752600"/>
            <a:ext cx="3143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媒体引用口径 · 2026 · 实际在用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4850" y="20383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字节 Trae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62650" y="20764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62650" y="2076450"/>
            <a:ext cx="1419225" cy="1524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67600" y="20383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41.2%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4850" y="24574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阿里 通义灵码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62650" y="24955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62650" y="2495550"/>
            <a:ext cx="638175" cy="1524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7600" y="24574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18.5%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4850" y="2876550"/>
            <a:ext cx="1409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百度 文心快码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62650" y="2914650"/>
            <a:ext cx="1428750" cy="152400"/>
          </a:xfrm>
          <a:prstGeom prst="roundRect">
            <a:avLst>
              <a:gd name="adj" fmla="val 50000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962650" y="2914650"/>
            <a:ext cx="419100" cy="1524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67600" y="2876550"/>
            <a:ext cx="4381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12.3%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4850" y="3429000"/>
            <a:ext cx="31432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文心快码服务 800 万+ 开发者；Cursor 中国区使用率一年内由 28% 降至 16%（JetBrains 2026）。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39100" y="1333500"/>
            <a:ext cx="3543300" cy="2857500"/>
          </a:xfrm>
          <a:prstGeom prst="roundRect">
            <a:avLst>
              <a:gd name="adj" fmla="val 3333"/>
            </a:avLst>
          </a:prstGeom>
          <a:solidFill>
            <a:srgbClr val="1C2839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7700" y="1485900"/>
            <a:ext cx="3143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榜单之外 · 2026 下半年新入场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7700" y="1752600"/>
            <a:ext cx="3143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发布晚于榜单口径，份额尚未反映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019300"/>
            <a:ext cx="3200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Kimi Code · 月之暗面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228850"/>
            <a:ext cx="3200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8A94A6"/>
                </a:solidFill>
                <a:latin typeface="Consolas"/>
                <a:ea typeface="Consolas"/>
                <a:cs typeface="Consolas"/>
              </a:rPr>
              <a:t>2026-09 桌面端 1.0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419350"/>
            <a:ext cx="32004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内置终端 / 浏览器 / Git，Plan · Swarm · Tower 多模式协作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2724150"/>
            <a:ext cx="3200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MiniMax Code · 稀宇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933700"/>
            <a:ext cx="3200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8A94A6"/>
                </a:solidFill>
                <a:latin typeface="Consolas"/>
                <a:ea typeface="Consolas"/>
                <a:cs typeface="Consolas"/>
              </a:rPr>
              <a:t>2026-06 随 M3 发布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3124200"/>
            <a:ext cx="32004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桌面客户端（多端），基于 OpenCode + Pi 构建，支持 Computer 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429000"/>
            <a:ext cx="3200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MiMo Code · 小米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3638550"/>
            <a:ext cx="3200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2" b="0" i="0">
                <a:solidFill>
                  <a:srgbClr val="8A94A6"/>
                </a:solidFill>
                <a:latin typeface="Consolas"/>
                <a:ea typeface="Consolas"/>
                <a:cs typeface="Consolas"/>
              </a:rPr>
              <a:t>2026-06 开源 MIT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829050"/>
            <a:ext cx="32004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终端原生，fork 自 OpenCode；持久记忆 + Compose 模式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" y="4343400"/>
            <a:ext cx="7048500" cy="1676400"/>
          </a:xfrm>
          <a:prstGeom prst="roundRect">
            <a:avLst>
              <a:gd name="adj" fmla="val 5681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8200" y="4533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" y="447675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00" y="4762500"/>
            <a:ext cx="65913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国内“用的人多”和“赚的钱多”是两件事，份额榜单还会漏掉刚入场的人。更值得注意的是：MiniMax Code 与 MiMo Code 都直接基于开源 OpenCode 构建——模型厂商也不自己写 harness，而是 fork 开源 harness 再叠自己的模型。选型别看份额，看合规边界、工具链与自主权。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10500" y="4343400"/>
            <a:ext cx="3771900" cy="1676400"/>
          </a:xfrm>
          <a:prstGeom prst="roundRect">
            <a:avLst>
              <a:gd name="adj" fmla="val 5681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39100" y="4495800"/>
            <a:ext cx="3238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数据来源与可信度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39100" y="4819650"/>
            <a:ext cx="33337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份额为 IDC《中国 AI 编程市场》报告的二手引用；新入场三家信息来自 2026-06 至 09 的官方发布与公开报道，份额数据尚未覆盖。演讲前建议核对原始报告。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选型篇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开源路线：Harness 是可替换的那一层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MIT 许可、可自托管、可换模型——同一个模型，换一个 harness 就是另一个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3350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050" y="1428750"/>
            <a:ext cx="31813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DeepSeek Harness (dsh)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1695450"/>
            <a:ext cx="31813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插件化运行底座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050" y="1943100"/>
            <a:ext cx="3181350" cy="9525"/>
          </a:xfrm>
          <a:prstGeom prst="rect">
            <a:avLst/>
          </a:prstGeom>
          <a:solidFill>
            <a:srgbClr val="29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050" y="20383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许可 / 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3835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MIT · v0.1 预览版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352675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52675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一切皆插件 · Cordis 内核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266700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6700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追加式事件流 · 自动压缩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2981325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沙箱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981325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内置，可热插拔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2956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29565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接口仍有破坏性变更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3875" y="133350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5325" y="1428750"/>
            <a:ext cx="31813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5325" y="1695450"/>
            <a:ext cx="31813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极简终端智能体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5325" y="1943100"/>
            <a:ext cx="3181350" cy="9525"/>
          </a:xfrm>
          <a:prstGeom prst="rect">
            <a:avLst/>
          </a:prstGeom>
          <a:solidFill>
            <a:srgbClr val="29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5325" y="20383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许可 / 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4475" y="203835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MIT · 1.0 已发布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5325" y="2352675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4475" y="2352675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只给 read/write/edit/bash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5325" y="266700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4475" y="266700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系统提示约 2–3k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5325" y="2981325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沙箱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4475" y="2981325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无，依赖外部环境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5325" y="32956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475" y="329565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官方明确不做子代理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8150" y="133350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1428750"/>
            <a:ext cx="31813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1695450"/>
            <a:ext cx="31813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终端优先的全能选手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943100"/>
            <a:ext cx="3181350" cy="9525"/>
          </a:xfrm>
          <a:prstGeom prst="rect">
            <a:avLst/>
          </a:prstGeom>
          <a:solidFill>
            <a:srgbClr val="29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20383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许可 / 状态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8750" y="203835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MIT · 社区规模最大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352675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8750" y="2352675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配置化工具 + MCP 外接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66700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8750" y="266700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支持 75+ 模型提供方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981325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沙箱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8750" y="2981325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进程隔离 C/S 架构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295650"/>
            <a:ext cx="914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0" y="3295650"/>
            <a:ext cx="23622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系统提示约 10k token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600" y="3848100"/>
            <a:ext cx="4953000" cy="952500"/>
          </a:xfrm>
          <a:prstGeom prst="roundRect">
            <a:avLst>
              <a:gd name="adj" fmla="val 10000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200" y="3962400"/>
            <a:ext cx="4572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Model + Harness =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267200"/>
            <a:ext cx="4572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模型是大脑，harness 是执行神经系统：上下文怎么管、怎么隔离、工具怎么调度，都由 harness 决定。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53100" y="3848100"/>
            <a:ext cx="5829300" cy="952500"/>
          </a:xfrm>
          <a:prstGeom prst="roundRect">
            <a:avLst>
              <a:gd name="adj" fmla="val 1000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81700" y="3962400"/>
            <a:ext cx="552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还有这些（同为可自托管 / 可换模型）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1700" y="4248150"/>
            <a:ext cx="5524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Cline（VS Code，逐操作审批）· OpenHands（自主 + 沙箱）· Aider（git 原生）· Goose（MCP 原生）· Codex CLI / Gemini CLI（厂商开源）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9600" y="4953000"/>
            <a:ext cx="539115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200" y="5067300"/>
            <a:ext cx="495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该走开源路线的信号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8200" y="5457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0600" y="53911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代码与数据不能出网（合规 / 数据本地化）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8200" y="5667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0600" y="56007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必须能换模型，不愿被单一厂商绑定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8200" y="5876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0600" y="58102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规模上来后，按席位计费成本线性增长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91250" y="4953000"/>
            <a:ext cx="539115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9850" y="5067300"/>
            <a:ext cx="495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代价：开源 ≠ 省事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19850" y="5457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72250" y="53911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要自己搭建、维护与升级，没有厂商兜底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19850" y="5667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72250" y="56007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早期版本接口不稳，生产环境慎用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19850" y="5876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72250" y="58102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参数与状态随版本快速变化，选型前以仓库为准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选型篇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五类形态：先认形态，再看品牌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形态决定能力边界，品牌只决定细节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33500"/>
            <a:ext cx="10972800" cy="3467100"/>
          </a:xfrm>
          <a:prstGeom prst="roundRect">
            <a:avLst>
              <a:gd name="adj" fmla="val 274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44780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2700" y="1447800"/>
            <a:ext cx="2000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代表产品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9150" y="1447800"/>
            <a:ext cx="2667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擅长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2350" y="1447800"/>
            <a:ext cx="3333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代价 / 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714500"/>
            <a:ext cx="10668000" cy="9525"/>
          </a:xfrm>
          <a:prstGeom prst="rect">
            <a:avLst/>
          </a:prstGeom>
          <a:solidFill>
            <a:srgbClr val="29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09750"/>
            <a:ext cx="10820400" cy="533400"/>
          </a:xfrm>
          <a:prstGeom prst="roundRect">
            <a:avLst>
              <a:gd name="adj" fmla="val 10714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1943100"/>
            <a:ext cx="1714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IDE 插件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700" y="1866900"/>
            <a:ext cx="2000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Copilot · 通义灵码 · CodeBuddy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1866900"/>
            <a:ext cx="2667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嵌入现有编辑器：补全、解释、局部重构，零迁移成本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2350" y="1866900"/>
            <a:ext cx="3333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受编辑器边界约束；跨文件长任务与流水线能力弱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533650"/>
            <a:ext cx="1714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命令行智能体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2700" y="2457450"/>
            <a:ext cx="2000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Pi · Claude Code · Codex CLI · OpenCode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2457450"/>
            <a:ext cx="2667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直接操作仓库与终端，易脚本化，可无头进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2350" y="2457450"/>
            <a:ext cx="3333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无可视化界面；上手曲线陡；长任务要自己治理上下文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990850"/>
            <a:ext cx="10820400" cy="533400"/>
          </a:xfrm>
          <a:prstGeom prst="roundRect">
            <a:avLst>
              <a:gd name="adj" fmla="val 10714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3124200"/>
            <a:ext cx="1714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编辑器内核分叉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52700" y="3048000"/>
            <a:ext cx="2000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Cursor · Trae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9150" y="3048000"/>
            <a:ext cx="2667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编辑器与智能体深度耦合，既有配置可一键迁移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2350" y="3048000"/>
            <a:ext cx="3333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团队工具链被锁定；版本节奏跟随厂商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714750"/>
            <a:ext cx="1714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桌面工作台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2700" y="3638550"/>
            <a:ext cx="2000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腾讯 WorkBuddy · Qoder 工作台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9150" y="3638550"/>
            <a:ext cx="2667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一人指挥多个专家智能体并行，适合复杂需求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2350" y="3638550"/>
            <a:ext cx="3333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上下文与 token 消耗高；可复现性与可控性挑战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171950"/>
            <a:ext cx="10820400" cy="533400"/>
          </a:xfrm>
          <a:prstGeom prst="roundRect">
            <a:avLst>
              <a:gd name="adj" fmla="val 10714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4305300"/>
            <a:ext cx="1714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云端智能体平台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2700" y="4229100"/>
            <a:ext cx="20002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Codex Cloud · Antigravity · Qoder 云端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9150" y="4229100"/>
            <a:ext cx="2667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任务在云端异步跑完，直接交付 PR，人不盯屏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2350" y="4229100"/>
            <a:ext cx="33337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代码与上下文出网，需过合规；结果可控性最低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4914900"/>
            <a:ext cx="10972800" cy="533400"/>
          </a:xfrm>
          <a:prstGeom prst="roundRect">
            <a:avLst>
              <a:gd name="adj" fmla="val 16071"/>
            </a:avLst>
          </a:prstGeom>
          <a:solidFill>
            <a:srgbClr val="1C2839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200" y="5029200"/>
            <a:ext cx="105156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12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可叠加的另一条线（见上页）· 开源、可自托管、可换模型：</a:t>
            </a:r>
            <a:r>
              <a:rPr sz="1012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DeepSeek Harness · Pi · OpenCode · Cline · OpenHands —— 与下面任何一种形态都能组合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560070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9150" y="5857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9650" y="5600700"/>
            <a:ext cx="7620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76400" y="5676900"/>
            <a:ext cx="97155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先看「跑在哪、怎么接入」定形态；要不要开源 / 自托管是另一条线，可叠加——两个维度各自独立，别混在一起比。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选型篇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怎么选：三步，一步一句话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先划掉不能用的，再按工作方式定形态，最后用真实任务验证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10972800" cy="838200"/>
          </a:xfrm>
          <a:prstGeom prst="roundRect">
            <a:avLst>
              <a:gd name="adj" fmla="val 1136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428750"/>
            <a:ext cx="57150" cy="838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38300"/>
            <a:ext cx="857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1581150"/>
            <a:ext cx="400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排除 · 把不能用的先划掉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1866900"/>
            <a:ext cx="9525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12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代码不能出网 → 不用云端平台；必须自托管 / 可换模型 → 只走开源路线；深度绑定某个 IDE → 优先该 IDE 的插件或内核分叉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2381250"/>
            <a:ext cx="10972800" cy="838200"/>
          </a:xfrm>
          <a:prstGeom prst="roundRect">
            <a:avLst>
              <a:gd name="adj" fmla="val 1136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2381250"/>
            <a:ext cx="57150" cy="838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90800"/>
            <a:ext cx="857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9750" y="2533650"/>
            <a:ext cx="400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定形态 · 你要它替你做到哪一步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9750" y="2819400"/>
            <a:ext cx="9525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12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只要补全与解释 → IDE 插件；要它自己跑完并自验 → 命令行 或 桌面工作台；要它异步跑完直接交 PR → 云端平台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333750"/>
            <a:ext cx="10972800" cy="838200"/>
          </a:xfrm>
          <a:prstGeom prst="roundRect">
            <a:avLst>
              <a:gd name="adj" fmla="val 1136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3333750"/>
            <a:ext cx="57150" cy="838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43300"/>
            <a:ext cx="8572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9750" y="3486150"/>
            <a:ext cx="400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验证 · 同类里挑哪个，别靠感觉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9750" y="3771900"/>
            <a:ext cx="9525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12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同一批真实任务 + 同一套可运行验收（跑测试 / 跑构建），跑满两周再定——第一天的新鲜感会骗人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4476750"/>
            <a:ext cx="10972800" cy="1200150"/>
          </a:xfrm>
          <a:prstGeom prst="roundRect">
            <a:avLst>
              <a:gd name="adj" fmla="val 793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150" y="5029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650" y="4476750"/>
            <a:ext cx="762000" cy="1200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4552950"/>
            <a:ext cx="9715500" cy="1047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统一比最优重要：团队选型的产出不是「选到最好的那个」，而是「大家用同一个」——规则文件、技能库、钩子配置都要沉淀在同一套工具上。从第 2 章起全篇不提产品名，后面四章的方法不依赖你选了谁。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选型篇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_ch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认知篇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先理解约束，再使用方法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方法论不解释“为什么”，就只能靠记忆。理解这一个约束，后面所有做法都是它的推论——你不需要背清单。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一个约束：上下文窗口是稀缺资源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它是唯一必须持续管理的东西——几乎所有最佳实践都从这条事实推导出来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15621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 spc="20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现象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1790700"/>
            <a:ext cx="3048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消耗极快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095500"/>
            <a:ext cx="30861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一次调试会话或一轮代码库探索，就可能产出并消耗数万个 token——上下文不是慢慢用的，是几步就能烧掉一大截。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428750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6750" y="15621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 spc="20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现象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6750" y="1790700"/>
            <a:ext cx="3048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开始“遗忘”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750" y="2095500"/>
            <a:ext cx="30861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窗口将满时，模型开始遗忘你在第一句写下的指令——你以为它记得的约束，可能已经不起作用了。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428750"/>
            <a:ext cx="3505200" cy="1295400"/>
          </a:xfrm>
          <a:prstGeom prst="roundRect">
            <a:avLst>
              <a:gd name="adj" fmla="val 735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4350" y="15621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 spc="20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现象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4350" y="1790700"/>
            <a:ext cx="3048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犯错率上升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4350" y="2095500"/>
            <a:ext cx="30861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表现为“它明明知道却还是写错了”——其实它已经不“知道”了。这不是模型变笨，是窗口太满。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2952750"/>
            <a:ext cx="7048500" cy="838200"/>
          </a:xfrm>
          <a:prstGeom prst="roundRect">
            <a:avLst>
              <a:gd name="adj" fmla="val 11363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308610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推论一 · 能移出去的都移出去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371850"/>
            <a:ext cx="65913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长期约定进规则文件，偶发知识进技能，重型调研交给子智能体——主对话只留本次任务。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886200"/>
            <a:ext cx="7048500" cy="838200"/>
          </a:xfrm>
          <a:prstGeom prst="roundRect">
            <a:avLst>
              <a:gd name="adj" fmla="val 11363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01955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推论二 · 一次会话一类问题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305300"/>
            <a:ext cx="65913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堆积的无关历史不是背景资料，是会主动降低性能的噪声。任务串味时，立刻开新会话。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4819650"/>
            <a:ext cx="7048500" cy="838200"/>
          </a:xfrm>
          <a:prstGeom prst="roundRect">
            <a:avLst>
              <a:gd name="adj" fmla="val 11363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495300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推论三 · 不确定性靠结构消解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238750"/>
            <a:ext cx="65913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只堆更多解释，等于花最贵的资源买边际极低的确定性。真正有效的是可判定的信号。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5750" y="2952750"/>
            <a:ext cx="38100" cy="8382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7200" y="2914650"/>
            <a:ext cx="3505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6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上下文窗口装着整场对话：你的每条消息、它读过的每个文件、每条命令的输出。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5750" y="4114800"/>
            <a:ext cx="3676650" cy="1828800"/>
          </a:xfrm>
          <a:prstGeom prst="roundRect">
            <a:avLst>
              <a:gd name="adj" fmla="val 5208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4350" y="4305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4850" y="424815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4350" y="4533900"/>
            <a:ext cx="3219450" cy="1276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看不见的约束无法被管理——先让上下文占用始终可见（状态栏、用量显示），再谈优化。这和性能工程里“不上监控不谈调优”是同一回事。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认知篇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一种心智：从“帮你写”到“替你做”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“自主”不等于不需要人——它意味着人的工作位置变了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847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254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3900" y="1962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2050" y="1428750"/>
            <a:ext cx="5924550" cy="1257300"/>
          </a:xfrm>
          <a:prstGeom prst="roundRect">
            <a:avLst>
              <a:gd name="adj" fmla="val 7575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0650" y="163830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阶段一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81150"/>
            <a:ext cx="1905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代码补全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0650" y="1981200"/>
            <a:ext cx="542925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人在写，AI 猜下一个词。Tab 键就是全部交互，出错成本极低。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276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254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3900" y="3390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62050" y="2857500"/>
            <a:ext cx="5924550" cy="1257300"/>
          </a:xfrm>
          <a:prstGeom prst="roundRect">
            <a:avLst>
              <a:gd name="adj" fmla="val 7575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06705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阶段二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09900"/>
            <a:ext cx="1905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对话改写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50" y="3409950"/>
            <a:ext cx="542925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人规划，AI 生成整段。选中-提问-粘贴，心智仍是“我来改”。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4705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8577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62050" y="4286250"/>
            <a:ext cx="5924550" cy="1257300"/>
          </a:xfrm>
          <a:prstGeom prst="roundRect">
            <a:avLst>
              <a:gd name="adj" fmla="val 7575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4495800"/>
            <a:ext cx="1047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阶段三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38650"/>
            <a:ext cx="1905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自主执行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0650" y="4838700"/>
            <a:ext cx="542925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AI 拆任务、调工具、改文件、跑测试；人定边界、给约束、做验收。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0" y="1428750"/>
            <a:ext cx="4152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分工的变化</a:t>
            </a:r>
            <a:r>
              <a:rPr sz="9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   同一个需求，两种工作方式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9500" y="1809750"/>
            <a:ext cx="4152900" cy="933450"/>
          </a:xfrm>
          <a:prstGeom prst="roundRect">
            <a:avLst>
              <a:gd name="adj" fmla="val 102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8100" y="1914525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你的角色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8100" y="2124075"/>
            <a:ext cx="3733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过去 · </a:t>
            </a: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执行环节：亲手写代码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100" y="2343150"/>
            <a:ext cx="37338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现在 · </a:t>
            </a:r>
            <a:r>
              <a:rPr sz="9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边界环节（划定范围）＋ 验收环节（定义“完成”）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838450"/>
            <a:ext cx="4152900" cy="933450"/>
          </a:xfrm>
          <a:prstGeom prst="roundRect">
            <a:avLst>
              <a:gd name="adj" fmla="val 102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58100" y="2943225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AI 的角色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8100" y="3152775"/>
            <a:ext cx="3733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过去 · </a:t>
            </a: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返回建议文本，看完还得你来改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8100" y="3371850"/>
            <a:ext cx="37338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现在 · </a:t>
            </a:r>
            <a:r>
              <a:rPr sz="9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探索、规划、实施，自己跑验证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9500" y="3867150"/>
            <a:ext cx="4152900" cy="933450"/>
          </a:xfrm>
          <a:prstGeom prst="roundRect">
            <a:avLst>
              <a:gd name="adj" fmla="val 102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58100" y="3971925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主要瓶颈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8100" y="4181475"/>
            <a:ext cx="3733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过去 · </a:t>
            </a: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你敲键盘的速度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8100" y="4400550"/>
            <a:ext cx="3733800" cy="361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现在 · </a:t>
            </a:r>
            <a:r>
              <a:rPr sz="9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需求表述的精度＋验收信号的质量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29500" y="4933950"/>
            <a:ext cx="4152900" cy="1352550"/>
          </a:xfrm>
          <a:prstGeom prst="roundRect">
            <a:avLst>
              <a:gd name="adj" fmla="val 7042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58100" y="5124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8600" y="506730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8100" y="5353050"/>
            <a:ext cx="369570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站在执行环节评价交付工具，是最常见的认知错位——用“写得不如我快”去衡量一个该用“是否省掉了整个下午”来判断的东西。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认知篇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_ch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方法篇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一次需求，四个标准动作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给可运行的验证、先探索再编码、让它采访你、规格先行——四件事，把“玄学体验”变成“稳定产出”。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第一条纪律：给它一个可运行的验证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没有验证手段时，“看起来做完了”是唯一信号——于是你本人成了验证回路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5334000" cy="1123950"/>
          </a:xfrm>
          <a:prstGeom prst="roundRect">
            <a:avLst>
              <a:gd name="adj" fmla="val 847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6210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没有验证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847850"/>
            <a:ext cx="485775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它只能以“看起来像”为准。每个错误都等你发现——你把验证从机器搬回了自己身上，而且是串行的。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76600" y="2590800"/>
            <a:ext cx="0" cy="20955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09600" y="2819400"/>
            <a:ext cx="5334000" cy="1200150"/>
          </a:xfrm>
          <a:prstGeom prst="roundRect">
            <a:avLst>
              <a:gd name="adj" fmla="val 793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295275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给它一个能读出 pass / fail 的信号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38500"/>
            <a:ext cx="4857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测试套件、构建退出码、Linter、输出对比脚本、UI 截图比对。它做、它跑、它读结果、它继续改——循环自己闭合。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52900"/>
            <a:ext cx="5334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注意：它的检查通过 ≠ 你的验收通过——两者是不同层级，上线前你仍需端到端确认。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705350"/>
            <a:ext cx="5334000" cy="1276350"/>
          </a:xfrm>
          <a:prstGeom prst="roundRect">
            <a:avLst>
              <a:gd name="adj" fmla="val 7462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8200" y="4895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" y="483870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124450"/>
            <a:ext cx="48768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要证据，不要声明：完成后必须附上命令原文与原始输出（UI 改动附截图）。审证据比重跑验证快得多，且对你没在旁观的会话同样有效。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1352550"/>
            <a:ext cx="190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0" y="1676400"/>
            <a:ext cx="42481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级验证闸门</a:t>
            </a:r>
          </a:p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逐级降低你的注意力消耗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495550"/>
            <a:ext cx="5295900" cy="762000"/>
          </a:xfrm>
          <a:prstGeom prst="roundRect">
            <a:avLst>
              <a:gd name="adj" fmla="val 1125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495550"/>
            <a:ext cx="38100" cy="7620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4150" y="260985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L1 · 单次提示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2876550"/>
            <a:ext cx="4857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同一条消息里要求“跑检查并迭代”——任何任务，今天就能用。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500" y="3333750"/>
            <a:ext cx="5295900" cy="762000"/>
          </a:xfrm>
          <a:prstGeom prst="roundRect">
            <a:avLst>
              <a:gd name="adj" fmla="val 1125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6500" y="3333750"/>
            <a:ext cx="38100" cy="7620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4150" y="344805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L2 · 会话级目标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150" y="3714750"/>
            <a:ext cx="4857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由独立评估器每轮复核目标是否达成，未达成则继续——中长任务。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4171950"/>
            <a:ext cx="5295900" cy="762000"/>
          </a:xfrm>
          <a:prstGeom prst="roundRect">
            <a:avLst>
              <a:gd name="adj" fmla="val 1125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6500" y="4171950"/>
            <a:ext cx="38100" cy="7620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4150" y="428625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L3 · 确定性闸门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4150" y="4552950"/>
            <a:ext cx="4857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用脚本钩子在轮次结束前强制检查，不通过不许停——零例外的规范。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6500" y="5010150"/>
            <a:ext cx="5295900" cy="762000"/>
          </a:xfrm>
          <a:prstGeom prst="roundRect">
            <a:avLst>
              <a:gd name="adj" fmla="val 1125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86500" y="5010150"/>
            <a:ext cx="38100" cy="7620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4150" y="512445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L4 · 第三方复核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4150" y="5391150"/>
            <a:ext cx="4857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全新上下文的评审智能体：做题的人，不是打分的人——无人值守。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方法篇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提示词改写：三组实战对照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加约束比加形容词有效——每一组“好”，都附带了可判定的验收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5143500" cy="1238250"/>
          </a:xfrm>
          <a:prstGeom prst="roundRect">
            <a:avLst>
              <a:gd name="adj" fmla="val 769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621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✕  改写前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828800"/>
            <a:ext cx="466725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实现一个校验邮箱的函数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29300" y="2047875"/>
            <a:ext cx="361950" cy="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86500" y="1428750"/>
            <a:ext cx="5295900" cy="1238250"/>
          </a:xfrm>
          <a:prstGeom prst="roundRect">
            <a:avLst>
              <a:gd name="adj" fmla="val 7692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5100" y="15621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✓  改写后 · 给出验收标准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1828800"/>
            <a:ext cx="48387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写一个 validateEmail：user@example.com → true、invalid → false、user@.com → false。实现后运行测试，直到全部通过。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2838450"/>
            <a:ext cx="5143500" cy="1238250"/>
          </a:xfrm>
          <a:prstGeom prst="roundRect">
            <a:avLst>
              <a:gd name="adj" fmla="val 769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29718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✕  改写前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238500"/>
            <a:ext cx="466725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把仪表盘弄好看点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29300" y="3457575"/>
            <a:ext cx="361950" cy="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86500" y="2838450"/>
            <a:ext cx="5295900" cy="1238250"/>
          </a:xfrm>
          <a:prstGeom prst="roundRect">
            <a:avLst>
              <a:gd name="adj" fmla="val 7692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5100" y="29718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✓  改写后 · UI 改动要视觉验证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238500"/>
            <a:ext cx="48387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按这张设计稿实现（附截图）。完成后对结果截图并与原图对比，逐条列出差异并修复。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4248150"/>
            <a:ext cx="5143500" cy="1238250"/>
          </a:xfrm>
          <a:prstGeom prst="roundRect">
            <a:avLst>
              <a:gd name="adj" fmla="val 769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" y="43815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✕  改写前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648200"/>
            <a:ext cx="466725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构建挂了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29300" y="4867275"/>
            <a:ext cx="361950" cy="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86500" y="4248150"/>
            <a:ext cx="5295900" cy="1238250"/>
          </a:xfrm>
          <a:prstGeom prst="roundRect">
            <a:avLst>
              <a:gd name="adj" fmla="val 7692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100" y="43815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✓  改写后 · 修根因，不压症状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4648200"/>
            <a:ext cx="48387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构建失败，报错如下（粘贴完整错误）。修复并验证构建通过——处理根因，不要压制报错。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" y="5772150"/>
            <a:ext cx="10972800" cy="495300"/>
          </a:xfrm>
          <a:prstGeom prst="roundRect">
            <a:avLst>
              <a:gd name="adj" fmla="val 1923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9150" y="5972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650" y="5772150"/>
            <a:ext cx="7620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5848350"/>
            <a:ext cx="9715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一句话自检：把“完成定义”盖住——如果你无法判断这部分是否算完成，它就还不够具体。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方法篇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单次任务的标准动作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探索 → 规划 → 编码 → 提交——分开，是因为两段旅程的失败成本完全不同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2514600" cy="1676400"/>
          </a:xfrm>
          <a:prstGeom prst="roundRect">
            <a:avLst>
              <a:gd name="adj" fmla="val 5681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581150"/>
            <a:ext cx="76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92405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247900"/>
            <a:ext cx="213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只读模式下读懂相关代码，期间不得修改。让它讲清现状，而不是急着动手。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4200" y="2266950"/>
            <a:ext cx="304800" cy="0"/>
          </a:xfrm>
          <a:prstGeom prst="line">
            <a:avLst/>
          </a:prstGeom>
          <a:ln w="22225">
            <a:solidFill>
              <a:srgbClr val="4C8D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428750"/>
            <a:ext cx="2514600" cy="1676400"/>
          </a:xfrm>
          <a:prstGeom prst="roundRect">
            <a:avLst>
              <a:gd name="adj" fmla="val 5681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500" y="1581150"/>
            <a:ext cx="76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192405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2247900"/>
            <a:ext cx="213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产出实施方案：改哪些文件、流程是什么。人可以直接修改方案再批准。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2266950"/>
            <a:ext cx="304800" cy="0"/>
          </a:xfrm>
          <a:prstGeom prst="line">
            <a:avLst/>
          </a:prstGeom>
          <a:ln w="22225">
            <a:solidFill>
              <a:srgbClr val="4C8D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48400" y="1428750"/>
            <a:ext cx="2514600" cy="1676400"/>
          </a:xfrm>
          <a:prstGeom prst="roundRect">
            <a:avLst>
              <a:gd name="adj" fmla="val 5681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900" y="1581150"/>
            <a:ext cx="76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192405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编码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2247900"/>
            <a:ext cx="213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退出只读，按方案实现；为新逻辑补测试，跑到通过为止。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63000" y="2266950"/>
            <a:ext cx="304800" cy="0"/>
          </a:xfrm>
          <a:prstGeom prst="line">
            <a:avLst/>
          </a:prstGeom>
          <a:ln w="22225">
            <a:solidFill>
              <a:srgbClr val="4C8D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67800" y="1428750"/>
            <a:ext cx="2514600" cy="1676400"/>
          </a:xfrm>
          <a:prstGeom prst="roundRect">
            <a:avLst>
              <a:gd name="adj" fmla="val 5681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8300" y="1581150"/>
            <a:ext cx="76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192405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2247900"/>
            <a:ext cx="213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7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描述性提交信息，开 PR，附验证输出作为证据。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3524250"/>
            <a:ext cx="5334000" cy="2400300"/>
          </a:xfrm>
          <a:prstGeom prst="roundRect">
            <a:avLst>
              <a:gd name="adj" fmla="val 396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" y="36766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何时跳过规划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019550"/>
            <a:ext cx="485775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直接做：</a:t>
            </a:r>
            <a:r>
              <a:rPr sz="108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改错别字、加日志、重命名、单文件局部小修。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4686300"/>
            <a:ext cx="485775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值得规划：</a:t>
            </a:r>
            <a:r>
              <a:rPr sz="108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你对方案不确定 / 改动横跨多文件 / 你不熟悉被改的那部分代码。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5353050"/>
            <a:ext cx="48577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判据：一句话能描述清楚的 diff，就不要上仪式。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6500" y="3524250"/>
            <a:ext cx="5295900" cy="2400300"/>
          </a:xfrm>
          <a:prstGeom prst="roundRect">
            <a:avLst>
              <a:gd name="adj" fmla="val 3968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15100" y="3714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5600" y="365760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3943350"/>
            <a:ext cx="4838700" cy="1847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规划的成本是固定的，收益取决于“做错方向的概率”——用它对冲高不确定性，而不是给每个任务都上流程。探索错了，损失几轮对话；在错误方向写完 800 行再被发现，损失的是你的信任和一下午。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方法篇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大特性起手式：先让它采访你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不确定的地方不该让它猜，该让它问——把规格改精确，回报高于盯着实现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533400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1638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6859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1600200"/>
            <a:ext cx="2857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发出采访邀请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1924050"/>
            <a:ext cx="43815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“我想构建 X。请详细采访我：技术实现、UI/UX、边界情况、顾虑与权衡。不问显而易见的，深挖我可能没考虑到的。”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2876550"/>
            <a:ext cx="533400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" y="30861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1337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048000"/>
            <a:ext cx="2857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产出自包含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371850"/>
            <a:ext cx="43815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规格写进文件：点名涉及的文件与接口，声明什么不在范围内，以端到端验证步骤收尾。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324350"/>
            <a:ext cx="533400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200" y="4533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200" y="4581525"/>
            <a:ext cx="3238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4495800"/>
            <a:ext cx="2857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开新会话执行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4819650"/>
            <a:ext cx="43815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干净上下文，全部注意力给实施。书面规格随时可引用、可评审、可交接。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0" y="1428750"/>
            <a:ext cx="5295900" cy="2038350"/>
          </a:xfrm>
          <a:prstGeom prst="roundRect">
            <a:avLst>
              <a:gd name="adj" fmla="val 467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5100" y="15811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什么样的规格才算好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5100" y="1981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5600" y="1924050"/>
            <a:ext cx="4572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自包含 · </a:t>
            </a:r>
            <a:r>
              <a:rPr sz="1050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不读对话记录也能看懂——别人（和未来的你）可以直接接手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5100" y="2476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5600" y="2419350"/>
            <a:ext cx="4572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有边界 · </a:t>
            </a:r>
            <a:r>
              <a:rPr sz="1050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明确写下“什么不做”——范围蔓延是 Agent 返工的最大来源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100" y="2971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5600" y="2914650"/>
            <a:ext cx="4572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8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可验收 · </a:t>
            </a:r>
            <a:r>
              <a:rPr sz="1050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以端到端验证步骤收尾——完成与否，跑一条命令就知道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3695700"/>
            <a:ext cx="5295900" cy="2286000"/>
          </a:xfrm>
          <a:prstGeom prst="roundRect">
            <a:avLst>
              <a:gd name="adj" fmla="val 416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5100" y="3886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5600" y="382905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4114800"/>
            <a:ext cx="48387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口述需求、边做边改，会让每一次口头纠偏同时污染上下文与代码——规格未固化就开工，是最高频的失败模式之一。把规格写精确所花的时间，回报高于你盯着它实现所花的时间。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方法篇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_ch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工程篇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产出差距在上下文结构，不在模型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同一个模型，在不同团队手里产出天差地别。差距来自四层：规则怎么沉淀、任务怎么写、能力怎么扩展、会话怎么治理。自底向上讲。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上下文工程：这门手艺的主体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五层结构——把静态约束从提示词里搬出去，主线程只留本次任务契约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3100" y="1428750"/>
            <a:ext cx="40005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14550" y="1657350"/>
            <a:ext cx="4381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750" y="156210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会话层</a:t>
            </a:r>
            <a:r>
              <a:rPr sz="975" b="0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  治理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1750" y="1866900"/>
            <a:ext cx="31432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清理、压缩、回溯、子智能体隔离——管理已进入窗口的内容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57350" y="2305050"/>
            <a:ext cx="45720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533650"/>
            <a:ext cx="4381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3840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能力层</a:t>
            </a:r>
            <a:r>
              <a:rPr sz="975" b="0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  按需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37147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技能、子智能体、外部工具、事件钩子——不常驻，需要时才加载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181350"/>
            <a:ext cx="5143500" cy="800100"/>
          </a:xfrm>
          <a:prstGeom prst="roundRect">
            <a:avLst>
              <a:gd name="adj" fmla="val 11904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3050" y="3409950"/>
            <a:ext cx="4381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250" y="331470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任务层</a:t>
            </a:r>
            <a:r>
              <a:rPr sz="975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  临时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250" y="3619500"/>
            <a:ext cx="42862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本次的任务简报：目标、上下文、约束、验收——每次任务临时提供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5850" y="4057650"/>
            <a:ext cx="5715000" cy="800100"/>
          </a:xfrm>
          <a:prstGeom prst="roundRect">
            <a:avLst>
              <a:gd name="adj" fmla="val 11904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7300" y="4286250"/>
            <a:ext cx="4381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4500" y="419100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规则层</a:t>
            </a:r>
            <a:r>
              <a:rPr sz="975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  常驻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4500" y="4495800"/>
            <a:ext cx="48577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每次会话都加载的项目约定——必须极短，只放普适的东西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" y="4933950"/>
            <a:ext cx="62865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550" y="5162550"/>
            <a:ext cx="4381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50" y="5067300"/>
            <a:ext cx="190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模型层</a:t>
            </a:r>
            <a:r>
              <a:rPr sz="975" b="0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  底座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5372100"/>
            <a:ext cx="54292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基座推理与代码能力——决定下限，你改不了（认知篇已讲，本章自 ② 讲起）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1447800"/>
            <a:ext cx="39624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同一个模型，在不同团队手里产出天差地别——差距几乎都出在 ②③④：规则写得准不准、简报给得清不清、能力接得全不全。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0" y="2914650"/>
            <a:ext cx="38100" cy="8382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1450" y="2914650"/>
            <a:ext cx="37909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6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模型的差距是线性的，上下文结构的差距是乘性的。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0" y="4191000"/>
            <a:ext cx="3962400" cy="1809750"/>
          </a:xfrm>
          <a:prstGeom prst="roundRect">
            <a:avLst>
              <a:gd name="adj" fmla="val 5263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48600" y="4381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9100" y="432435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8600" y="4610100"/>
            <a:ext cx="35052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1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模型决定下限，上下文结构决定上限。换模型不如补上下文——这是这门课最值钱的一句话。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工程篇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规则层：把默契写进仓库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每次会话都加载——所以只放普适的东西，并且必须极短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3009900" cy="4476750"/>
          </a:xfrm>
          <a:prstGeom prst="roundRect">
            <a:avLst>
              <a:gd name="adj" fmla="val 3164"/>
            </a:avLst>
          </a:prstGeom>
          <a:solidFill>
            <a:srgbClr val="1C2839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81150"/>
            <a:ext cx="190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✓ 应该写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2000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194310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它猜不出来的构建/测试命令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628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57175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与默认习惯不同的代码风格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3257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" y="320040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测试指令与偏好的运行器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200" y="3886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600" y="382905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仓库礼仪：分支命名、PR 规范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514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600" y="445770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本项目特有的架构决策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" y="5143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" y="508635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环境怪癖与不自明的坑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71900" y="1428750"/>
            <a:ext cx="3009900" cy="4476750"/>
          </a:xfrm>
          <a:prstGeom prst="roundRect">
            <a:avLst>
              <a:gd name="adj" fmla="val 316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500" y="1581150"/>
            <a:ext cx="190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✕ 不该写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00500" y="2000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2900" y="194310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读一遍代码就能明白的东西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00500" y="2628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52900" y="257175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语言通用规范（它本来就会）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0500" y="3257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2900" y="320040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详细 API 文档（改为给链接）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00500" y="3886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52900" y="382905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频繁变动的信息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00500" y="4514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52900" y="445770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逐文件的代码库描述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500" y="5143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B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52900" y="5086350"/>
            <a:ext cx="24384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“写整洁代码”式正确废话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8500" y="1428750"/>
            <a:ext cx="4533900" cy="1123950"/>
          </a:xfrm>
          <a:prstGeom prst="roundRect">
            <a:avLst>
              <a:gd name="adj" fmla="val 8474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7100" y="156210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篇幅纪律（最重要）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7100" y="1866900"/>
            <a:ext cx="40767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对每一行问：“删掉这行会让它犯错吗？” 答不上来就删。臃肿的规则会让它忽略你真正的指令——目标 &lt; 100 行。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8500" y="2705100"/>
            <a:ext cx="4533900" cy="1619250"/>
          </a:xfrm>
          <a:prstGeom prst="roundRect">
            <a:avLst>
              <a:gd name="adj" fmla="val 588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7100" y="285750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排错指南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7100" y="3200400"/>
            <a:ext cx="2095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明令禁止仍反复出现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6400" y="3200400"/>
            <a:ext cx="2133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→ 文件太长，规则被淹没：剪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77100" y="3562350"/>
            <a:ext cx="2095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问了规则里已答的问题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6400" y="3562350"/>
            <a:ext cx="2133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→ 表述有歧义：改写得更具体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7100" y="3924300"/>
            <a:ext cx="2095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单条指令总被跳过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6400" y="3924300"/>
            <a:ext cx="2133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→ 只在这一行加强调，别处处加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8500" y="4476750"/>
            <a:ext cx="4533900" cy="1504950"/>
          </a:xfrm>
          <a:prstGeom prst="roundRect">
            <a:avLst>
              <a:gd name="adj" fmla="val 6329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77100" y="4667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67600" y="461010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77100" y="4895850"/>
            <a:ext cx="40767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把它当代码对待：出问题就审查、定期修剪、用“行为是否真的改变”验证改动。纳入 git 团队共建——这份文件的价值随时间复利增长。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工程篇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任务层：把提示词写具体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它能推断意图，但读不了你的心——四种策略，一份简报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2514600" cy="1638300"/>
          </a:xfrm>
          <a:prstGeom prst="roundRect">
            <a:avLst>
              <a:gd name="adj" fmla="val 581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050" y="1581150"/>
            <a:ext cx="21717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19050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“为 foo.py 写一个覆盖‘用户已登出’边界情况的测试。不要用 mock。”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28750"/>
            <a:ext cx="2514600" cy="1638300"/>
          </a:xfrm>
          <a:prstGeom prst="roundRect">
            <a:avLst>
              <a:gd name="adj" fmla="val 581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450" y="1581150"/>
            <a:ext cx="21717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指向信息源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450" y="19050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“翻一下这个类的 git 历史，总结它的 API 是怎么演变成这样的。”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400" y="1428750"/>
            <a:ext cx="2514600" cy="1638300"/>
          </a:xfrm>
          <a:prstGeom prst="roundRect">
            <a:avLst>
              <a:gd name="adj" fmla="val 581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850" y="1581150"/>
            <a:ext cx="21717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引用既有范式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19050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“参照首页既有组件的实现范式来做日历组件，不引入新依赖。”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7800" y="1428750"/>
            <a:ext cx="2514600" cy="1638300"/>
          </a:xfrm>
          <a:prstGeom prst="roundRect">
            <a:avLst>
              <a:gd name="adj" fmla="val 581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1581150"/>
            <a:ext cx="21717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症状+定位+验收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0" y="1905000"/>
            <a:ext cx="21717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3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“会话超时后登录失败。检查 auth 模块的 token 刷新，先写复现的失败测试再修。”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3295650"/>
            <a:ext cx="5334000" cy="1752600"/>
          </a:xfrm>
          <a:prstGeom prst="roundRect">
            <a:avLst>
              <a:gd name="adj" fmla="val 543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34480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五种方式喂给它富上下文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" y="3886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38100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引用文件（@路径）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3750" y="3886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6150" y="38100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粘贴截图 / 设计稿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200" y="428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600" y="421005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提供文档 URL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3750" y="4286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6150" y="421005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管道喂数据（日志、报错）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" y="4686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600" y="46101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让它自己去取（读文件/跑命令/调工具）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6500" y="3295650"/>
            <a:ext cx="5295900" cy="1752600"/>
          </a:xfrm>
          <a:prstGeom prst="roundRect">
            <a:avLst>
              <a:gd name="adj" fmla="val 543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5100" y="34480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任务简报四要素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3810000"/>
            <a:ext cx="2381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Goal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4038600"/>
            <a:ext cx="2381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要什么——一句话说清终点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0650" y="3810000"/>
            <a:ext cx="2381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0650" y="4038600"/>
            <a:ext cx="2381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在哪儿——具体路径，指向既有范式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100" y="4362450"/>
            <a:ext cx="2381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Constraints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4591050"/>
            <a:ext cx="2381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不能做什么——依赖、范围、风格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0650" y="4362450"/>
            <a:ext cx="2381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Done-when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0650" y="4591050"/>
            <a:ext cx="2381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37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什么叫完成——可运行、可判定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5200650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9150" y="55149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50" y="5200650"/>
            <a:ext cx="76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5276850"/>
            <a:ext cx="9715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明确程度与任务确定性成正比：探索期可以用模糊提示找灵感（“你觉得这个文件有哪些可改进？”），交付期必须给出可判定的验收。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工程篇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能力层：五种扩展机制，别选错工具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要共享内容用技能；要隔离消耗用子智能体——选错是常见的浪费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09700"/>
            <a:ext cx="6953250" cy="4552950"/>
          </a:xfrm>
          <a:prstGeom prst="roundRect">
            <a:avLst>
              <a:gd name="adj" fmla="val 2092"/>
            </a:avLst>
          </a:prstGeom>
          <a:solidFill>
            <a:srgbClr val="141F30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3900" y="1504950"/>
          <a:ext cx="672465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2819400"/>
                <a:gridCol w="264795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87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anchor="ctr" marL="76200" marR="76200">
                    <a:solidFill>
                      <a:srgbClr val="182C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7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什么时候用</a:t>
                      </a:r>
                    </a:p>
                  </a:txBody>
                  <a:tcPr anchor="ctr" marL="76200" marR="76200">
                    <a:solidFill>
                      <a:srgbClr val="182C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7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例子</a:t>
                      </a:r>
                    </a:p>
                  </a:txBody>
                  <a:tcPr anchor="ctr" marL="76200" marR="76200">
                    <a:solidFill>
                      <a:srgbClr val="182C4D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规则文件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永远生效的项目约定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A9B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“用 pnpm 不用 npm；提交前跑测试”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可复用的知识 / 工作流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A9B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部署清单、API 规范、代码评审手册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子智能体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读大量文件但只回报结论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A9B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重型调研、专职安全审查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外部工具连接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访问外部数据或动作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A9B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查数据库、发消息、读工单系统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事件钩子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每次必然发生的自动化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A9B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每次文件编辑后自动跑 lint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多仓库复用同一套配置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A9B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把技能+钩子打包成可分发单元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05750" y="1428750"/>
            <a:ext cx="3676650" cy="1866900"/>
          </a:xfrm>
          <a:prstGeom prst="roundRect">
            <a:avLst>
              <a:gd name="adj" fmla="val 510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4350" y="1581150"/>
            <a:ext cx="3238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最易混淆的一对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4350" y="1924050"/>
            <a:ext cx="32385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技能 = </a:t>
            </a: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可复用内容，加载进你的主窗口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4350" y="2552700"/>
            <a:ext cx="32385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子智能体 = </a:t>
            </a: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隔离执行者，独立上下文，只回传摘要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5750" y="3486150"/>
            <a:ext cx="3676650" cy="2476500"/>
          </a:xfrm>
          <a:prstGeom prst="roundRect">
            <a:avLst>
              <a:gd name="adj" fmla="val 384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4350" y="36766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4850" y="361950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4350" y="3905250"/>
            <a:ext cx="3219450" cy="1924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内容由技能承载，消耗由子智能体隔离。分不清这一对，等于把全部调研成本压在自己的主上下文里——窗口就是这么被悄悄吃掉的。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工程篇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渐进式搭建：让问题触发配置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你不需要预先配置任何东西——每个机制都有一个可识别的触发信号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097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4097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同一个约定或命令，它错了两次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91300" y="16573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972300" y="14097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2800" y="14097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写进规则文件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9431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19431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你反复输入同一段开场提示词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91300" y="21907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72300" y="19431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62800" y="19431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存成可直接调用的技能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24765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24765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同一份操作手册粘贴了第三次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91300" y="27241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72300" y="24765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62800" y="24765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固化成技能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0099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0099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手动从浏览器复制它看不到的数据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91300" y="32575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72300" y="30099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2800" y="30099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把那个系统接成外部工具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" y="35433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200" y="35433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它为找一个符号要读很多文件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91300" y="37909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72300" y="35433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2800" y="35433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装代码智能插件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" y="40767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" y="40767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支线任务灌入大量不再引用的输出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91300" y="43243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72300" y="40767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62800" y="40767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转给子智能体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46101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200" y="46101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希望某件事每次自动发生、无需提醒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1300" y="48577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972300" y="46101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2800" y="46101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写成事件钩子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600" y="5143500"/>
            <a:ext cx="5905500" cy="495300"/>
          </a:xfrm>
          <a:prstGeom prst="roundRect">
            <a:avLst>
              <a:gd name="adj" fmla="val 1730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200" y="5143500"/>
            <a:ext cx="552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触发 · </a:t>
            </a:r>
            <a:r>
              <a:rPr sz="1050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第二个仓库需要同样的配置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91300" y="5391150"/>
            <a:ext cx="304800" cy="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72300" y="5143500"/>
            <a:ext cx="2857500" cy="495300"/>
          </a:xfrm>
          <a:prstGeom prst="roundRect">
            <a:avLst>
              <a:gd name="adj" fmla="val 1730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62800" y="5143500"/>
            <a:ext cx="257175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打包成插件分发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96500" y="1409700"/>
            <a:ext cx="1485900" cy="4229100"/>
          </a:xfrm>
          <a:prstGeom prst="roundRect">
            <a:avLst>
              <a:gd name="adj" fmla="val 641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1619250"/>
            <a:ext cx="1104900" cy="361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配</a:t>
            </a:r>
          </a:p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置</a:t>
            </a:r>
          </a:p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顺</a:t>
            </a:r>
          </a:p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序</a:t>
            </a:r>
          </a:p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由</a:t>
            </a:r>
          </a:p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问</a:t>
            </a:r>
          </a:p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  <a:p>
            <a:pPr algn="l">
              <a:lnSpc>
                <a:spcPct val="150000"/>
              </a:lnSpc>
            </a:pPr>
            <a:r>
              <a:rPr sz="22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600" y="5810250"/>
            <a:ext cx="10972800" cy="495300"/>
          </a:xfrm>
          <a:prstGeom prst="roundRect">
            <a:avLst>
              <a:gd name="adj" fmla="val 1923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9150" y="6010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9650" y="5810250"/>
            <a:ext cx="7620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76400" y="5886450"/>
            <a:ext cx="97155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同样的信号也告诉你何时更新：一个反复出现的错误，应该是规则文件的一次编辑，而不是对话里的又一次口头纠正。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工程篇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会话层：上下文治理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清理、压缩、回溯是你的日常操作——不是急救手段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4953000" cy="2038350"/>
          </a:xfrm>
          <a:prstGeom prst="roundRect">
            <a:avLst>
              <a:gd name="adj" fmla="val 4672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600200"/>
            <a:ext cx="438150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硬规则：同一问题上纠正了两次</a:t>
            </a:r>
          </a:p>
          <a:p>
            <a:pPr algn="l">
              <a:lnSpc>
                <a:spcPct val="145000"/>
              </a:lnSpc>
            </a:pPr>
            <a:r>
              <a:rPr sz="14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→ 立刻清理上下文，重开会话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324100"/>
            <a:ext cx="44767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8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此时上下文已塞满失败方案。带着学到的东西写一个更好的初始提示词——干净的会话几乎总是优于一个堆满纠正的长会话。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3619500"/>
            <a:ext cx="4953000" cy="1600200"/>
          </a:xfrm>
          <a:prstGeom prst="roundRect">
            <a:avLst>
              <a:gd name="adj" fmla="val 5952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77190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检查点：放心让它试错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095750"/>
            <a:ext cx="44767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冒险方案不行就回溯换条路，检查点随会话保存，隔天依然可回溯。⚠ 但它只追踪编辑工具产生的改动——检查点不能替代 git。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5500" y="1428750"/>
            <a:ext cx="56769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0" y="1428750"/>
            <a:ext cx="38100" cy="8953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4100" y="15430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主动压缩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100" y="1828800"/>
            <a:ext cx="52197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任务之间清理上下文；定向压缩（“聚焦 API 改动”）；把“压缩时必须保留什么”写进规则文件。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5500" y="2419350"/>
            <a:ext cx="56769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0" y="2419350"/>
            <a:ext cx="38100" cy="8953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4100" y="25336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调研外包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4100" y="2819400"/>
            <a:ext cx="52197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需要读大量文件的调研交给子智能体——在独立上下文里消耗，只回传摘要。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0" y="3409950"/>
            <a:ext cx="56769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05500" y="3409950"/>
            <a:ext cx="38100" cy="8953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4100" y="35242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即时纠偏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4100" y="3810000"/>
            <a:ext cx="52197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发现跑偏立刻中断改向，上下文保留，可以马上换指令。越晚纠偏，成本越高。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5500" y="4400550"/>
            <a:ext cx="56769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05500" y="4400550"/>
            <a:ext cx="38100" cy="8953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4100" y="45148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会话当分支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4100" y="4800600"/>
            <a:ext cx="52197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每条工作流一个命名会话（如 oauth-migration），跨天继续不用重复解释背景。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5467350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9150" y="5781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650" y="5467350"/>
            <a:ext cx="76200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6400" y="5543550"/>
            <a:ext cx="9715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最好的结果来自紧密的反馈循环，而不是完美的第一版提示词。发现跑偏立刻纠偏——这是用 Agent 和用搜索引擎的根本区别。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工程篇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_ch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规模化篇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先画笼子，再放大产出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先把一个智能体用得有效，再用并行、无头与流水线把产出成倍放大——顺序反了，只会把低效复制 N 份。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权限：先画笼子，再放它出去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每次都弹窗确认，点过第十次你就不再是审查——只是在点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5334000" cy="1104900"/>
          </a:xfrm>
          <a:prstGeom prst="roundRect">
            <a:avLst>
              <a:gd name="adj" fmla="val 862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6210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两难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847850"/>
            <a:ext cx="485775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全确认 = 安全但注意力疲劳，审查形同虚设；全放行 = 风险失控。真正有效的注意力是稀缺的，别消耗在低价值点击上。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686050"/>
            <a:ext cx="5334000" cy="1028700"/>
          </a:xfrm>
          <a:prstGeom prst="roundRect">
            <a:avLst>
              <a:gd name="adj" fmla="val 9259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81940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两条互补的解法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105150"/>
            <a:ext cx="4857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权限白名单：具名放行你信任的操作 ｜ 沙箱隔离：限制文件系统与网络边界，让它在笼子内自由工作。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867150"/>
            <a:ext cx="5334000" cy="2114550"/>
          </a:xfrm>
          <a:prstGeom prst="roundRect">
            <a:avLst>
              <a:gd name="adj" fmla="val 45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40195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四种权限模式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343400"/>
            <a:ext cx="10477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自动复核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2150" y="434340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独立模型替你拦风险操作，日常改动不弹窗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743450"/>
            <a:ext cx="10477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手动确认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2150" y="474345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写文件、跑命令前逐次询问——你想亲自批准时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143500"/>
            <a:ext cx="10477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只读规划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2150" y="514350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只能探索与出方案，不落任何修改——探索阶段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543550"/>
            <a:ext cx="104775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预批准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2150" y="554355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只放行具名工具，其余一律拒绝——无人值守批量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6500" y="1428750"/>
            <a:ext cx="5295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1428750"/>
            <a:ext cx="38100" cy="9144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5100" y="156210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沙箱隔离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1866900"/>
            <a:ext cx="4857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文件系统与网络必须有边界，不让它在主环境裸奔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6500" y="2457450"/>
            <a:ext cx="5295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6500" y="2457450"/>
            <a:ext cx="38100" cy="9144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5100" y="259080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最小权限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2895600"/>
            <a:ext cx="4857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批量运行前具名声明放行工具，不做全量授权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6500" y="3486150"/>
            <a:ext cx="5295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6500" y="3486150"/>
            <a:ext cx="38100" cy="9144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5100" y="361950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全程可审计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3924300"/>
            <a:ext cx="4857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能回答“它改了什么、执行了什么命令”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6500" y="4514850"/>
            <a:ext cx="5295900" cy="914400"/>
          </a:xfrm>
          <a:prstGeom prst="roundRect">
            <a:avLst>
              <a:gd name="adj" fmla="val 104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86500" y="4514850"/>
            <a:ext cx="38100" cy="9144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5100" y="464820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危险动作人工闸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4953000"/>
            <a:ext cx="4857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数据变更、部署、密钥操作保留人工审批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500" y="5562600"/>
            <a:ext cx="5295900" cy="571500"/>
          </a:xfrm>
          <a:prstGeom prst="roundRect">
            <a:avLst>
              <a:gd name="adj" fmla="val 1666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96050" y="5800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86550" y="5562600"/>
            <a:ext cx="76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3300" y="5638800"/>
            <a:ext cx="40386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便利来自权限，风险也来自权限——顺序不能颠倒。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规模化篇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规模化：从一个 Agent 到一条流水线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先让一个智能体用得有效，再成倍放大——顺序反了，只会复制低效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57150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543050"/>
            <a:ext cx="1524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无头模式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847850"/>
            <a:ext cx="5257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命令行非交互调用 + 结构化输出（JSON），接进 CI、提交前钩子与自动化脚本。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324100"/>
            <a:ext cx="57150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438400"/>
            <a:ext cx="1524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并行会话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43200"/>
            <a:ext cx="5257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在隔离检出中同时跑多个会话，改动互不覆盖；会话之间可传递发现。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3219450"/>
            <a:ext cx="57150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333750"/>
            <a:ext cx="1524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扇出迁移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38550"/>
            <a:ext cx="5257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大迁移拆成批量任务：先 2-3 个小样试跑、调提示词，再全量——具名放行所需工具。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4114800"/>
            <a:ext cx="57150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4229100"/>
            <a:ext cx="1524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无人值守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533900"/>
            <a:ext cx="5257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自动复核模式下跑长任务；结束时由全新上下文的评审智能体做对抗式检查。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5010150"/>
            <a:ext cx="5715000" cy="800100"/>
          </a:xfrm>
          <a:prstGeom prst="roundRect">
            <a:avLst>
              <a:gd name="adj" fmla="val 1190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5124450"/>
            <a:ext cx="1524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流水线集成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429250"/>
            <a:ext cx="52578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输出 JSON 供下游命令消费——让 Agent 成为数据处理管道中的一环。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0" y="1428750"/>
            <a:ext cx="4914900" cy="2495550"/>
          </a:xfrm>
          <a:prstGeom prst="roundRect">
            <a:avLst>
              <a:gd name="adj" fmla="val 381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6100" y="15811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Writer / Reviewer 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6100" y="1962150"/>
            <a:ext cx="1714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会话 A · 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6100" y="2190750"/>
            <a:ext cx="44577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“为 API 端点实现限流器。”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6100" y="2590800"/>
            <a:ext cx="1714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会话 B · Reviewer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6100" y="2819400"/>
            <a:ext cx="44577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“审查这个实现：边界情况、竞态条件、与既有中间件范式的一致性。”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6100" y="3219450"/>
            <a:ext cx="1714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会话 A · Writer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6100" y="3448050"/>
            <a:ext cx="44577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“这是评审意见（粘贴 B 的输出），处理这些问题。”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500" y="4076700"/>
            <a:ext cx="4914900" cy="1905000"/>
          </a:xfrm>
          <a:prstGeom prst="roundRect">
            <a:avLst>
              <a:gd name="adj" fmla="val 500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96100" y="4267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21005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6100" y="4495800"/>
            <a:ext cx="4457700" cy="1352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6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全新上下文的评审者不会偏向自己刚写的代码——多会话最大的红利不是速度，是质量。⚠ 被命令“找缺口”的评审者几乎必然报出缺口：明确只标记影响正确性的问题，把其余视为可选，警惕过度工程。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规模化篇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七个高频失败模式与修正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它们反复出现在所有团队——早识别，省的是一下午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09700"/>
            <a:ext cx="7315200" cy="4552950"/>
          </a:xfrm>
          <a:prstGeom prst="roundRect">
            <a:avLst>
              <a:gd name="adj" fmla="val 2092"/>
            </a:avLst>
          </a:prstGeom>
          <a:solidFill>
            <a:srgbClr val="141F30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3900" y="1504950"/>
          <a:ext cx="7086600" cy="430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300"/>
                <a:gridCol w="2781300"/>
              </a:tblGrid>
              <a:tr h="438150">
                <a:tc>
                  <a:txBody>
                    <a:bodyPr wrap="square"/>
                    <a:lstStyle/>
                    <a:p>
                      <a:r>
                        <a:rPr sz="1087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失败模式</a:t>
                      </a:r>
                    </a:p>
                  </a:txBody>
                  <a:tcPr anchor="ctr" marL="76200" marR="76200">
                    <a:solidFill>
                      <a:srgbClr val="182C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7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</a:t>
                      </a:r>
                    </a:p>
                  </a:txBody>
                  <a:tcPr anchor="ctr" marL="76200" marR="76200">
                    <a:solidFill>
                      <a:srgbClr val="182C4D"/>
                    </a:solidFill>
                  </a:tcPr>
                </a:tc>
              </a:tr>
              <a:tr h="552450"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· 大杂烩会话：任务串味，上下文塞满无关信息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无关任务之间，清理上下文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</a:tr>
              <a:tr h="552450"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· 反复纠正：改了两次还是错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清理重开，重写初始提示词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</a:tr>
              <a:tr h="552450"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· 规则文件过长：重要规则淹没在噪声里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无情修剪；能自动化的改写成钩子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</a:tr>
              <a:tr h="552450"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· 信任-验证缺口：看似合理，漏掉边界情况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无法验证的东西，不上线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</a:tr>
              <a:tr h="552450"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· 无限探索：一次调研读了上百个文件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收窄范围，或交给子智能体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</a:tr>
              <a:tr h="552450"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· 规格未固化就开工：口述需求、边做边改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先写 SPEC，再开新会话执行</a:t>
                      </a:r>
                    </a:p>
                  </a:txBody>
                  <a:tcPr anchor="ctr" marL="76200" marR="76200">
                    <a:solidFill>
                      <a:srgbClr val="141F30"/>
                    </a:solidFill>
                  </a:tcPr>
                </a:tc>
              </a:tr>
              <a:tr h="552450">
                <a:tc>
                  <a:txBody>
                    <a:bodyPr wrap="square"/>
                    <a:lstStyle/>
                    <a:p>
                      <a:r>
                        <a:rPr sz="1012" b="0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· 批量任务权限全放行：为了省事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具名放行 + 沙箱 + 预批准模式</a:t>
                      </a:r>
                    </a:p>
                  </a:txBody>
                  <a:tcPr anchor="ctr" marL="76200" marR="76200">
                    <a:solidFill>
                      <a:srgbClr val="18243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409700"/>
            <a:ext cx="3352800" cy="2857500"/>
          </a:xfrm>
          <a:prstGeom prst="roundRect">
            <a:avLst>
              <a:gd name="adj" fmla="val 333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5811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表现不好时，按序自查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00025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① 上下文是否太脏？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45745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② 提示词是否太糊？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91465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③ 任务是否大到不该一次跑完？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37185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④ 验证信号是否存在？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8481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八成问题落在其中一条。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76750"/>
            <a:ext cx="3352800" cy="1485900"/>
          </a:xfrm>
          <a:prstGeom prst="roundRect">
            <a:avLst>
              <a:gd name="adj" fmla="val 641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4667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8700" y="461010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95850"/>
            <a:ext cx="2895600" cy="933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这些不是“工具不行”，而是工作方法问题——方法对了，换一个 Agent 也是同样的效果。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规模化篇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团队落地：90 天，三个阶段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先统一规则文件，再谈覆盖率——顺序不能颠倒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428750"/>
            <a:ext cx="609600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428750"/>
            <a:ext cx="38100" cy="131445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1581150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第 1 个 30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54305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建规范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924050"/>
            <a:ext cx="56007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规则文件 &lt; 100 行 + 3 个高频技能 + 2 个确定性钩子。判定：新人照规则文件能跑通一次完整改动。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2876550"/>
            <a:ext cx="609600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876550"/>
            <a:ext cx="38100" cy="13144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3028950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第 2 个 60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9085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跑试点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371850"/>
            <a:ext cx="56007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1-2 个真实需求的端到端案例（含 SPEC、diff、验证输出、评审记录）。判定：复盘能说清哪里省了时间、哪里把时间还回去了。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4324350"/>
            <a:ext cx="609600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324350"/>
            <a:ext cx="38100" cy="13144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4476750"/>
            <a:ext cx="1428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第 3 个 90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438650"/>
            <a:ext cx="114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进流水线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819650"/>
            <a:ext cx="56007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CI 中的无头调用 + 提交前钩子 + 权限白名单基线。判定：无人值守任务有失败告警，且有回滚路径。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8500" y="1428750"/>
            <a:ext cx="45339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7100" y="1543050"/>
            <a:ext cx="1143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采纳率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7100" y="1847850"/>
            <a:ext cx="40767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实际使用比例与频次——不好用的东西推广不动，这是前置指标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8500" y="2343150"/>
            <a:ext cx="45339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7100" y="2457450"/>
            <a:ext cx="1143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返工率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7100" y="2762250"/>
            <a:ext cx="40767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产出被人工推翻/重写的比例——直接反映上下文质量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8500" y="3257550"/>
            <a:ext cx="45339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77100" y="3371850"/>
            <a:ext cx="1143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缺陷密度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7100" y="3676650"/>
            <a:ext cx="40767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单位改动引入的缺陷数——防止“速度换质量”的自欺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8500" y="4171950"/>
            <a:ext cx="45339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7100" y="4286250"/>
            <a:ext cx="1143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端到端时长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7100" y="4591050"/>
            <a:ext cx="40767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需求提出到合入的墙钟时间——唯一能证明“整体更快”的指标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8500" y="5124450"/>
            <a:ext cx="4533900" cy="1162050"/>
          </a:xfrm>
          <a:prstGeom prst="roundRect">
            <a:avLst>
              <a:gd name="adj" fmla="val 819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77100" y="531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7600" y="5257800"/>
            <a:ext cx="1143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7100" y="5543550"/>
            <a:ext cx="40767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只统计“生成了多少代码”会奖励错误行为——产出更多代码，从来不是工程目标。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工程实践 · 规模化篇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914400"/>
            <a:ext cx="2857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09750"/>
            <a:ext cx="10287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5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这套方法的终点，不是让 AI 写代码——</a:t>
            </a:r>
          </a:p>
          <a:p>
            <a:pPr algn="l">
              <a:lnSpc>
                <a:spcPct val="155000"/>
              </a:lnSpc>
            </a:pPr>
            <a:r>
              <a:rPr sz="25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而是把团队的工程默契，从人的脑子里搬进仓库。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54330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71900"/>
            <a:ext cx="5715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本周就能开始的三件事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4152900"/>
            <a:ext cx="3505200" cy="1257300"/>
          </a:xfrm>
          <a:prstGeom prst="roundRect">
            <a:avLst>
              <a:gd name="adj" fmla="val 7575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9150" y="4305300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今天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610100"/>
            <a:ext cx="30861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为主仓库写一份规则文件，删到 100 行以内，纳入 git。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152900"/>
            <a:ext cx="3505200" cy="1257300"/>
          </a:xfrm>
          <a:prstGeom prst="roundRect">
            <a:avLst>
              <a:gd name="adj" fmla="val 7575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6750" y="4305300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本周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6750" y="4610100"/>
            <a:ext cx="30861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用任务简报四要素跑一个真实需求——必须带一个能跑出 pass/fail 的验证命令。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800" y="4152900"/>
            <a:ext cx="3505200" cy="1257300"/>
          </a:xfrm>
          <a:prstGeom prst="roundRect">
            <a:avLst>
              <a:gd name="adj" fmla="val 7575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4350" y="4305300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本周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4350" y="4610100"/>
            <a:ext cx="30861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把一个重复了三次以上的操作，固化成可复用的技能。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753100"/>
            <a:ext cx="10972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何时打破规则：深陷复杂问题时让上下文累积；探索性任务跳过规划；想先看它怎么解释问题时用模糊提示——直觉比任何指南可靠，而直觉从实践中长出来。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0" y="64389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 spc="20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ENGINEERING PRACTICES · 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